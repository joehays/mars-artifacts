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7" Type="http://schemas.openxmlformats.org/officeDocument/2006/relationships/slide" Target="slides/slide186.xml" /><Relationship Id="rId188" Type="http://schemas.openxmlformats.org/officeDocument/2006/relationships/slide" Target="slides/slide187.xml" /><Relationship Id="rId189" Type="http://schemas.openxmlformats.org/officeDocument/2006/relationships/slide" Target="slides/slide188.xml" /><Relationship Id="rId190" Type="http://schemas.openxmlformats.org/officeDocument/2006/relationships/slide" Target="slides/slide189.xml" /><Relationship Id="rId191" Type="http://schemas.openxmlformats.org/officeDocument/2006/relationships/slide" Target="slides/slide190.xml" /><Relationship Id="rId192" Type="http://schemas.openxmlformats.org/officeDocument/2006/relationships/slide" Target="slides/slide191.xml" /><Relationship Id="rId193" Type="http://schemas.openxmlformats.org/officeDocument/2006/relationships/slide" Target="slides/slide192.xml" /><Relationship Id="rId194" Type="http://schemas.openxmlformats.org/officeDocument/2006/relationships/slide" Target="slides/slide193.xml" /><Relationship Id="rId195" Type="http://schemas.openxmlformats.org/officeDocument/2006/relationships/slide" Target="slides/slide194.xml" /><Relationship Id="rId196" Type="http://schemas.openxmlformats.org/officeDocument/2006/relationships/slide" Target="slides/slide195.xml" /><Relationship Id="rId197" Type="http://schemas.openxmlformats.org/officeDocument/2006/relationships/slide" Target="slides/slide196.xml" /><Relationship Id="rId198" Type="http://schemas.openxmlformats.org/officeDocument/2006/relationships/slide" Target="slides/slide197.xml" /><Relationship Id="rId200" Type="http://schemas.openxmlformats.org/officeDocument/2006/relationships/viewProps" Target="viewProps.xml" /><Relationship Id="rId19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2" Type="http://schemas.openxmlformats.org/officeDocument/2006/relationships/tableStyles" Target="tableStyles.xml" /><Relationship Id="rId20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Orchestrated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Teams: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Future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Excellence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Joe</a:t>
            </a:r>
            <a:r>
              <a:rPr/>
              <a:t> </a:t>
            </a:r>
            <a:r>
              <a:rPr/>
              <a:t>Hays,</a:t>
            </a:r>
            <a:r>
              <a:rPr/>
              <a:t> </a:t>
            </a:r>
            <a:r>
              <a:rPr/>
              <a:t>NRL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8234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November</a:t>
            </a:r>
            <a:r>
              <a:rPr/>
              <a:t> </a:t>
            </a: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Executive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Critical Decision</a:t>
            </a:r>
            <a:r>
              <a:rPr/>
              <a:t>: Embrace orchestrated AI or risk irrelevance</a:t>
            </a:r>
          </a:p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🚗 Traditional PhD = Corvette (baseline) - 🏎️ PhD + LLM Chat = Formula 1 (21-26% faster) - ✈️ PhD + Coding Agents = Cessna (40-55% faster) - 🚀 PhD + Manual Orchestration = Fighter Jet (100-150% faster) - 🛸 PhD + LangGraph = </a:t>
            </a:r>
            <a:r>
              <a:rPr b="1"/>
              <a:t>Starship Enterprise</a:t>
            </a:r>
            <a:r>
              <a:rPr/>
              <a:t> (200-400% faster)</a:t>
            </a:r>
          </a:p>
          <a:p>
            <a:pPr lvl="0" marL="0" indent="0">
              <a:buNone/>
            </a:pPr>
            <a:r>
              <a:rPr b="1"/>
              <a:t>The Ask</a:t>
            </a:r>
            <a:r>
              <a:rPr/>
              <a:t>:</a:t>
            </a:r>
          </a:p>
          <a:p>
            <a:pPr lvl="1">
              <a:buAutoNum type="arabicPeriod"/>
            </a:pPr>
            <a:r>
              <a:rPr b="1"/>
              <a:t>Primary</a:t>
            </a:r>
            <a:r>
              <a:rPr/>
              <a:t>: Commit to organizational investment in orchestrated AI</a:t>
            </a:r>
          </a:p>
          <a:p>
            <a:pPr lvl="1">
              <a:buAutoNum type="arabicPeriod"/>
            </a:pPr>
            <a:r>
              <a:rPr b="1"/>
              <a:t>Secondary</a:t>
            </a:r>
            <a:r>
              <a:rPr/>
              <a:t>: Consider MARS as the platform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: Peer-reviewed 2024 studies show </a:t>
            </a:r>
            <a:r>
              <a:rPr b="1"/>
              <a:t>transformational</a:t>
            </a:r>
            <a:r>
              <a:rPr/>
              <a:t> gains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Table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Part 1: The Existential Challenge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Part 2: The AI Acceleration Ladder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Part 3: Technology Primer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Part 4: The Opportunity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Part 5: MARS Prototype Solution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Appendices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Existential</a:t>
            </a:r>
            <a:r>
              <a:rPr/>
              <a:t> </a:t>
            </a:r>
            <a:r>
              <a:rPr/>
              <a:t>Challenge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Acceleration</a:t>
            </a:r>
            <a:r>
              <a:rPr/>
              <a:t> </a:t>
            </a:r>
            <a:r>
              <a:rPr/>
              <a:t>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Numbers</a:t>
            </a:r>
            <a:r>
              <a:rPr/>
              <a:t>: - </a:t>
            </a:r>
            <a:r>
              <a:rPr b="1"/>
              <a:t>Daily output</a:t>
            </a:r>
            <a:r>
              <a:rPr/>
              <a:t>: ~9,700 STEM papers/day - </a:t>
            </a:r>
            <a:r>
              <a:rPr b="1"/>
              <a:t>Human capacity</a:t>
            </a:r>
            <a:r>
              <a:rPr/>
              <a:t>: 2-3 papers/day - </a:t>
            </a:r>
            <a:r>
              <a:rPr b="1"/>
              <a:t>Coverage</a:t>
            </a:r>
            <a:r>
              <a:rPr/>
              <a:t>: &lt;1%</a:t>
            </a:r>
          </a:p>
          <a:p>
            <a:pPr lvl="0" marL="0" indent="0">
              <a:buNone/>
            </a:pPr>
            <a:r>
              <a:rPr b="1"/>
              <a:t>Core Advantage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/>
              <a:t>Researchers + orchestrated AI = </a:t>
            </a:r>
            <a:r>
              <a:rPr sz="2000" b="1"/>
              <a:t>2-5× faster from idea to publication</a:t>
            </a:r>
          </a:p>
          <a:p>
            <a:pPr lvl="0" marL="0" indent="0">
              <a:buNone/>
            </a:pPr>
            <a:r>
              <a:rPr b="1"/>
              <a:t>Why Speed Matters</a:t>
            </a:r>
            <a:r>
              <a:rPr/>
              <a:t>: - First-mover advantage - Compounding returns - Talent retention - Resource efficiency (2× speed = 50% cost per result)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Information</a:t>
            </a:r>
            <a:r>
              <a:rPr/>
              <a:t> </a:t>
            </a:r>
            <a:r>
              <a:rPr/>
              <a:t>Overload</a:t>
            </a:r>
            <a:r>
              <a:rPr/>
              <a:t> </a:t>
            </a:r>
            <a:r>
              <a:rPr/>
              <a:t>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Daily Papers</a:t>
            </a:r>
            <a:r>
              <a:rPr/>
              <a:t>: 9,700 published </a:t>
            </a:r>
            <a:r>
              <a:rPr b="1"/>
              <a:t>Human Capacity</a:t>
            </a:r>
            <a:r>
              <a:rPr/>
              <a:t>: 2-3 readable </a:t>
            </a:r>
            <a:r>
              <a:rPr b="1"/>
              <a:t>Coverage</a:t>
            </a:r>
            <a:r>
              <a:rPr/>
              <a:t>: &lt;1%</a:t>
            </a:r>
          </a:p>
          <a:p>
            <a:pPr lvl="0" marL="0" indent="0">
              <a:buNone/>
            </a:pPr>
            <a:r>
              <a:rPr b="1"/>
              <a:t>Result</a:t>
            </a:r>
            <a:r>
              <a:rPr/>
              <a:t>: Missing 99% of relevant breakthroughs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Happens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Historical Parallels</a:t>
            </a:r>
            <a:r>
              <a:rPr/>
              <a:t> (2024):</a:t>
            </a:r>
          </a:p>
          <a:p>
            <a:pPr lvl="0" marL="0" indent="0">
              <a:buNone/>
            </a:pPr>
            <a:r>
              <a:rPr b="1"/>
              <a:t>Software Development</a:t>
            </a:r>
            <a:r>
              <a:rPr/>
              <a:t>: - ✅ AI-augmented: 40-55% ↑ - ❌ Traditional: Talent loss</a:t>
            </a:r>
          </a:p>
          <a:p>
            <a:pPr lvl="0" marL="0" indent="0">
              <a:buNone/>
            </a:pPr>
            <a:r>
              <a:rPr b="1"/>
              <a:t>Professional Services</a:t>
            </a:r>
            <a:r>
              <a:rPr/>
              <a:t>: - ✅ AI-augmented: 30-40% ↑ - ❌ Traditional: Losing bids</a:t>
            </a:r>
          </a:p>
          <a:p>
            <a:pPr lvl="0" marL="0" indent="0">
              <a:buNone/>
            </a:pPr>
            <a:r>
              <a:rPr b="1"/>
              <a:t>Research Sector</a:t>
            </a:r>
            <a:r>
              <a:rPr/>
              <a:t> (emerging): - ✅ AI-augmented: 2-3× publications - ❌ Traditional: Falling citations - ❌ Grants: “missed work” penalties</a:t>
            </a:r>
          </a:p>
          <a:p>
            <a:pPr lvl="0" marL="0" indent="0">
              <a:buNone/>
            </a:pPr>
            <a:r>
              <a:rPr b="1"/>
              <a:t>Timeline</a:t>
            </a:r>
            <a:r>
              <a:rPr/>
              <a:t>: </a:t>
            </a:r>
            <a:r>
              <a:rPr b="1"/>
              <a:t>12-18 months</a:t>
            </a:r>
            <a:r>
              <a:rPr/>
              <a:t> before gap becomes irreversible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Widening</a:t>
            </a:r>
            <a:r>
              <a:rPr/>
              <a:t> </a:t>
            </a:r>
            <a:r>
              <a:rPr/>
              <a:t>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WITH Orchestrated AI</a:t>
            </a:r>
            <a:r>
              <a:rPr/>
              <a:t>: - 90%+ literature coverage - 3-5× faster breakthroughs - Top talent attraction</a:t>
            </a:r>
          </a:p>
          <a:p>
            <a:pPr lvl="0" marL="0" indent="0">
              <a:buNone/>
            </a:pPr>
            <a:r>
              <a:rPr b="1"/>
              <a:t>WITHOUT</a:t>
            </a:r>
            <a:r>
              <a:rPr/>
              <a:t>: - Perpetually “catching up” - Declining grant success - Talent drain</a:t>
            </a:r>
          </a:p>
          <a:p>
            <a:pPr lvl="0" marL="0" indent="0">
              <a:buNone/>
            </a:pPr>
            <a:r>
              <a:rPr b="1"/>
              <a:t>Critical Window</a:t>
            </a:r>
            <a:r>
              <a:rPr/>
              <a:t>: We are at </a:t>
            </a:r>
            <a:r>
              <a:rPr b="1"/>
              <a:t>Month 6-8</a:t>
            </a:r>
            <a:r>
              <a:rPr/>
              <a:t> of 18-month window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Competitor</a:t>
            </a:r>
            <a:r>
              <a:rPr/>
              <a:t> </a:t>
            </a:r>
            <a:r>
              <a:rPr/>
              <a:t>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Who’s Already Moving</a:t>
            </a:r>
            <a:r>
              <a:rPr/>
              <a:t> (2024):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Government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DARPA,</a:t>
                      </a:r>
                      <a:r>
                        <a:rPr/>
                        <a:t> </a:t>
                      </a:r>
                      <a:r>
                        <a:rPr/>
                        <a:t>DOE</a:t>
                      </a:r>
                      <a:r>
                        <a:rPr/>
                        <a:t> </a:t>
                      </a:r>
                      <a:r>
                        <a:rPr/>
                        <a:t>Labs,</a:t>
                      </a:r>
                      <a:r>
                        <a:rPr/>
                        <a:t> </a:t>
                      </a:r>
                      <a:r>
                        <a:rPr/>
                        <a:t>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Deployed</a:t>
                      </a:r>
                      <a:r>
                        <a:rPr/>
                        <a:t> </a:t>
                      </a:r>
                      <a:r>
                        <a:rPr/>
                        <a:t>2024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MIT,</a:t>
                      </a:r>
                      <a:r>
                        <a:rPr/>
                        <a:t> </a:t>
                      </a:r>
                      <a:r>
                        <a:rPr/>
                        <a:t>Stanford,</a:t>
                      </a:r>
                      <a:r>
                        <a:rPr/>
                        <a:t> </a:t>
                      </a:r>
                      <a:r>
                        <a:rPr/>
                        <a:t>Berkeley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Scaling</a:t>
                      </a:r>
                      <a:r>
                        <a:rPr/>
                        <a:t> </a:t>
                      </a:r>
                      <a:r>
                        <a:rPr/>
                        <a:t>pilots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Private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DeepMind,</a:t>
                      </a:r>
                      <a:r>
                        <a:rPr/>
                        <a:t> </a:t>
                      </a:r>
                      <a:r>
                        <a:rPr/>
                        <a:t>Microsoft</a:t>
                      </a:r>
                      <a:r>
                        <a:rPr/>
                        <a:t> </a:t>
                      </a:r>
                      <a:r>
                        <a:rPr/>
                        <a:t>Research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Defense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Lockheed,</a:t>
                      </a:r>
                      <a:r>
                        <a:rPr/>
                        <a:t> </a:t>
                      </a:r>
                      <a:r>
                        <a:rPr/>
                        <a:t>Boeing,</a:t>
                      </a:r>
                      <a:r>
                        <a:rPr/>
                        <a:t> </a:t>
                      </a:r>
                      <a:r>
                        <a:rPr/>
                        <a:t>Northrop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Deployed</a:t>
                      </a:r>
                      <a:r>
                        <a:rPr/>
                        <a:t> </a:t>
                      </a:r>
                      <a:r>
                        <a:rPr/>
                        <a:t>2023-24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What They’re Building</a:t>
            </a:r>
            <a:r>
              <a:rPr/>
              <a:t>: Literature monitoring, knowledge graphs, experiment design, orchestration layer ← </a:t>
            </a:r>
            <a:r>
              <a:rPr b="1"/>
              <a:t>Key differentiator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Acceleration</a:t>
            </a:r>
            <a:r>
              <a:rPr/>
              <a:t> </a:t>
            </a:r>
            <a:r>
              <a:rPr/>
              <a:t>Ladder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Five</a:t>
            </a:r>
            <a:r>
              <a:rPr/>
              <a:t> </a:t>
            </a:r>
            <a:r>
              <a:rPr/>
              <a:t>Levels:</a:t>
            </a:r>
            <a:r>
              <a:rPr/>
              <a:t> </a:t>
            </a:r>
            <a:r>
              <a:rPr/>
              <a:t>Visual</a:t>
            </a:r>
            <a:r>
              <a:rPr/>
              <a:t> </a:t>
            </a:r>
            <a:r>
              <a:rPr/>
              <a:t>Overview</a:t>
            </a:r>
          </a:p>
        </p:txBody>
      </p:sp>
      <p:pic>
        <p:nvPicPr>
          <p:cNvPr descr="diagrams/png/ai-acceleration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38500" y="1600200"/>
            <a:ext cx="2654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AI</a:t>
            </a:r>
            <a:r>
              <a:rPr/>
              <a:t> </a:t>
            </a:r>
            <a:r>
              <a:rPr/>
              <a:t>Acceleration</a:t>
            </a:r>
            <a:r>
              <a:rPr/>
              <a:t> </a:t>
            </a:r>
            <a:r>
              <a:rPr/>
              <a:t>Ladder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0:</a:t>
            </a:r>
            <a:r>
              <a:rPr/>
              <a:t> </a:t>
            </a:r>
            <a:r>
              <a:rPr/>
              <a:t>Traditional</a:t>
            </a:r>
            <a:r>
              <a:rPr/>
              <a:t> </a:t>
            </a:r>
            <a:r>
              <a:rPr/>
              <a:t>PhD</a:t>
            </a:r>
            <a:r>
              <a:rPr/>
              <a:t> </a:t>
            </a:r>
            <a:r>
              <a:rPr/>
              <a:t>Teams</a:t>
            </a:r>
            <a:r>
              <a:rPr/>
              <a:t> </a:t>
            </a:r>
            <a:r>
              <a:rPr/>
              <a:t>(Corvette)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Time Allocation</a:t>
            </a:r>
            <a:r>
              <a:rPr/>
              <a:t>: - High-Value Analysis: 30% (12 hrs) - Literature Review: 20% (8 hrs) - Writing/Docs: 30% (12 hrs) - Experiment Setup: 20% (8 hrs)</a:t>
            </a:r>
          </a:p>
          <a:p>
            <a:pPr lvl="0" marL="0" indent="0">
              <a:buNone/>
            </a:pPr>
            <a:r>
              <a:rPr b="1"/>
              <a:t>Problem</a:t>
            </a:r>
            <a:r>
              <a:rPr/>
              <a:t>: Only </a:t>
            </a:r>
            <a:r>
              <a:rPr b="1"/>
              <a:t>30%</a:t>
            </a:r>
            <a:r>
              <a:rPr/>
              <a:t> on breakthrough work</a:t>
            </a:r>
          </a:p>
          <a:p>
            <a:pPr lvl="0" marL="0" indent="0">
              <a:buNone/>
            </a:pPr>
            <a:r>
              <a:rPr b="1"/>
              <a:t>Baseline Metrics</a:t>
            </a:r>
            <a:r>
              <a:rPr/>
              <a:t>: - Literature coverage: </a:t>
            </a:r>
            <a:r>
              <a:rPr b="1"/>
              <a:t>&lt;5%</a:t>
            </a:r>
            <a:r>
              <a:rPr/>
              <a:t> - Publication velocity: </a:t>
            </a:r>
            <a:r>
              <a:rPr b="1"/>
              <a:t>1×</a:t>
            </a:r>
            <a:r>
              <a:rPr/>
              <a:t> - Team effective size: </a:t>
            </a:r>
            <a:r>
              <a:rPr b="1"/>
              <a:t>1× headcount</a:t>
            </a:r>
          </a:p>
          <a:p>
            <a:pPr lvl="0" marL="0" indent="0">
              <a:buNone/>
            </a:pPr>
            <a:r>
              <a:rPr b="1"/>
              <a:t>Constraints</a:t>
            </a:r>
            <a:r>
              <a:rPr/>
              <a:t>: - Fixed human reading speed - 24-hour days - Biological limits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PhD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LLM</a:t>
            </a:r>
            <a:r>
              <a:rPr/>
              <a:t> </a:t>
            </a:r>
            <a:r>
              <a:rPr/>
              <a:t>Chat</a:t>
            </a:r>
            <a:r>
              <a:rPr/>
              <a:t> </a:t>
            </a:r>
            <a:r>
              <a:rPr/>
              <a:t>(Formula</a:t>
            </a:r>
            <a:r>
              <a:rPr/>
              <a:t> </a:t>
            </a:r>
            <a:r>
              <a:rPr/>
              <a:t>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Tools</a:t>
            </a:r>
            <a:r>
              <a:rPr/>
              <a:t>: ChatGPT, Claude, Gemini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 (2024): - Google: </a:t>
            </a:r>
            <a:r>
              <a:rPr b="1"/>
              <a:t>21% faster</a:t>
            </a:r>
            <a:r>
              <a:rPr/>
              <a:t> - GitHub Copilot: </a:t>
            </a:r>
            <a:r>
              <a:rPr b="1"/>
              <a:t>26% productivity ↑</a:t>
            </a:r>
          </a:p>
          <a:p>
            <a:pPr lvl="0" marL="0" indent="0">
              <a:buNone/>
            </a:pPr>
            <a:r>
              <a:rPr b="1"/>
              <a:t>Improved</a:t>
            </a:r>
            <a:r>
              <a:rPr/>
              <a:t>: - Routine tasks: </a:t>
            </a:r>
            <a:r>
              <a:rPr b="1"/>
              <a:t>+21-26%</a:t>
            </a:r>
            <a:r>
              <a:rPr/>
              <a:t> - High-value time: </a:t>
            </a:r>
            <a:r>
              <a:rPr b="1"/>
              <a:t>~35-38%</a:t>
            </a:r>
            <a:r>
              <a:rPr/>
              <a:t> - Publication: </a:t>
            </a:r>
            <a:r>
              <a:rPr b="1"/>
              <a:t>1.15-1.20×</a:t>
            </a:r>
          </a:p>
          <a:p>
            <a:pPr lvl="0" marL="0" indent="0">
              <a:buNone/>
            </a:pPr>
            <a:r>
              <a:rPr b="1"/>
              <a:t>Limitations</a:t>
            </a:r>
            <a:r>
              <a:rPr/>
              <a:t>: - ❌ No memory between sessions - ❌ No tool integration - ❌ Manual coordination - ❌ Copy-paste overhead</a:t>
            </a:r>
          </a:p>
          <a:p>
            <a:pPr lvl="0" marL="0" indent="0">
              <a:buNone/>
            </a:pPr>
            <a:r>
              <a:rPr b="1"/>
              <a:t>Use Case</a:t>
            </a:r>
            <a:r>
              <a:rPr/>
              <a:t>: Simple Q&amp;A, one-off tasks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PhD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Coding</a:t>
            </a:r>
            <a:r>
              <a:rPr/>
              <a:t> </a:t>
            </a:r>
            <a:r>
              <a:rPr/>
              <a:t>Agents</a:t>
            </a:r>
            <a:r>
              <a:rPr/>
              <a:t> </a:t>
            </a:r>
            <a:r>
              <a:rPr/>
              <a:t>(Cessna)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Tools</a:t>
            </a:r>
            <a:r>
              <a:rPr/>
              <a:t>: Claude Code CLI, GitHub Copilot, Cursor, Devin</a:t>
            </a:r>
          </a:p>
          <a:p>
            <a:pPr lvl="0" marL="0" indent="0">
              <a:buNone/>
            </a:pPr>
            <a:r>
              <a:rPr b="1"/>
              <a:t>Key</a:t>
            </a:r>
            <a:r>
              <a:rPr/>
              <a:t>: Agents </a:t>
            </a:r>
            <a:r>
              <a:rPr b="1"/>
              <a:t>execute</a:t>
            </a:r>
            <a:r>
              <a:rPr/>
              <a:t>, not just advise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 (2024): - Science: </a:t>
            </a:r>
            <a:r>
              <a:rPr b="1"/>
              <a:t>40% faster</a:t>
            </a:r>
            <a:r>
              <a:rPr/>
              <a:t>, </a:t>
            </a:r>
            <a:r>
              <a:rPr b="1"/>
              <a:t>18% higher quality</a:t>
            </a:r>
            <a:r>
              <a:rPr/>
              <a:t> - GitHub: </a:t>
            </a:r>
            <a:r>
              <a:rPr b="1"/>
              <a:t>55.8% speed ↑</a:t>
            </a:r>
            <a:r>
              <a:rPr/>
              <a:t> - Capgemini: </a:t>
            </a:r>
            <a:r>
              <a:rPr b="1"/>
              <a:t>30-40% time ↓</a:t>
            </a:r>
          </a:p>
          <a:p>
            <a:pPr lvl="0" marL="0" indent="0">
              <a:buNone/>
            </a:pPr>
            <a:r>
              <a:rPr b="1"/>
              <a:t>Improved</a:t>
            </a:r>
            <a:r>
              <a:rPr/>
              <a:t>: - Coding speed: </a:t>
            </a:r>
            <a:r>
              <a:rPr b="1"/>
              <a:t>1.75-2.00×</a:t>
            </a:r>
            <a:r>
              <a:rPr/>
              <a:t> - High-value time: </a:t>
            </a:r>
            <a:r>
              <a:rPr b="1"/>
              <a:t>45-50%</a:t>
            </a:r>
            <a:r>
              <a:rPr/>
              <a:t> - Publication: </a:t>
            </a:r>
            <a:r>
              <a:rPr b="1"/>
              <a:t>1.40-1.60×</a:t>
            </a:r>
            <a:r>
              <a:rPr/>
              <a:t> - Code quality: </a:t>
            </a:r>
            <a:r>
              <a:rPr b="1"/>
              <a:t>+18%</a:t>
            </a:r>
          </a:p>
          <a:p>
            <a:pPr lvl="0" marL="0" indent="0">
              <a:buNone/>
            </a:pPr>
            <a:r>
              <a:rPr b="1"/>
              <a:t>Capabilities</a:t>
            </a:r>
            <a:r>
              <a:rPr/>
              <a:t>: - Autonomous execution - Tool integration - Error recovery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PhD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Manual</a:t>
            </a:r>
            <a:r>
              <a:rPr/>
              <a:t> </a:t>
            </a:r>
            <a:r>
              <a:rPr/>
              <a:t>Orchestration</a:t>
            </a:r>
            <a:r>
              <a:rPr/>
              <a:t> </a:t>
            </a:r>
            <a:r>
              <a:rPr/>
              <a:t>(Fighter</a:t>
            </a:r>
            <a:r>
              <a:rPr/>
              <a:t> </a:t>
            </a:r>
            <a:r>
              <a:rPr/>
              <a:t>Jet)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Architecture</a:t>
            </a:r>
            <a:r>
              <a:rPr/>
              <a:t>: Multiple specialized agents in parallel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</a:t>
            </a:r>
          </a:p>
          <a:p>
            <a:pPr lvl="0" marL="0" indent="0">
              <a:buNone/>
            </a:pPr>
            <a:r>
              <a:rPr/>
              <a:t>Sequential (13 hrs): - Lit Review → Code → Test → Docs - 4 hrs → 6 hrs → 2 hrs → 1 hr</a:t>
            </a:r>
          </a:p>
          <a:p>
            <a:pPr lvl="0" marL="0" indent="0">
              <a:buNone/>
            </a:pPr>
            <a:r>
              <a:rPr/>
              <a:t>Parallel (8 hrs): - Agent A: Lit (4 hrs) - Agent B: Code (6 hrs) } → Merge (2 hrs) - Agent C: Test (2 hrs) - Agent D: Docs (1 hr)</a:t>
            </a:r>
          </a:p>
          <a:p>
            <a:pPr lvl="0" marL="0" indent="0">
              <a:buNone/>
            </a:pPr>
            <a:r>
              <a:rPr b="1"/>
              <a:t>38% faster</a:t>
            </a:r>
          </a:p>
          <a:p>
            <a:pPr lvl="0" marL="0" indent="0">
              <a:buNone/>
            </a:pPr>
            <a:r>
              <a:rPr b="1"/>
              <a:t>Improved</a:t>
            </a:r>
            <a:r>
              <a:rPr/>
              <a:t>: - Parallel: </a:t>
            </a:r>
            <a:r>
              <a:rPr b="1"/>
              <a:t>3-5 tasks</a:t>
            </a:r>
            <a:r>
              <a:rPr/>
              <a:t> simultaneous - High-value time: </a:t>
            </a:r>
            <a:r>
              <a:rPr b="1"/>
              <a:t>60-65%</a:t>
            </a:r>
            <a:r>
              <a:rPr/>
              <a:t> - Publication: </a:t>
            </a:r>
            <a:r>
              <a:rPr b="1"/>
              <a:t>2.00-2.50×</a:t>
            </a:r>
          </a:p>
          <a:p>
            <a:pPr lvl="0" marL="0" indent="0">
              <a:buNone/>
            </a:pPr>
            <a:r>
              <a:rPr b="1"/>
              <a:t>Limitations</a:t>
            </a:r>
            <a:r>
              <a:rPr/>
              <a:t>: - ❌ </a:t>
            </a:r>
            <a:r>
              <a:rPr b="1"/>
              <a:t>3-4 hrs/day</a:t>
            </a:r>
            <a:r>
              <a:rPr/>
              <a:t> coordination - ❌ Human bottleneck (max 3-5) - ❌ Manual integration - ❌ Exhausting after 2-3 hours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PhD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LangGraph</a:t>
            </a:r>
            <a:r>
              <a:rPr/>
              <a:t> </a:t>
            </a:r>
            <a:r>
              <a:rPr/>
              <a:t>(Starship</a:t>
            </a:r>
            <a:r>
              <a:rPr/>
              <a:t> </a:t>
            </a:r>
            <a:r>
              <a:rPr/>
              <a:t>Enterprise)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</a:t>
            </a:r>
            <a:r>
              <a:rPr/>
              <a:t>: </a:t>
            </a:r>
            <a:r>
              <a:rPr b="1"/>
              <a:t>Automated coordination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 (2024): - McKinsey: </a:t>
            </a:r>
            <a:r>
              <a:rPr b="1"/>
              <a:t>30-40% gains</a:t>
            </a:r>
            <a:r>
              <a:rPr/>
              <a:t> beyond single-agent - BCG: </a:t>
            </a:r>
            <a:r>
              <a:rPr b="1"/>
              <a:t>45% margin ↑</a:t>
            </a:r>
            <a:r>
              <a:rPr/>
              <a:t> - Total: </a:t>
            </a:r>
            <a:r>
              <a:rPr b="1"/>
              <a:t>200-400% vs. baseline</a:t>
            </a:r>
          </a:p>
          <a:p>
            <a:pPr lvl="0" marL="0" indent="0">
              <a:buNone/>
            </a:pPr>
            <a:r>
              <a:rPr b="1"/>
              <a:t>Improved</a:t>
            </a:r>
            <a:r>
              <a:rPr/>
              <a:t>: - Overhead: </a:t>
            </a:r>
            <a:r>
              <a:rPr b="1"/>
              <a:t>3-4 hrs/day → 30 min</a:t>
            </a:r>
            <a:r>
              <a:rPr/>
              <a:t> - Parallel: </a:t>
            </a:r>
            <a:r>
              <a:rPr b="1"/>
              <a:t>10-20+ tasks</a:t>
            </a:r>
            <a:r>
              <a:rPr/>
              <a:t> - High-value time: </a:t>
            </a:r>
            <a:r>
              <a:rPr b="1"/>
              <a:t>75-80%</a:t>
            </a:r>
            <a:r>
              <a:rPr/>
              <a:t> - Publication: </a:t>
            </a:r>
            <a:r>
              <a:rPr b="1"/>
              <a:t>3.00-5.00×</a:t>
            </a:r>
            <a:r>
              <a:rPr/>
              <a:t> - Coverage: </a:t>
            </a:r>
            <a:r>
              <a:rPr b="1"/>
              <a:t>90%+</a:t>
            </a:r>
          </a:p>
          <a:p>
            <a:pPr lvl="0" marL="0" indent="0">
              <a:buNone/>
            </a:pPr>
            <a:r>
              <a:rPr b="1"/>
              <a:t>Difference</a:t>
            </a:r>
            <a:r>
              <a:rPr/>
              <a:t>: Orchestrator handles coordination, human provides strategy only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Orchestration</a:t>
            </a:r>
            <a:r>
              <a:rPr/>
              <a:t> </a:t>
            </a:r>
            <a:r>
              <a:rPr/>
              <a:t>Architecture</a:t>
            </a:r>
          </a:p>
        </p:txBody>
      </p:sp>
      <p:pic>
        <p:nvPicPr>
          <p:cNvPr descr="diagrams/png/orchestration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600200"/>
            <a:ext cx="42291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Orchestration</a:t>
            </a:r>
            <a:r>
              <a:rPr/>
              <a:t> </a:t>
            </a:r>
            <a:r>
              <a:rPr/>
              <a:t>Flow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Orchestrator’s Job</a:t>
            </a:r>
            <a:r>
              <a:rPr/>
              <a:t>: 1. Decompose complex task → subtasks 2. Assign to specialized agents 3. Route information between agents 4. Synthesize outputs 5. Escalate strategic decisions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Evidence</a:t>
            </a:r>
            <a:r>
              <a:rPr/>
              <a:t> </a:t>
            </a:r>
            <a:r>
              <a:rPr/>
              <a:t>Summary:</a:t>
            </a:r>
            <a:r>
              <a:rPr/>
              <a:t> </a:t>
            </a:r>
            <a:r>
              <a:rPr/>
              <a:t>2024</a:t>
            </a:r>
            <a:r>
              <a:rPr/>
              <a:t> </a:t>
            </a:r>
            <a:r>
              <a:rPr/>
              <a:t>Studies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Source</a:t>
                      </a:r>
                      <a:r>
                        <a:rPr/>
                        <a:t> </a:t>
                      </a:r>
                      <a:r>
                        <a:rPr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Sample</a:t>
                      </a:r>
                      <a:r>
                        <a:rPr/>
                        <a:t> </a:t>
                      </a:r>
                      <a:r>
                        <a:rPr/>
                        <a:t>Size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Level</a:t>
                      </a:r>
                      <a:r>
                        <a:rPr b="1"/>
                        <a:t> </a:t>
                      </a:r>
                      <a:r>
                        <a:rPr b="1"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(Chat)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+21-26%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</a:t>
                      </a:r>
                      <a:r>
                        <a:rPr/>
                        <a:t> </a:t>
                      </a:r>
                      <a:r>
                        <a:rPr/>
                        <a:t>(peer-reviewed)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4,000+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Level</a:t>
                      </a:r>
                      <a:r>
                        <a:rPr b="1"/>
                        <a:t> </a:t>
                      </a:r>
                      <a:r>
                        <a:rPr b="1"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(Agents)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+40-55%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</a:t>
                      </a:r>
                      <a:r>
                        <a:rPr/>
                        <a:t> </a:t>
                      </a:r>
                      <a:r>
                        <a:rPr/>
                        <a:t>(peer-reviewed)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1,000+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Level</a:t>
                      </a:r>
                      <a:r>
                        <a:rPr b="1"/>
                        <a:t> </a:t>
                      </a:r>
                      <a:r>
                        <a:rPr b="1"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(Manual)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+100-150%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Medium</a:t>
                      </a:r>
                      <a:r>
                        <a:rPr/>
                        <a:t> </a:t>
                      </a:r>
                      <a:r>
                        <a:rPr/>
                        <a:t>(case</a:t>
                      </a:r>
                      <a:r>
                        <a:rPr/>
                        <a:t> </a:t>
                      </a:r>
                      <a:r>
                        <a:rPr/>
                        <a:t>studies)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&lt;100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Level</a:t>
                      </a:r>
                      <a:r>
                        <a:rPr b="1"/>
                        <a:t> </a:t>
                      </a:r>
                      <a:r>
                        <a:rPr b="1"/>
                        <a:t>4</a:t>
                      </a:r>
                      <a:r>
                        <a:rPr/>
                        <a:t> </a:t>
                      </a:r>
                      <a:r>
                        <a:rPr/>
                        <a:t>(LangGraph)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+200-400%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Medium</a:t>
                      </a:r>
                      <a:r>
                        <a:rPr/>
                        <a:t> </a:t>
                      </a:r>
                      <a:r>
                        <a:rPr/>
                        <a:t>(industry)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&lt;50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 Studies</a:t>
            </a:r>
            <a:r>
              <a:rPr/>
              <a:t>: GitHub Copilot RCT, Science Magazine, McKinsey, BCG</a:t>
            </a:r>
          </a:p>
          <a:p>
            <a:pPr lvl="0" marL="0" indent="0">
              <a:buNone/>
            </a:pPr>
            <a:r>
              <a:rPr b="1"/>
              <a:t>Takeaway</a:t>
            </a:r>
            <a:r>
              <a:rPr/>
              <a:t>: Even </a:t>
            </a:r>
            <a:r>
              <a:rPr b="1"/>
              <a:t>conservative</a:t>
            </a:r>
            <a:r>
              <a:rPr/>
              <a:t> estimates show </a:t>
            </a:r>
            <a:r>
              <a:rPr b="1"/>
              <a:t>transformational</a:t>
            </a:r>
            <a:r>
              <a:rPr/>
              <a:t> gains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2.7:</a:t>
            </a:r>
            <a:r>
              <a:rPr/>
              <a:t> </a:t>
            </a:r>
            <a:r>
              <a:rPr/>
              <a:t>Concrete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Cases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Orchestrated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Purpose</a:t>
            </a:r>
            <a:r>
              <a:rPr/>
              <a:t>: Ground the discussion in </a:t>
            </a:r>
            <a:r>
              <a:rPr b="1"/>
              <a:t>practical, real-world capabilities</a:t>
            </a:r>
          </a:p>
          <a:p>
            <a:pPr lvl="0" marL="0" indent="0">
              <a:buNone/>
            </a:pPr>
            <a:r>
              <a:rPr b="1"/>
              <a:t>Today</a:t>
            </a:r>
            <a:r>
              <a:rPr/>
              <a:t> (6 operational): - Literature management (85-90% savings) - Documentation automation (75-85% savings) - Knowledge graph tracking - Experiment logging (90% savings) - Semantic code search - Diagram generation (83-90% savings)</a:t>
            </a:r>
          </a:p>
          <a:p>
            <a:pPr lvl="0" marL="0" indent="0">
              <a:buNone/>
            </a:pPr>
            <a:r>
              <a:rPr b="1"/>
              <a:t>Q1-Q2 2025</a:t>
            </a:r>
            <a:r>
              <a:rPr/>
              <a:t> (7 planned): - Literature surveillance (90%+ coverage) - Gap analysis - Research orchestration - Plan authoring - Code development (95% accuracy) - Codebase analysis - Documentation maturity</a:t>
            </a:r>
          </a:p>
          <a:p>
            <a:pPr lvl="0" marL="0" indent="0">
              <a:buNone/>
            </a:pPr>
            <a:r>
              <a:rPr b="1"/>
              <a:t>Note</a:t>
            </a:r>
            <a:r>
              <a:rPr/>
              <a:t>: This is just the beginning—new capabilities added in 3-7 weeks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Literature</a:t>
            </a:r>
            <a:r>
              <a:rPr/>
              <a:t> </a:t>
            </a:r>
            <a:r>
              <a:rPr/>
              <a:t>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your personal librarian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Find papers (topic, author, date) - Organize in collections - Cite properly (APA, IEEE, etc.) - Summarize (AI reads 20-30 papers)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Battery electrode proposal</a:t>
            </a:r>
          </a:p>
          <a:p>
            <a:pPr lvl="1"/>
            <a:r>
              <a:rPr/>
              <a:t>Traditional: 20-25 hrs</a:t>
            </a:r>
          </a:p>
          <a:p>
            <a:pPr lvl="1"/>
            <a:r>
              <a:rPr/>
              <a:t>With MARS: 2-3 hrs</a:t>
            </a:r>
          </a:p>
          <a:p>
            <a:pPr lvl="1"/>
            <a:r>
              <a:rPr b="1"/>
              <a:t>Savings</a:t>
            </a:r>
            <a:r>
              <a:rPr/>
              <a:t>: 85-90%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Describe what you need </a:t>
            </a:r>
            <a:r>
              <a:rPr b="1"/>
              <a:t>MARS</a:t>
            </a:r>
            <a:r>
              <a:rPr/>
              <a:t>: Finds, reads, summarizes with citations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Documentation</a:t>
            </a:r>
            <a:r>
              <a:rPr/>
              <a:t> </a:t>
            </a:r>
            <a:r>
              <a:rPr/>
              <a:t>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technical writer that never sleeps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Generate docs from code - Add citations to papers - Create diagrams (architecture) - Check links, gaps - Format to standards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New algorithm docs</a:t>
            </a:r>
          </a:p>
          <a:p>
            <a:pPr lvl="1"/>
            <a:r>
              <a:rPr/>
              <a:t>Traditional: 8-12 hrs</a:t>
            </a:r>
          </a:p>
          <a:p>
            <a:pPr lvl="1"/>
            <a:r>
              <a:rPr/>
              <a:t>With MARS: 1-2 hrs (review)</a:t>
            </a:r>
          </a:p>
          <a:p>
            <a:pPr lvl="1"/>
            <a:r>
              <a:rPr b="1"/>
              <a:t>Savings</a:t>
            </a:r>
            <a:r>
              <a:rPr/>
              <a:t>: 75-85%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Write the code </a:t>
            </a:r>
            <a:r>
              <a:rPr b="1"/>
              <a:t>MARS</a:t>
            </a:r>
            <a:r>
              <a:rPr/>
              <a:t>: Documents, cites, diagrams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Knowledge</a:t>
            </a:r>
            <a:r>
              <a:rPr/>
              <a:t> </a:t>
            </a:r>
            <a:r>
              <a:rPr/>
              <a:t>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research detective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Trace paper → decision - Connect requirement → result - Discover cross-domain links - Preserve institutional knowledge - Answer “why this choice?”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“Which paper inspired this?”</a:t>
            </a:r>
          </a:p>
          <a:p>
            <a:pPr lvl="0" marL="0" indent="0">
              <a:buNone/>
            </a:pPr>
            <a:r>
              <a:rPr b="1"/>
              <a:t>MARS shows</a:t>
            </a:r>
            <a:r>
              <a:rPr/>
              <a:t>: - Paper A → Requirement B - Requirement B → Design C - Design C → Experiment D - Experiment D → Result E</a:t>
            </a:r>
          </a:p>
          <a:p>
            <a:pPr lvl="0" marL="0" indent="0">
              <a:buNone/>
            </a:pPr>
            <a:r>
              <a:rPr b="1"/>
              <a:t>Survives</a:t>
            </a:r>
            <a:r>
              <a:rPr/>
              <a:t> personnel turnover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Experiment</a:t>
            </a:r>
            <a:r>
              <a:rPr/>
              <a:t> </a:t>
            </a:r>
            <a:r>
              <a:rPr/>
              <a:t>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lab notebook that writes itself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Log</a:t>
            </a:r>
            <a:r>
              <a:rPr/>
              <a:t> parameters, settings - </a:t>
            </a:r>
            <a:r>
              <a:rPr b="1"/>
              <a:t>Record</a:t>
            </a:r>
            <a:r>
              <a:rPr/>
              <a:t> results, metrics - </a:t>
            </a:r>
            <a:r>
              <a:rPr b="1"/>
              <a:t>Timestamp</a:t>
            </a:r>
            <a:r>
              <a:rPr/>
              <a:t> with provenance - </a:t>
            </a:r>
            <a:r>
              <a:rPr b="1"/>
              <a:t>Store</a:t>
            </a:r>
            <a:r>
              <a:rPr/>
              <a:t> searchable format - </a:t>
            </a:r>
            <a:r>
              <a:rPr b="1"/>
              <a:t>Enable</a:t>
            </a:r>
            <a:r>
              <a:rPr/>
              <a:t> perfect reproducibility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50 experiments, 6 months later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“Reproduce experiment #23” </a:t>
            </a:r>
            <a:r>
              <a:rPr b="1"/>
              <a:t>MARS</a:t>
            </a:r>
            <a:r>
              <a:rPr/>
              <a:t>: All parameters recorded - Same settings - Same data - Same environment - </a:t>
            </a:r>
            <a:r>
              <a:rPr b="1"/>
              <a:t>Success</a:t>
            </a:r>
            <a:r>
              <a:rPr/>
              <a:t>: First try</a:t>
            </a:r>
          </a:p>
          <a:p>
            <a:pPr lvl="0" marL="0" indent="0">
              <a:buNone/>
            </a:pPr>
            <a:r>
              <a:rPr b="1"/>
              <a:t>Savings</a:t>
            </a:r>
            <a:r>
              <a:rPr/>
              <a:t>: 90% time on tracking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Semantic</a:t>
            </a:r>
            <a:r>
              <a:rPr/>
              <a:t> </a:t>
            </a:r>
            <a:r>
              <a:rPr/>
              <a:t>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search that understands meaning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Understand</a:t>
            </a:r>
            <a:r>
              <a:rPr/>
              <a:t> intent, not keywords - </a:t>
            </a:r>
            <a:r>
              <a:rPr b="1"/>
              <a:t>Find</a:t>
            </a:r>
            <a:r>
              <a:rPr/>
              <a:t> different terminology - </a:t>
            </a:r>
            <a:r>
              <a:rPr b="1"/>
              <a:t>Reduce</a:t>
            </a:r>
            <a:r>
              <a:rPr/>
              <a:t> AI context 40% - </a:t>
            </a:r>
            <a:r>
              <a:rPr b="1"/>
              <a:t>Remember</a:t>
            </a:r>
            <a:r>
              <a:rPr/>
              <a:t> across sessions - </a:t>
            </a:r>
            <a:r>
              <a:rPr b="1"/>
              <a:t>Ground</a:t>
            </a:r>
            <a:r>
              <a:rPr/>
              <a:t> in codebase (fewer hallucinations)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“Where do we handle authentication errors?”</a:t>
            </a:r>
          </a:p>
          <a:p>
            <a:pPr lvl="0" marL="0" indent="0">
              <a:buNone/>
            </a:pPr>
            <a:r>
              <a:rPr b="1"/>
              <a:t>Keyword search</a:t>
            </a:r>
            <a:r>
              <a:rPr/>
              <a:t>: Misses </a:t>
            </a:r>
            <a:r>
              <a:rPr>
                <a:latin typeface="Courier"/>
              </a:rPr>
              <a:t>handle_auth_failure</a:t>
            </a:r>
            <a:r>
              <a:rPr/>
              <a:t> </a:t>
            </a:r>
            <a:r>
              <a:rPr b="1"/>
              <a:t>MARS semantic</a:t>
            </a:r>
            <a:r>
              <a:rPr/>
              <a:t>: Finds it (same meaning)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- Faster results - Lower costs - Better accuracy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Operational:</a:t>
            </a:r>
            <a:r>
              <a:rPr/>
              <a:t> </a:t>
            </a:r>
            <a:r>
              <a:rPr/>
              <a:t>Diagram</a:t>
            </a:r>
            <a:r>
              <a:rPr/>
              <a:t> </a:t>
            </a:r>
            <a:r>
              <a:rPr/>
              <a:t>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an artist who draws what you describe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Generate</a:t>
            </a:r>
            <a:r>
              <a:rPr/>
              <a:t> SysML/UML diagrams - </a:t>
            </a:r>
            <a:r>
              <a:rPr b="1"/>
              <a:t>Render</a:t>
            </a:r>
            <a:r>
              <a:rPr/>
              <a:t> publication-quality - </a:t>
            </a:r>
            <a:r>
              <a:rPr b="1"/>
              <a:t>Update</a:t>
            </a:r>
            <a:r>
              <a:rPr/>
              <a:t> when system changes - </a:t>
            </a:r>
            <a:r>
              <a:rPr b="1"/>
              <a:t>Maintain</a:t>
            </a:r>
            <a:r>
              <a:rPr/>
              <a:t> consistent notation - </a:t>
            </a:r>
            <a:r>
              <a:rPr b="1"/>
              <a:t>Version</a:t>
            </a:r>
            <a:r>
              <a:rPr/>
              <a:t> with code (git)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“Sensor data flow diagram”</a:t>
            </a:r>
          </a:p>
          <a:p>
            <a:pPr lvl="1"/>
            <a:r>
              <a:rPr/>
              <a:t>Traditional: 3-5 hrs (PowerPoint)</a:t>
            </a:r>
          </a:p>
          <a:p>
            <a:pPr lvl="1"/>
            <a:r>
              <a:rPr/>
              <a:t>With MARS: 15 min</a:t>
            </a:r>
          </a:p>
          <a:p>
            <a:pPr lvl="1"/>
            <a:r>
              <a:rPr b="1"/>
              <a:t>Savings</a:t>
            </a:r>
            <a:r>
              <a:rPr/>
              <a:t>: 83-90%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Describe in English </a:t>
            </a:r>
            <a:r>
              <a:rPr b="1"/>
              <a:t>MARS</a:t>
            </a:r>
            <a:r>
              <a:rPr/>
              <a:t>: Professional diagram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Literature</a:t>
            </a:r>
            <a:r>
              <a:rPr/>
              <a:t> </a:t>
            </a:r>
            <a:r>
              <a:rPr/>
              <a:t>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24/7 news alert service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 (nightly): - </a:t>
            </a:r>
            <a:r>
              <a:rPr b="1"/>
              <a:t>Monitor</a:t>
            </a:r>
            <a:r>
              <a:rPr/>
              <a:t> arXiv, PubMed, journals - </a:t>
            </a:r>
            <a:r>
              <a:rPr b="1"/>
              <a:t>Scan</a:t>
            </a:r>
            <a:r>
              <a:rPr/>
              <a:t> 9,700+ papers/day - </a:t>
            </a:r>
            <a:r>
              <a:rPr b="1"/>
              <a:t>Filter</a:t>
            </a:r>
            <a:r>
              <a:rPr/>
              <a:t> to 10-15 relevant - </a:t>
            </a:r>
            <a:r>
              <a:rPr b="1"/>
              <a:t>Summarize</a:t>
            </a:r>
            <a:r>
              <a:rPr/>
              <a:t> with AI - </a:t>
            </a:r>
            <a:r>
              <a:rPr b="1"/>
              <a:t>Alert</a:t>
            </a:r>
            <a:r>
              <a:rPr/>
              <a:t> each morning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“Lithium batteries” interest</a:t>
            </a:r>
          </a:p>
          <a:p>
            <a:pPr lvl="0" marL="0" indent="0">
              <a:buNone/>
            </a:pPr>
            <a:r>
              <a:rPr b="1"/>
              <a:t>Morning digest</a:t>
            </a:r>
            <a:r>
              <a:rPr/>
              <a:t>: - 47 battery papers published - 8 most relevant highlighted - AI summaries for each</a:t>
            </a:r>
          </a:p>
          <a:p>
            <a:pPr lvl="0" marL="0" indent="0">
              <a:buNone/>
            </a:pPr>
            <a:r>
              <a:rPr b="1"/>
              <a:t>Coverage</a:t>
            </a:r>
            <a:r>
              <a:rPr/>
              <a:t>: 90%+ vs. &lt;5% manual </a:t>
            </a:r>
            <a:r>
              <a:rPr b="1"/>
              <a:t>You sleep</a:t>
            </a:r>
            <a:r>
              <a:rPr/>
              <a:t>: MARS watches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Gap</a:t>
            </a:r>
            <a:r>
              <a:rPr/>
              <a:t> </a:t>
            </a:r>
            <a:r>
              <a:rPr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research consultant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Analyze</a:t>
            </a:r>
            <a:r>
              <a:rPr/>
              <a:t> hundreds of papers - </a:t>
            </a:r>
            <a:r>
              <a:rPr b="1"/>
              <a:t>Identify</a:t>
            </a:r>
            <a:r>
              <a:rPr/>
              <a:t> untried approaches - </a:t>
            </a:r>
            <a:r>
              <a:rPr b="1"/>
              <a:t>Recommend</a:t>
            </a:r>
            <a:r>
              <a:rPr/>
              <a:t> background reading - </a:t>
            </a:r>
            <a:r>
              <a:rPr b="1"/>
              <a:t>Suggest</a:t>
            </a:r>
            <a:r>
              <a:rPr/>
              <a:t> citations - </a:t>
            </a:r>
            <a:r>
              <a:rPr b="1"/>
              <a:t>Connect</a:t>
            </a:r>
            <a:r>
              <a:rPr/>
              <a:t> cross-domain ideas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“What haven’t we tried for battery capacity?”</a:t>
            </a:r>
          </a:p>
          <a:p>
            <a:pPr lvl="0" marL="0" indent="0">
              <a:buNone/>
            </a:pPr>
            <a:r>
              <a:rPr b="1"/>
              <a:t>MARS analyzes</a:t>
            </a:r>
            <a:r>
              <a:rPr/>
              <a:t> 500 papers: - 3 unexplored approaches - 12 papers to read - Citation recommendations</a:t>
            </a:r>
          </a:p>
          <a:p>
            <a:pPr lvl="0" marL="0" indent="0">
              <a:buNone/>
            </a:pPr>
            <a:r>
              <a:rPr b="1"/>
              <a:t>Traditional</a:t>
            </a:r>
            <a:r>
              <a:rPr/>
              <a:t>: Weeks of manual review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project manager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Decompose</a:t>
            </a:r>
            <a:r>
              <a:rPr/>
              <a:t> goal → phases - </a:t>
            </a:r>
            <a:r>
              <a:rPr b="1"/>
              <a:t>Assign</a:t>
            </a:r>
            <a:r>
              <a:rPr/>
              <a:t> tasks to agents - </a:t>
            </a:r>
            <a:r>
              <a:rPr b="1"/>
              <a:t>Coordinate</a:t>
            </a:r>
            <a:r>
              <a:rPr/>
              <a:t> collaboration - </a:t>
            </a:r>
            <a:r>
              <a:rPr b="1"/>
              <a:t>Alert</a:t>
            </a:r>
            <a:r>
              <a:rPr/>
              <a:t> at decision points - </a:t>
            </a:r>
            <a:r>
              <a:rPr b="1"/>
              <a:t>Track</a:t>
            </a:r>
            <a:r>
              <a:rPr/>
              <a:t> and adapt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“Develop new electrode material”</a:t>
            </a:r>
          </a:p>
          <a:p>
            <a:pPr lvl="0" marL="0" indent="0">
              <a:buNone/>
            </a:pPr>
            <a:r>
              <a:rPr b="1"/>
              <a:t>MARS breaks down</a:t>
            </a:r>
            <a:r>
              <a:rPr/>
              <a:t>: 1. Literature review 2. Simulation 3. Synthesis 4. Testing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Review milestones, decide strategy </a:t>
            </a:r>
            <a:r>
              <a:rPr b="1"/>
              <a:t>Agents</a:t>
            </a:r>
            <a:r>
              <a:rPr/>
              <a:t>: Execute tasks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Plan</a:t>
            </a:r>
            <a:r>
              <a:rPr/>
              <a:t> </a:t>
            </a:r>
            <a:r>
              <a:rPr/>
              <a:t>Authoring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grant writer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Query</a:t>
            </a:r>
            <a:r>
              <a:rPr/>
              <a:t> literature - </a:t>
            </a:r>
            <a:r>
              <a:rPr b="1"/>
              <a:t>Generate</a:t>
            </a:r>
            <a:r>
              <a:rPr/>
              <a:t> plan (milestones, methods) - </a:t>
            </a:r>
            <a:r>
              <a:rPr b="1"/>
              <a:t>Include</a:t>
            </a:r>
            <a:r>
              <a:rPr/>
              <a:t> expected outcomes - </a:t>
            </a:r>
            <a:r>
              <a:rPr b="1"/>
              <a:t>Format</a:t>
            </a:r>
            <a:r>
              <a:rPr/>
              <a:t> to template - </a:t>
            </a:r>
            <a:r>
              <a:rPr b="1"/>
              <a:t>Draft</a:t>
            </a:r>
            <a:r>
              <a:rPr/>
              <a:t> complete sections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Research funding proposal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High-level goals </a:t>
            </a:r>
            <a:r>
              <a:rPr b="1"/>
              <a:t>MARS</a:t>
            </a:r>
            <a:r>
              <a:rPr/>
              <a:t>: 10-page plan - Background - Methods - Timeline - Outcomes</a:t>
            </a:r>
          </a:p>
          <a:p>
            <a:pPr lvl="0" marL="0" indent="0">
              <a:buNone/>
            </a:pPr>
            <a:r>
              <a:rPr b="1"/>
              <a:t>You refine</a:t>
            </a:r>
            <a:r>
              <a:rPr/>
              <a:t>: Days vs. weeks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programmer following blueprints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Generate</a:t>
            </a:r>
            <a:r>
              <a:rPr/>
              <a:t> formal spec - </a:t>
            </a:r>
            <a:r>
              <a:rPr b="1"/>
              <a:t>Review</a:t>
            </a:r>
            <a:r>
              <a:rPr/>
              <a:t> spec with you - </a:t>
            </a:r>
            <a:r>
              <a:rPr b="1"/>
              <a:t>Implement</a:t>
            </a:r>
            <a:r>
              <a:rPr/>
              <a:t> from spec (95% accuracy) - </a:t>
            </a:r>
            <a:r>
              <a:rPr b="1"/>
              <a:t>Write</a:t>
            </a:r>
            <a:r>
              <a:rPr/>
              <a:t> tests - </a:t>
            </a:r>
            <a:r>
              <a:rPr b="1"/>
              <a:t>Validate</a:t>
            </a:r>
            <a:r>
              <a:rPr/>
              <a:t> correctness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“Process sensor data, filter noise, detect anomalies”</a:t>
            </a:r>
          </a:p>
          <a:p>
            <a:pPr lvl="0" marL="0" indent="0">
              <a:buNone/>
            </a:pPr>
            <a:r>
              <a:rPr b="1"/>
              <a:t>You write</a:t>
            </a:r>
            <a:r>
              <a:rPr/>
              <a:t>: 2-page spec </a:t>
            </a:r>
            <a:r>
              <a:rPr b="1"/>
              <a:t>MARS</a:t>
            </a:r>
            <a:r>
              <a:rPr/>
              <a:t>: - Generates code - Writes tests - Validates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Review spec + final code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Codebase</a:t>
            </a:r>
            <a:r>
              <a:rPr/>
              <a:t> </a:t>
            </a:r>
            <a:r>
              <a:rPr/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tour guide for code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Analyze</a:t>
            </a:r>
            <a:r>
              <a:rPr/>
              <a:t> structure - </a:t>
            </a:r>
            <a:r>
              <a:rPr b="1"/>
              <a:t>Generate</a:t>
            </a:r>
            <a:r>
              <a:rPr/>
              <a:t> diagrams - </a:t>
            </a:r>
            <a:r>
              <a:rPr b="1"/>
              <a:t>Explain</a:t>
            </a:r>
            <a:r>
              <a:rPr/>
              <a:t> in plain English - </a:t>
            </a:r>
            <a:r>
              <a:rPr b="1"/>
              <a:t>Answer</a:t>
            </a:r>
            <a:r>
              <a:rPr/>
              <a:t> implementation questions - </a:t>
            </a:r>
            <a:r>
              <a:rPr b="1"/>
              <a:t>Reduce</a:t>
            </a:r>
            <a:r>
              <a:rPr/>
              <a:t> learning time (days → hrs)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50,000-line inherited codebase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“How does authentication work?” </a:t>
            </a:r>
            <a:r>
              <a:rPr b="1"/>
              <a:t>MARS</a:t>
            </a:r>
            <a:r>
              <a:rPr/>
              <a:t>: - Sequence diagram - Component explanations - Flow walkthrough</a:t>
            </a:r>
          </a:p>
          <a:p>
            <a:pPr lvl="0" marL="0" indent="0">
              <a:buNone/>
            </a:pPr>
            <a:r>
              <a:rPr b="1"/>
              <a:t>Learning</a:t>
            </a:r>
            <a:r>
              <a:rPr/>
              <a:t>: 30 min vs. 2 days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Planned:</a:t>
            </a:r>
            <a:r>
              <a:rPr/>
              <a:t> </a:t>
            </a:r>
            <a:r>
              <a:rPr/>
              <a:t>Documentation</a:t>
            </a:r>
            <a:r>
              <a:rPr/>
              <a:t> </a:t>
            </a:r>
            <a:r>
              <a:rPr/>
              <a:t>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copy editor</a:t>
            </a:r>
          </a:p>
          <a:p>
            <a:pPr lvl="0" marL="0" indent="0">
              <a:buNone/>
            </a:pPr>
            <a:r>
              <a:rPr b="1"/>
              <a:t>What it does</a:t>
            </a:r>
            <a:r>
              <a:rPr/>
              <a:t>: - </a:t>
            </a:r>
            <a:r>
              <a:rPr b="1"/>
              <a:t>Scan</a:t>
            </a:r>
            <a:r>
              <a:rPr/>
              <a:t> all documents - </a:t>
            </a:r>
            <a:r>
              <a:rPr b="1"/>
              <a:t>Detect</a:t>
            </a:r>
            <a:r>
              <a:rPr/>
              <a:t> gaps, broken links - </a:t>
            </a:r>
            <a:r>
              <a:rPr b="1"/>
              <a:t>Generate</a:t>
            </a:r>
            <a:r>
              <a:rPr/>
              <a:t> drafts - </a:t>
            </a:r>
            <a:r>
              <a:rPr b="1"/>
              <a:t>Update</a:t>
            </a:r>
            <a:r>
              <a:rPr/>
              <a:t> citations (Zotero) - </a:t>
            </a:r>
            <a:r>
              <a:rPr b="1"/>
              <a:t>Produce</a:t>
            </a:r>
            <a:r>
              <a:rPr/>
              <a:t> publication-ready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50 project documents, incomplete</a:t>
            </a:r>
          </a:p>
          <a:p>
            <a:pPr lvl="0" marL="0" indent="0">
              <a:buNone/>
            </a:pPr>
            <a:r>
              <a:rPr b="1"/>
              <a:t>MARS</a:t>
            </a:r>
            <a:r>
              <a:rPr/>
              <a:t>: - 15 missing sections identified - 12 drafts generated - 47 broken links fixed - All citations updated</a:t>
            </a:r>
          </a:p>
          <a:p>
            <a:pPr lvl="0" marL="0" indent="0">
              <a:buNone/>
            </a:pPr>
            <a:r>
              <a:rPr b="1"/>
              <a:t>You</a:t>
            </a:r>
            <a:r>
              <a:rPr/>
              <a:t>: Review vs. weeks tracking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Future:</a:t>
            </a:r>
            <a:r>
              <a:rPr/>
              <a:t> </a:t>
            </a:r>
            <a:r>
              <a:rPr/>
              <a:t>Robotics</a:t>
            </a:r>
            <a:r>
              <a:rPr/>
              <a:t> </a:t>
            </a:r>
            <a:r>
              <a:rPr/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robotics engineer you talk to</a:t>
            </a:r>
          </a:p>
          <a:p>
            <a:pPr lvl="0" marL="0" indent="0">
              <a:buNone/>
            </a:pPr>
            <a:r>
              <a:rPr b="1"/>
              <a:t>What it will do</a:t>
            </a:r>
            <a:r>
              <a:rPr/>
              <a:t>: - </a:t>
            </a:r>
            <a:r>
              <a:rPr b="1"/>
              <a:t>Collect</a:t>
            </a:r>
            <a:r>
              <a:rPr/>
              <a:t> ROS2 sensor data - </a:t>
            </a:r>
            <a:r>
              <a:rPr b="1"/>
              <a:t>Preprocess</a:t>
            </a:r>
            <a:r>
              <a:rPr/>
              <a:t> datasets - </a:t>
            </a:r>
            <a:r>
              <a:rPr b="1"/>
              <a:t>Submit</a:t>
            </a:r>
            <a:r>
              <a:rPr/>
              <a:t> GPU training jobs - </a:t>
            </a:r>
            <a:r>
              <a:rPr b="1"/>
              <a:t>Validate</a:t>
            </a:r>
            <a:r>
              <a:rPr/>
              <a:t> in simulation - </a:t>
            </a:r>
            <a:r>
              <a:rPr b="1"/>
              <a:t>Deploy</a:t>
            </a:r>
            <a:r>
              <a:rPr/>
              <a:t> to robot hardware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“Train navigation policy from yesterday’s data”</a:t>
            </a:r>
          </a:p>
          <a:p>
            <a:pPr lvl="0" marL="0" indent="0">
              <a:buNone/>
            </a:pPr>
            <a:r>
              <a:rPr b="1"/>
              <a:t>One sentence</a:t>
            </a:r>
            <a:r>
              <a:rPr/>
              <a:t> → - Find ROS2 bags - Preprocess - Train (4 GPUs, 8 hrs) - Test (Isaac-Lab) - Deploy</a:t>
            </a:r>
          </a:p>
          <a:p>
            <a:pPr lvl="0" marL="0" indent="0">
              <a:buNone/>
            </a:pPr>
            <a:r>
              <a:rPr b="1"/>
              <a:t>Reduction</a:t>
            </a:r>
            <a:r>
              <a:rPr/>
              <a:t>: 80% manual Python coding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Future:</a:t>
            </a:r>
            <a:r>
              <a:rPr/>
              <a:t> </a:t>
            </a:r>
            <a:r>
              <a:rPr/>
              <a:t>HPC</a:t>
            </a:r>
            <a:r>
              <a:rPr/>
              <a:t> </a:t>
            </a:r>
            <a:r>
              <a:rPr/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Think of this as a supercomputer scheduler</a:t>
            </a:r>
          </a:p>
          <a:p>
            <a:pPr lvl="0" marL="0" indent="0">
              <a:buNone/>
            </a:pPr>
            <a:r>
              <a:rPr b="1"/>
              <a:t>What it will do</a:t>
            </a:r>
            <a:r>
              <a:rPr/>
              <a:t>: - </a:t>
            </a:r>
            <a:r>
              <a:rPr b="1"/>
              <a:t>Design</a:t>
            </a:r>
            <a:r>
              <a:rPr/>
              <a:t> pipelines - </a:t>
            </a:r>
            <a:r>
              <a:rPr b="1"/>
              <a:t>Schedule</a:t>
            </a:r>
            <a:r>
              <a:rPr/>
              <a:t> jobs (SLURM) - </a:t>
            </a:r>
            <a:r>
              <a:rPr b="1"/>
              <a:t>Monitor</a:t>
            </a:r>
            <a:r>
              <a:rPr/>
              <a:t> progress - </a:t>
            </a:r>
            <a:r>
              <a:rPr b="1"/>
              <a:t>Optimize</a:t>
            </a:r>
            <a:r>
              <a:rPr/>
              <a:t> resources - </a:t>
            </a:r>
            <a:r>
              <a:rPr b="1"/>
              <a:t>Alert</a:t>
            </a:r>
            <a:r>
              <a:rPr/>
              <a:t> when ready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1,000 simulations (parameter sweep)</a:t>
            </a:r>
          </a:p>
          <a:p>
            <a:pPr lvl="0" marL="0" indent="0">
              <a:buNone/>
            </a:pPr>
            <a:r>
              <a:rPr b="1"/>
              <a:t>You describe</a:t>
            </a:r>
            <a:r>
              <a:rPr/>
              <a:t> what you want </a:t>
            </a:r>
            <a:r>
              <a:rPr b="1"/>
              <a:t>MARS</a:t>
            </a:r>
            <a:r>
              <a:rPr/>
              <a:t>: - Nextflow/Snakemake setup - Job scheduling - Progress monitoring - Results notification</a:t>
            </a:r>
          </a:p>
          <a:p>
            <a:pPr lvl="0" marL="0" indent="0">
              <a:buNone/>
            </a:pPr>
            <a:r>
              <a:rPr b="1"/>
              <a:t>No scripts</a:t>
            </a:r>
            <a:r>
              <a:rPr/>
              <a:t>, no babysitting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You:</a:t>
            </a:r>
            <a:r>
              <a:rPr/>
              <a:t> </a:t>
            </a: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Today</a:t>
            </a:r>
            <a:r>
              <a:rPr/>
              <a:t> (6 operational): - 85-90% time savings (literature) - 75-85% reduction (docs) - Perfect reproducibility - Institutional memory</a:t>
            </a:r>
          </a:p>
          <a:p>
            <a:pPr lvl="0" marL="0" indent="0">
              <a:buNone/>
            </a:pPr>
            <a:r>
              <a:rPr b="1"/>
              <a:t>Q1-Q2 2025</a:t>
            </a:r>
            <a:r>
              <a:rPr/>
              <a:t> (7 v1.0): - 90%+ literature coverage - Multi-month orchestration - 95% code accuracy - Publication-grade docs</a:t>
            </a:r>
          </a:p>
          <a:p>
            <a:pPr lvl="0" marL="0" indent="0">
              <a:buNone/>
            </a:pPr>
            <a:r>
              <a:rPr b="1"/>
              <a:t>Future</a:t>
            </a:r>
            <a:r>
              <a:rPr/>
              <a:t> (2+ expansion): - Robotics workflows (80% reduction) - HPC pipelines (conversational) - </a:t>
            </a:r>
            <a:r>
              <a:rPr b="1"/>
              <a:t>Your domain needs</a:t>
            </a:r>
            <a:r>
              <a:rPr/>
              <a:t> (3-7 weeks)</a:t>
            </a:r>
          </a:p>
          <a:p>
            <a:pPr lvl="0" marL="0" indent="0">
              <a:buNone/>
            </a:pPr>
            <a:r>
              <a:rPr b="1"/>
              <a:t>Key Insight</a:t>
            </a:r>
            <a:r>
              <a:rPr/>
              <a:t>: &gt; Every research group will discover 5-10 new use cases we haven’t imagined yet</a:t>
            </a:r>
          </a:p>
          <a:p>
            <a:pPr lvl="0" marL="0" indent="0">
              <a:buNone/>
            </a:pPr>
            <a:r>
              <a:rPr b="1"/>
              <a:t>Platform grows with your needs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Technology</a:t>
            </a:r>
            <a:r>
              <a:rPr/>
              <a:t> </a:t>
            </a:r>
            <a:r>
              <a:rPr/>
              <a:t>Primer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LLM?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Simple</a:t>
            </a:r>
            <a:r>
              <a:rPr/>
              <a:t>: Pattern-matching engine trained on billions of pages</a:t>
            </a:r>
          </a:p>
          <a:p>
            <a:pPr lvl="0" marL="0" indent="0">
              <a:buNone/>
            </a:pPr>
            <a:r>
              <a:rPr b="1"/>
              <a:t>Think</a:t>
            </a:r>
            <a:r>
              <a:rPr/>
              <a:t>: Research assistant who read every paper ever written</a:t>
            </a:r>
          </a:p>
          <a:p>
            <a:pPr lvl="0" marL="0" indent="0">
              <a:buNone/>
            </a:pPr>
            <a:r>
              <a:rPr b="1"/>
              <a:t>How</a:t>
            </a:r>
            <a:r>
              <a:rPr/>
              <a:t>: 1. Trained on billions of pages 2. Learns patterns 3. Predicts next words 4. Result: Human-like text</a:t>
            </a:r>
          </a:p>
          <a:p>
            <a:pPr lvl="0" marL="0" indent="0">
              <a:buNone/>
            </a:pPr>
            <a:r>
              <a:rPr b="1"/>
              <a:t>Good At</a:t>
            </a:r>
            <a:r>
              <a:rPr/>
              <a:t> ✅: - Summarization, translation - Q&amp;A, code generation - Pattern recognition</a:t>
            </a:r>
          </a:p>
          <a:p>
            <a:pPr lvl="0" marL="0" indent="0">
              <a:buNone/>
            </a:pPr>
            <a:r>
              <a:rPr b="1"/>
              <a:t>Not Good At</a:t>
            </a:r>
            <a:r>
              <a:rPr/>
              <a:t> ❌: - Original discovery - Precise calculation - Long-term memory - Tool use (basic LLMs)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Memory</a:t>
            </a:r>
            <a:r>
              <a:rPr/>
              <a:t> </a:t>
            </a:r>
            <a:r>
              <a:rPr/>
              <a:t>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📝 </a:t>
            </a:r>
            <a:r>
              <a:rPr b="1"/>
              <a:t>Level 0</a:t>
            </a:r>
            <a:r>
              <a:rPr/>
              <a:t>: Post-It Notes (ChatGPT - no memory) - 📓 </a:t>
            </a:r>
            <a:r>
              <a:rPr b="1"/>
              <a:t>Level 1</a:t>
            </a:r>
            <a:r>
              <a:rPr/>
              <a:t>: Personal Notebook (session only) - 📖 </a:t>
            </a:r>
            <a:r>
              <a:rPr b="1"/>
              <a:t>Level 2</a:t>
            </a:r>
            <a:r>
              <a:rPr/>
              <a:t>: Reference Manual (CLAUDE.md - static context) - 🗂️ </a:t>
            </a:r>
            <a:r>
              <a:rPr b="1"/>
              <a:t>Level 3</a:t>
            </a:r>
            <a:r>
              <a:rPr/>
              <a:t>: Card Catalog (RAG/semantic search) - 📚 </a:t>
            </a:r>
            <a:r>
              <a:rPr b="1"/>
              <a:t>Level 4</a:t>
            </a:r>
            <a:r>
              <a:rPr/>
              <a:t>: Cross-References (knowledge graphs) - 🏫 </a:t>
            </a:r>
            <a:r>
              <a:rPr b="1"/>
              <a:t>Level 5</a:t>
            </a:r>
            <a:r>
              <a:rPr/>
              <a:t>: University Library (OpenMemory - learns) - 🏛️ </a:t>
            </a:r>
            <a:r>
              <a:rPr b="1"/>
              <a:t>Level 6</a:t>
            </a:r>
            <a:r>
              <a:rPr/>
              <a:t>: Library of Congress (institutional memory)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s/png/memory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59200" y="1600200"/>
            <a:ext cx="1638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Memory</a:t>
            </a:r>
            <a:r>
              <a:rPr/>
              <a:t> </a:t>
            </a:r>
            <a:r>
              <a:rPr/>
              <a:t>Ladder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0:</a:t>
            </a:r>
            <a:r>
              <a:rPr/>
              <a:t> </a:t>
            </a:r>
            <a:r>
              <a:rPr/>
              <a:t>Post-It</a:t>
            </a:r>
            <a:r>
              <a:rPr/>
              <a:t> </a:t>
            </a:r>
            <a:r>
              <a:rPr/>
              <a:t>Notes</a:t>
            </a:r>
            <a:r>
              <a:rPr/>
              <a:t> </a:t>
            </a:r>
            <a:r>
              <a:rPr/>
              <a:t>(ChatGPT)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📝 </a:t>
            </a:r>
            <a:r>
              <a:rPr b="1"/>
              <a:t>The Analogy</a:t>
            </a:r>
            <a:r>
              <a:rPr/>
              <a:t>: Post-It notes you throw away after each conversation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No memory</a:t>
            </a:r>
            <a:r>
              <a:rPr/>
              <a:t> between conversations - Starts from scratch every time - No context preservation - Must re-explain everything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ChatGPT basic chat - You: “I’m working on battery research” - </a:t>
            </a:r>
            <a:r>
              <a:rPr i="1"/>
              <a:t>Close browser</a:t>
            </a:r>
            <a:r>
              <a:rPr/>
              <a:t> - You: “What were we discussing?” - ChatGPT: “I don’t recall previous conversations”</a:t>
            </a:r>
          </a:p>
          <a:p>
            <a:pPr lvl="0" marL="0" indent="0">
              <a:buNone/>
            </a:pPr>
            <a:r>
              <a:rPr b="1"/>
              <a:t>Why This Level</a:t>
            </a:r>
            <a:r>
              <a:rPr/>
              <a:t>: Stateless interaction, no persistence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Personal</a:t>
            </a:r>
            <a:r>
              <a:rPr/>
              <a:t> </a:t>
            </a:r>
            <a:r>
              <a:rPr/>
              <a:t>Notebook</a:t>
            </a:r>
            <a:r>
              <a:rPr/>
              <a:t> </a:t>
            </a:r>
            <a:r>
              <a:rPr/>
              <a:t>(Session</a:t>
            </a:r>
            <a:r>
              <a:rPr/>
              <a:t> </a:t>
            </a:r>
            <a:r>
              <a:rPr/>
              <a:t>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📓 </a:t>
            </a:r>
            <a:r>
              <a:rPr b="1"/>
              <a:t>The Analogy</a:t>
            </a:r>
            <a:r>
              <a:rPr/>
              <a:t>: Notebook that disappears when you close it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Session memory only</a:t>
            </a:r>
            <a:r>
              <a:rPr/>
              <a:t> - Remembers within single conversation - Forgets when session ends - No cross-session learning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ChatGPT with conversation history - You: “I’m researching lithium batteries” - </a:t>
            </a:r>
            <a:r>
              <a:rPr i="1"/>
              <a:t>Later in same session</a:t>
            </a:r>
            <a:r>
              <a:rPr/>
              <a:t> - You: “What are the challenges we discussed?” - ChatGPT: “The lithium battery challenges you mentioned were…” - </a:t>
            </a:r>
            <a:r>
              <a:rPr i="1"/>
              <a:t>Close browser → memory lost</a:t>
            </a:r>
          </a:p>
          <a:p>
            <a:pPr lvl="0" marL="0" indent="0">
              <a:buNone/>
            </a:pPr>
            <a:r>
              <a:rPr b="1"/>
              <a:t>Improved vs Level 0</a:t>
            </a:r>
            <a:r>
              <a:rPr/>
              <a:t>: Within-session context, but still ephemeral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Reference</a:t>
            </a:r>
            <a:r>
              <a:rPr/>
              <a:t> </a:t>
            </a:r>
            <a:r>
              <a:rPr/>
              <a:t>Manual</a:t>
            </a:r>
            <a:r>
              <a:rPr/>
              <a:t> </a:t>
            </a:r>
            <a:r>
              <a:rPr/>
              <a:t>(CLAUDE.md)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📖 </a:t>
            </a:r>
            <a:r>
              <a:rPr b="1"/>
              <a:t>The Analogy</a:t>
            </a:r>
            <a:r>
              <a:rPr/>
              <a:t>: Operations manual everyone reads before starting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Static context</a:t>
            </a:r>
            <a:r>
              <a:rPr/>
              <a:t> loaded at session start - Consistent behavior across sessions - Project-specific knowledge - No learning or adaptation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MARS CLAUDE.md - Every Claude Code session reads CLAUDE.md - Knows MARS structure, commands, policies - Behavior consistent across all sessions - But: doesn’t remember YOUR previous work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✅ </a:t>
            </a:r>
            <a:r>
              <a:rPr b="1"/>
              <a:t>Level 2 Complete</a:t>
            </a:r>
            <a:r>
              <a:rPr/>
              <a:t> (CLAUDE.md + policy bundles)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Library</a:t>
            </a:r>
            <a:r>
              <a:rPr/>
              <a:t> </a:t>
            </a:r>
            <a:r>
              <a:rPr/>
              <a:t>Card</a:t>
            </a:r>
            <a:r>
              <a:rPr/>
              <a:t> </a:t>
            </a:r>
            <a:r>
              <a:rPr/>
              <a:t>Catalog</a:t>
            </a:r>
            <a:r>
              <a:rPr/>
              <a:t> </a:t>
            </a:r>
            <a:r>
              <a:rPr/>
              <a:t>(RAG/Semantic</a:t>
            </a:r>
            <a:r>
              <a:rPr/>
              <a:t> </a:t>
            </a:r>
            <a:r>
              <a:rPr/>
              <a:t>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🗂️ </a:t>
            </a:r>
            <a:r>
              <a:rPr b="1"/>
              <a:t>The Analogy</a:t>
            </a:r>
            <a:r>
              <a:rPr/>
              <a:t>: Library where you can find any book by topic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RAG/Semantic Search</a:t>
            </a:r>
            <a:r>
              <a:rPr/>
              <a:t> (~40% token reduction) - Automatic context retrieval - Searches by meaning, not keywords - Finds relevant information on-demand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MARS claude-context MCP - You: “Where do we handle authentication?” - MARS searches codebase semantically - Retrieves relevant code sections automatically - No need to remember exact file paths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⏳ </a:t>
            </a:r>
            <a:r>
              <a:rPr b="1"/>
              <a:t>80% Complete</a:t>
            </a:r>
            <a:r>
              <a:rPr/>
              <a:t> (infrastructure ready, blocked by upstream bug)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Library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Cross-References</a:t>
            </a:r>
            <a:r>
              <a:rPr/>
              <a:t> </a:t>
            </a:r>
            <a:r>
              <a:rPr/>
              <a:t>(Knowledge</a:t>
            </a:r>
            <a:r>
              <a:rPr/>
              <a:t> </a:t>
            </a:r>
            <a:r>
              <a:rPr/>
              <a:t>Graphs)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📚 </a:t>
            </a:r>
            <a:r>
              <a:rPr b="1"/>
              <a:t>The Analogy</a:t>
            </a:r>
            <a:r>
              <a:rPr/>
              <a:t>: Library where books reference each other with annotations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Knowledge Graphs</a:t>
            </a:r>
            <a:r>
              <a:rPr/>
              <a:t> (Neo4j) - Relationship understanding - Traces paper → requirement → experiment → result - Cross-domain connection discovery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MARS Knowledge Graph - You: “Which paper inspired this design decision?” - MARS: “Paper A (2023) → Requirement B → Design C → Experiment D” - Preserves institutional knowledge - Survives researcher turnover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✅ </a:t>
            </a:r>
            <a:r>
              <a:rPr b="1"/>
              <a:t>Infrastructure Complete</a:t>
            </a:r>
            <a:r>
              <a:rPr/>
              <a:t> (agent integration pending)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University</a:t>
            </a:r>
            <a:r>
              <a:rPr/>
              <a:t> </a:t>
            </a:r>
            <a:r>
              <a:rPr/>
              <a:t>Library</a:t>
            </a:r>
            <a:r>
              <a:rPr/>
              <a:t> </a:t>
            </a:r>
            <a:r>
              <a:rPr/>
              <a:t>(OpenMemory)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🏫 </a:t>
            </a:r>
            <a:r>
              <a:rPr b="1"/>
              <a:t>The Analogy</a:t>
            </a:r>
            <a:r>
              <a:rPr/>
              <a:t>: University library that learns your research interests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OpenMemory architecture</a:t>
            </a:r>
            <a:r>
              <a:rPr/>
              <a:t> (5 memory sectors) - </a:t>
            </a:r>
            <a:r>
              <a:rPr b="1"/>
              <a:t>Conversation</a:t>
            </a:r>
            <a:r>
              <a:rPr/>
              <a:t>: What you just said - </a:t>
            </a:r>
            <a:r>
              <a:rPr b="1"/>
              <a:t>Session</a:t>
            </a:r>
            <a:r>
              <a:rPr/>
              <a:t>: This work session’s context - </a:t>
            </a:r>
            <a:r>
              <a:rPr b="1"/>
              <a:t>Episodic</a:t>
            </a:r>
            <a:r>
              <a:rPr/>
              <a:t>: Past project milestones - </a:t>
            </a:r>
            <a:r>
              <a:rPr b="1"/>
              <a:t>Entity</a:t>
            </a:r>
            <a:r>
              <a:rPr/>
              <a:t>: People, papers, concepts - </a:t>
            </a:r>
            <a:r>
              <a:rPr b="1"/>
              <a:t>Semantic</a:t>
            </a:r>
            <a:r>
              <a:rPr/>
              <a:t>: General knowledge learned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Multi-month research project - Remembers your research goals - Tracks ongoing experiments - Recalls past decisions and why - Learns your preferences over time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⏸️ </a:t>
            </a:r>
            <a:r>
              <a:rPr b="1"/>
              <a:t>Planned v1.5+</a:t>
            </a:r>
            <a:r>
              <a:rPr/>
              <a:t> (4-6 weeks implementation)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Library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Congress</a:t>
            </a:r>
            <a:r>
              <a:rPr/>
              <a:t> </a:t>
            </a:r>
            <a:r>
              <a:rPr/>
              <a:t>(Full</a:t>
            </a:r>
            <a:r>
              <a:rPr/>
              <a:t> </a:t>
            </a:r>
            <a:r>
              <a:rPr/>
              <a:t>Institutional</a:t>
            </a:r>
            <a:r>
              <a:rPr/>
              <a:t> </a:t>
            </a:r>
            <a:r>
              <a:rPr/>
              <a:t>Memory)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🏛️ </a:t>
            </a:r>
            <a:r>
              <a:rPr b="1"/>
              <a:t>The Analogy</a:t>
            </a:r>
            <a:r>
              <a:rPr/>
              <a:t>: National library preserving all institutional knowledge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Full institutional memory</a:t>
            </a:r>
            <a:r>
              <a:rPr/>
              <a:t> - Shared across all agents - Survives researcher turnover - Organization-wide knowledge base - Multi-year persistence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Research organization memory - New researcher joins team - MARS: “Your predecessor worked on X, here’s why approach Y failed” - Knowledge doesn’t walk out the door - 10-year institutional memory preserved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⏸️ </a:t>
            </a:r>
            <a:r>
              <a:rPr b="1"/>
              <a:t>Proposed v2.0+</a:t>
            </a:r>
            <a:r>
              <a:rPr/>
              <a:t> (Major architectural effort)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Memory</a:t>
            </a:r>
            <a:r>
              <a:rPr/>
              <a:t> </a:t>
            </a:r>
            <a:r>
              <a:rPr/>
              <a:t>Ladder: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</a:t>
            </a:r>
            <a:r>
              <a:rPr b="1"/>
              <a:t>Level 0-1</a:t>
            </a:r>
            <a:r>
              <a:rPr/>
              <a:t>: Forget everything (start over each time) - </a:t>
            </a:r>
            <a:r>
              <a:rPr b="1"/>
              <a:t>Level 2</a:t>
            </a:r>
            <a:r>
              <a:rPr/>
              <a:t>: Read the manual (consistent but static) - </a:t>
            </a:r>
            <a:r>
              <a:rPr b="1"/>
              <a:t>Level 3</a:t>
            </a:r>
            <a:r>
              <a:rPr/>
              <a:t>: Search efficiently (find what you need) - </a:t>
            </a:r>
            <a:r>
              <a:rPr b="1"/>
              <a:t>Level 4</a:t>
            </a:r>
            <a:r>
              <a:rPr/>
              <a:t>: Understand relationships (connect the dots) - </a:t>
            </a:r>
            <a:r>
              <a:rPr b="1"/>
              <a:t>Level 5</a:t>
            </a:r>
            <a:r>
              <a:rPr/>
              <a:t>: Learn over time (adapt to your work) - </a:t>
            </a:r>
            <a:r>
              <a:rPr b="1"/>
              <a:t>Level 6</a:t>
            </a:r>
            <a:r>
              <a:rPr/>
              <a:t>: Institutional memory (survive turnover)</a:t>
            </a:r>
          </a:p>
          <a:p>
            <a:pPr lvl="0" marL="0" indent="0">
              <a:buNone/>
            </a:pPr>
            <a:r>
              <a:rPr b="1"/>
              <a:t>MARS Today</a:t>
            </a:r>
            <a:r>
              <a:rPr/>
              <a:t>: Levels 2-4 operational (2-3-4 triangle) </a:t>
            </a:r>
            <a:r>
              <a:rPr b="1"/>
              <a:t>MARS v1.0</a:t>
            </a:r>
            <a:r>
              <a:rPr/>
              <a:t>: Level 3 fully operational (40% token reduction) </a:t>
            </a:r>
            <a:r>
              <a:rPr b="1"/>
              <a:t>MARS v1.5+</a:t>
            </a:r>
            <a:r>
              <a:rPr/>
              <a:t>: Level 5 (adaptive learning) </a:t>
            </a:r>
            <a:r>
              <a:rPr b="1"/>
              <a:t>MARS v2.0+</a:t>
            </a:r>
            <a:r>
              <a:rPr/>
              <a:t>: Level 6 (institutional memory)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Definition</a:t>
            </a:r>
            <a:r>
              <a:rPr/>
              <a:t>: LLM + Tool Use + Multi-Step Planning</a:t>
            </a:r>
          </a:p>
          <a:p>
            <a:pPr lvl="0" marL="0" indent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LLM (Chat)</a:t>
            </a:r>
            <a:r>
              <a:rPr/>
              <a:t> = Consultant (advises, leaves) - </a:t>
            </a:r>
            <a:r>
              <a:rPr b="1"/>
              <a:t>AI Agent</a:t>
            </a:r>
            <a:r>
              <a:rPr/>
              <a:t> = Postdoc (executes, works autonomously)</a:t>
            </a:r>
          </a:p>
          <a:p>
            <a:pPr lvl="0" marL="0" indent="0">
              <a:buNone/>
            </a:pPr>
            <a:r>
              <a:rPr b="1"/>
              <a:t>What Agents Do</a:t>
            </a:r>
            <a:r>
              <a:rPr/>
              <a:t>: - Read/write files - Execute code, run tests - Query databases - Multi-step planning - Autonomous work (hours)</a:t>
            </a:r>
          </a:p>
          <a:p>
            <a:pPr lvl="0" marL="0" indent="0">
              <a:buNone/>
            </a:pPr>
            <a:r>
              <a:rPr b="1"/>
              <a:t>Why Level 2</a:t>
            </a:r>
            <a:r>
              <a:rPr/>
              <a:t>: Autonomous execution, tool integration, error recovery, but one task at a time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Model Context Protocol</a:t>
            </a:r>
            <a:r>
              <a:rPr/>
              <a:t> = USB for AI agents</a:t>
            </a:r>
          </a:p>
          <a:p>
            <a:pPr lvl="0" marL="0" indent="0">
              <a:buNone/>
            </a:pPr>
            <a:r>
              <a:rPr b="1"/>
              <a:t>Before MCP</a:t>
            </a:r>
            <a:r>
              <a:rPr/>
              <a:t>: Custom integration = </a:t>
            </a:r>
            <a:r>
              <a:rPr b="1"/>
              <a:t>40-80 hours</a:t>
            </a:r>
            <a:r>
              <a:rPr/>
              <a:t> </a:t>
            </a:r>
            <a:r>
              <a:rPr b="1"/>
              <a:t>After MCP</a:t>
            </a:r>
            <a:r>
              <a:rPr/>
              <a:t>: MCP server = </a:t>
            </a:r>
            <a:r>
              <a:rPr b="1"/>
              <a:t>&lt;1 hour</a:t>
            </a:r>
          </a:p>
          <a:p>
            <a:pPr lvl="0" marL="0" indent="0">
              <a:buNone/>
            </a:pPr>
            <a:r>
              <a:rPr b="1"/>
              <a:t>Value</a:t>
            </a:r>
            <a:r>
              <a:rPr/>
              <a:t>: - Ecosystem, not custom - No vendor lock-in - Open standard</a:t>
            </a:r>
          </a:p>
          <a:p>
            <a:pPr lvl="0" marL="0" indent="0">
              <a:buNone/>
            </a:pPr>
            <a:r>
              <a:rPr b="1"/>
              <a:t>MARS MCP Servers</a:t>
            </a:r>
            <a:r>
              <a:rPr/>
              <a:t>: - ✅ Zotero (lit mgmt) - Operational - ✅ GitLab (79+ tools) - Operational - ⏸️ </a:t>
            </a:r>
            <a:r>
              <a:rPr b="1"/>
              <a:t>50+ planned</a:t>
            </a:r>
            <a:r>
              <a:rPr/>
              <a:t>: ROS2, SLURM, Overleaf, LabView, MATLAB, SolidWorks, eLabFTW, PubMed, IEEE, arXiv, Benchling, etc.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Definition</a:t>
            </a:r>
            <a:r>
              <a:rPr/>
              <a:t>: Automated coordination of specialized AI agents</a:t>
            </a:r>
          </a:p>
          <a:p>
            <a:pPr lvl="0" marL="0" indent="0">
              <a:buNone/>
            </a:pPr>
            <a:r>
              <a:rPr b="1"/>
              <a:t>Lab Analogy</a:t>
            </a:r>
            <a:r>
              <a:rPr/>
              <a:t>: - </a:t>
            </a:r>
            <a:r>
              <a:rPr b="1"/>
              <a:t>Manual</a:t>
            </a:r>
            <a:r>
              <a:rPr/>
              <a:t>: You coordinate (</a:t>
            </a:r>
            <a:r>
              <a:rPr b="1"/>
              <a:t>3-4 hrs/day</a:t>
            </a:r>
            <a:r>
              <a:rPr/>
              <a:t>) - </a:t>
            </a:r>
            <a:r>
              <a:rPr b="1"/>
              <a:t>Automated</a:t>
            </a:r>
            <a:r>
              <a:rPr/>
              <a:t>: AI coordinator (</a:t>
            </a:r>
            <a:r>
              <a:rPr b="1"/>
              <a:t>30 min/day</a:t>
            </a:r>
            <a:r>
              <a:rPr/>
              <a:t>)</a:t>
            </a:r>
          </a:p>
          <a:p>
            <a:pPr lvl="0" marL="0" indent="0">
              <a:buNone/>
            </a:pPr>
            <a:r>
              <a:rPr b="1"/>
              <a:t>LangGraph Process</a:t>
            </a:r>
            <a:r>
              <a:rPr/>
              <a:t>: 1. Decompose → subtasks 2. Assign to agents 3. Route information 4. Synthesize outputs 5. Escalate decisions</a:t>
            </a:r>
          </a:p>
          <a:p>
            <a:pPr lvl="0" marL="0" indent="0">
              <a:buNone/>
            </a:pPr>
            <a:r>
              <a:rPr b="1"/>
              <a:t>Result</a:t>
            </a:r>
            <a:r>
              <a:rPr/>
              <a:t>: Human = strategy, orchestrator = tactics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Teams</a:t>
            </a:r>
            <a:r>
              <a:rPr/>
              <a:t> </a:t>
            </a:r>
            <a:r>
              <a:rPr/>
              <a:t>Beat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Specialization</a:t>
            </a:r>
            <a:r>
              <a:rPr/>
              <a:t>: - Single = Generalist (context switching, errors) - Team = Specialists (focused, quality)</a:t>
            </a:r>
          </a:p>
          <a:p>
            <a:pPr lvl="0" marL="0" indent="0">
              <a:buNone/>
            </a:pPr>
            <a:r>
              <a:rPr b="1"/>
              <a:t>Agent Profiles</a:t>
            </a:r>
            <a:r>
              <a:rPr/>
              <a:t>: - </a:t>
            </a:r>
            <a:r>
              <a:rPr b="1"/>
              <a:t>test-czar</a:t>
            </a:r>
            <a:r>
              <a:rPr/>
              <a:t>: Skeptical (finds edge cases) - </a:t>
            </a:r>
            <a:r>
              <a:rPr b="1"/>
              <a:t>planner</a:t>
            </a:r>
            <a:r>
              <a:rPr/>
              <a:t>: Pragmatic (feasibility) - </a:t>
            </a:r>
            <a:r>
              <a:rPr b="1"/>
              <a:t>research-orchestrator</a:t>
            </a:r>
            <a:r>
              <a:rPr/>
              <a:t>: Optimistic (breakthroughs) - </a:t>
            </a:r>
            <a:r>
              <a:rPr b="1"/>
              <a:t>doc-enforcer</a:t>
            </a:r>
            <a:r>
              <a:rPr/>
              <a:t>: Pedantic (publication quality)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: McKinsey </a:t>
            </a:r>
            <a:r>
              <a:rPr b="1"/>
              <a:t>30-40% gains</a:t>
            </a:r>
            <a:r>
              <a:rPr/>
              <a:t> beyond single-agent</a:t>
            </a:r>
          </a:p>
          <a:p>
            <a:pPr lvl="0" marL="0" indent="0">
              <a:buNone/>
            </a:pPr>
            <a:r>
              <a:rPr b="1"/>
              <a:t>Mechanism</a:t>
            </a:r>
            <a:r>
              <a:rPr/>
              <a:t>: 1. Specialization: +20-30% 2. Parallelization: +25-35% 3. Coordination: +25-40% 4. </a:t>
            </a:r>
            <a:r>
              <a:rPr b="1"/>
              <a:t>Compounding</a:t>
            </a:r>
            <a:r>
              <a:rPr/>
              <a:t>: Multiplicative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4: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Opportunity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Become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“</a:t>
            </a:r>
            <a:r>
              <a:rPr/>
              <a:t>Starship</a:t>
            </a:r>
            <a:r>
              <a:rPr/>
              <a:t> </a:t>
            </a:r>
            <a:r>
              <a:rPr/>
              <a:t>Enterprise</a:t>
            </a:r>
            <a:r>
              <a:rPr/>
              <a:t>”</a:t>
            </a:r>
            <a:r>
              <a:rPr/>
              <a:t> </a:t>
            </a:r>
            <a:r>
              <a:rPr/>
              <a:t>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Current State</a:t>
            </a:r>
            <a:r>
              <a:rPr/>
              <a:t> (Corvette → F1): - ❌ Occasional ChatGPT use - ❌ Some early adopter agents - ❌ No strategy - ❌ No infrastructure</a:t>
            </a:r>
          </a:p>
          <a:p>
            <a:pPr lvl="0" marL="0" indent="0">
              <a:buNone/>
            </a:pPr>
            <a:r>
              <a:rPr b="1"/>
              <a:t>Where We Could Be</a:t>
            </a:r>
            <a:r>
              <a:rPr/>
              <a:t> (12 mo): - ✅ Every group has orchestrated AI - ✅ Literature automated (90%+) - ✅ Experiment design AI-augmented - ✅ Publication </a:t>
            </a:r>
            <a:r>
              <a:rPr b="1"/>
              <a:t>3-5× baseline</a:t>
            </a:r>
            <a:r>
              <a:rPr/>
              <a:t> - ✅ Competitive moat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Daily</a:t>
            </a:r>
            <a:r>
              <a:rPr/>
              <a:t> </a:t>
            </a:r>
            <a:r>
              <a:rPr/>
              <a:t>Workflow</a:t>
            </a:r>
            <a:r>
              <a:rPr/>
              <a:t> </a:t>
            </a:r>
            <a:r>
              <a:rPr/>
              <a:t>Vision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Human</a:t>
                      </a:r>
                      <a:r>
                        <a:rPr/>
                        <a:t> </a:t>
                      </a: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Morning</a:t>
                      </a:r>
                      <a:r>
                        <a:rPr/>
                        <a:t> </a:t>
                      </a:r>
                      <a:r>
                        <a:rPr/>
                        <a:t>(15</a:t>
                      </a:r>
                      <a:r>
                        <a:rPr/>
                        <a:t> </a:t>
                      </a:r>
                      <a:r>
                        <a:rPr/>
                        <a:t>min)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Literature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Review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approve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1,500+</a:t>
                      </a:r>
                      <a:r>
                        <a:rPr/>
                        <a:t> </a:t>
                      </a:r>
                      <a:r>
                        <a:rPr/>
                        <a:t>papers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10-15</a:t>
                      </a:r>
                      <a:r>
                        <a:rPr/>
                        <a:t> </a:t>
                      </a:r>
                      <a:r>
                        <a:rPr/>
                        <a:t>relevant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Mid-day</a:t>
                      </a:r>
                      <a:r>
                        <a:rPr/>
                        <a:t> </a:t>
                      </a:r>
                      <a:r>
                        <a:rPr/>
                        <a:t>(4-6</a:t>
                      </a:r>
                      <a:r>
                        <a:rPr/>
                        <a:t> </a:t>
                      </a:r>
                      <a:r>
                        <a:rPr/>
                        <a:t>hrs)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High-value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Design,</a:t>
                      </a:r>
                      <a:r>
                        <a:rPr/>
                        <a:t> </a:t>
                      </a:r>
                      <a:r>
                        <a:rPr/>
                        <a:t>interpret,</a:t>
                      </a:r>
                      <a:r>
                        <a:rPr/>
                        <a:t> </a:t>
                      </a:r>
                      <a:r>
                        <a:rPr/>
                        <a:t>write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Code,</a:t>
                      </a:r>
                      <a:r>
                        <a:rPr/>
                        <a:t> </a:t>
                      </a:r>
                      <a:r>
                        <a:rPr/>
                        <a:t>lit,</a:t>
                      </a:r>
                      <a:r>
                        <a:rPr/>
                        <a:t> </a:t>
                      </a:r>
                      <a:r>
                        <a:rPr/>
                        <a:t>data,</a:t>
                      </a:r>
                      <a:r>
                        <a:rPr/>
                        <a:t> </a:t>
                      </a:r>
                      <a:r>
                        <a:rPr/>
                        <a:t>docs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Afternoon</a:t>
                      </a:r>
                      <a:r>
                        <a:rPr/>
                        <a:t> </a:t>
                      </a:r>
                      <a:r>
                        <a:rPr/>
                        <a:t>(2-3</a:t>
                      </a:r>
                      <a:r>
                        <a:rPr/>
                        <a:t> </a:t>
                      </a:r>
                      <a:r>
                        <a:rPr/>
                        <a:t>hrs)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Collaboration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Meetings,</a:t>
                      </a:r>
                      <a:r>
                        <a:rPr/>
                        <a:t> </a:t>
                      </a:r>
                      <a:r>
                        <a:rPr/>
                        <a:t>synthesis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Agent</a:t>
                      </a:r>
                      <a:r>
                        <a:rPr/>
                        <a:t> </a:t>
                      </a:r>
                      <a:r>
                        <a:rPr/>
                        <a:t>output</a:t>
                      </a:r>
                      <a:r>
                        <a:rPr/>
                        <a:t> </a:t>
                      </a:r>
                      <a:r>
                        <a:rPr/>
                        <a:t>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Evening</a:t>
                      </a:r>
                      <a:r>
                        <a:rPr/>
                        <a:t> </a:t>
                      </a:r>
                      <a:r>
                        <a:rPr/>
                        <a:t>(auto)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None</a:t>
                      </a:r>
                      <a:r>
                        <a:rPr/>
                        <a:t> </a:t>
                      </a:r>
                      <a:r>
                        <a:rPr/>
                        <a:t>(sleeping)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Lit</a:t>
                      </a:r>
                      <a:r>
                        <a:rPr/>
                        <a:t> </a:t>
                      </a:r>
                      <a:r>
                        <a:rPr/>
                        <a:t>scrubbing,</a:t>
                      </a:r>
                      <a:r>
                        <a:rPr/>
                        <a:t> </a:t>
                      </a:r>
                      <a:r>
                        <a:rPr/>
                        <a:t>sims,</a:t>
                      </a:r>
                      <a:r>
                        <a:rPr/>
                        <a:t> </a:t>
                      </a:r>
                      <a:r>
                        <a:rPr/>
                        <a:t>backups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Time Shift</a:t>
            </a:r>
            <a:r>
              <a:rPr/>
              <a:t>: </a:t>
            </a:r>
            <a:r>
              <a:rPr b="1"/>
              <a:t>30% → 75%</a:t>
            </a:r>
            <a:r>
              <a:rPr/>
              <a:t> on breakthrough work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Competitive</a:t>
            </a:r>
            <a:r>
              <a:rPr/>
              <a:t> </a:t>
            </a:r>
            <a:r>
              <a:rPr/>
              <a:t>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WITH Orchestrated AI</a:t>
            </a:r>
            <a:r>
              <a:rPr/>
              <a:t>: - More literature (</a:t>
            </a:r>
            <a:r>
              <a:rPr b="1"/>
              <a:t>90% vs. 5%</a:t>
            </a:r>
            <a:r>
              <a:rPr/>
              <a:t>) - Faster publication (</a:t>
            </a:r>
            <a:r>
              <a:rPr b="1"/>
              <a:t>3-5×</a:t>
            </a:r>
            <a:r>
              <a:rPr/>
              <a:t>) - Higher quality proposals</a:t>
            </a:r>
          </a:p>
          <a:p>
            <a:pPr lvl="0" marL="0" indent="0">
              <a:buNone/>
            </a:pPr>
            <a:r>
              <a:rPr b="1"/>
              <a:t>WITHOUT</a:t>
            </a:r>
            <a:r>
              <a:rPr/>
              <a:t>: - Declining grant success - Talent drain - Slower breakthroughs</a:t>
            </a:r>
          </a:p>
          <a:p>
            <a:pPr lvl="0" marL="0" indent="0">
              <a:buNone/>
            </a:pPr>
            <a:r>
              <a:rPr b="1"/>
              <a:t>Context</a:t>
            </a:r>
            <a:r>
              <a:rPr/>
              <a:t>: Compete against </a:t>
            </a:r>
            <a:r>
              <a:rPr b="1"/>
              <a:t>5-10× our headcount</a:t>
            </a:r>
            <a:r>
              <a:rPr/>
              <a:t> </a:t>
            </a:r>
            <a:r>
              <a:rPr b="1"/>
              <a:t>Solution</a:t>
            </a:r>
            <a:r>
              <a:rPr/>
              <a:t>: </a:t>
            </a:r>
            <a:r>
              <a:rPr b="1"/>
              <a:t>Force multiplication</a:t>
            </a:r>
            <a:r>
              <a:rPr/>
              <a:t> via orchestrated AI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Accelerating</a:t>
            </a:r>
            <a:r>
              <a:rPr/>
              <a:t> </a:t>
            </a:r>
            <a:r>
              <a:rPr/>
              <a:t>Breakthroughs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Cross-Domain Synthesis</a:t>
            </a:r>
            <a:r>
              <a:rPr/>
              <a:t> - Monitor multiple domains - Identify unexpected connections - Example: ML method → materials sim</a:t>
            </a:r>
          </a:p>
          <a:p>
            <a:pPr lvl="0" marL="0" indent="0">
              <a:buNone/>
            </a:pPr>
            <a:r>
              <a:rPr b="1"/>
              <a:t>2. Non-Obvious Patterns</a:t>
            </a:r>
            <a:r>
              <a:rPr/>
              <a:t> - Analyze 1,500+ papers/day - Detect statistical trends - Example: “Method B citations +300%”</a:t>
            </a:r>
          </a:p>
          <a:p>
            <a:pPr lvl="0" marL="0" indent="0">
              <a:buNone/>
            </a:pPr>
            <a:r>
              <a:rPr b="1"/>
              <a:t>3. Rapid Prototyping</a:t>
            </a:r>
            <a:r>
              <a:rPr/>
              <a:t> - Test 10× more hypotheses/year - Proof-of-concept in days - Fail fast, pivot quickly</a:t>
            </a:r>
          </a:p>
          <a:p>
            <a:pPr lvl="0" marL="0" indent="0">
              <a:buNone/>
            </a:pPr>
            <a:r>
              <a:rPr b="1"/>
              <a:t>4. Avoiding Dead-Ends</a:t>
            </a:r>
            <a:r>
              <a:rPr/>
              <a:t> - Comprehensive prior work - Identify showstoppers BEFORE 6-month investment - Example: “Parameter X causes instability”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5: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Prototype</a:t>
            </a:r>
            <a:r>
              <a:rPr/>
              <a:t> </a:t>
            </a:r>
            <a:r>
              <a:rPr/>
              <a:t>Solution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I’ve</a:t>
            </a:r>
            <a:r>
              <a:rPr/>
              <a:t> </a:t>
            </a:r>
            <a:r>
              <a:rPr/>
              <a:t>Been</a:t>
            </a:r>
            <a:r>
              <a:rPr/>
              <a:t> </a:t>
            </a:r>
            <a:r>
              <a:rPr/>
              <a:t>Preparing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Who I Am</a:t>
            </a:r>
            <a:r>
              <a:rPr/>
              <a:t>: Intelligent autonomous systems researcher</a:t>
            </a:r>
          </a:p>
          <a:p>
            <a:pPr lvl="0" marL="0" indent="0">
              <a:buNone/>
            </a:pPr>
            <a:r>
              <a:rPr b="1"/>
              <a:t>“Sharpening the Saw”</a:t>
            </a:r>
            <a:r>
              <a:rPr/>
              <a:t>: - Literature Review: 40% - Documentation: 30% - </a:t>
            </a:r>
            <a:r>
              <a:rPr b="1"/>
              <a:t>Actual Research: 20%</a:t>
            </a:r>
            <a:r>
              <a:rPr/>
              <a:t> - Writing: 10%</a:t>
            </a:r>
          </a:p>
          <a:p>
            <a:pPr lvl="0" marL="0" indent="0">
              <a:buNone/>
            </a:pPr>
            <a:r>
              <a:rPr b="1"/>
              <a:t>This was backwards.</a:t>
            </a:r>
          </a:p>
          <a:p>
            <a:pPr lvl="0" marL="0" indent="0">
              <a:buNone/>
            </a:pPr>
            <a:r>
              <a:rPr b="1"/>
              <a:t>Decision</a:t>
            </a:r>
            <a:r>
              <a:rPr/>
              <a:t>: Build research-first platform</a:t>
            </a:r>
          </a:p>
          <a:p>
            <a:pPr lvl="0" marL="0" indent="0">
              <a:buNone/>
            </a:pPr>
            <a:r>
              <a:rPr b="1"/>
              <a:t>Timeline</a:t>
            </a:r>
            <a:r>
              <a:rPr/>
              <a:t>: - August 2025: Started (self-funded) - Sep-Nov 2025: Intensive dev - </a:t>
            </a:r>
            <a:r>
              <a:rPr b="1"/>
              <a:t>Current</a:t>
            </a:r>
            <a:r>
              <a:rPr/>
              <a:t>: Foundation complete</a:t>
            </a:r>
          </a:p>
          <a:p>
            <a:pPr lvl="0" marL="0" indent="0">
              <a:buNone/>
            </a:pPr>
            <a:r>
              <a:rPr b="1"/>
              <a:t>Investment</a:t>
            </a:r>
            <a:r>
              <a:rPr/>
              <a:t>: ~800-1,000 hours over 3-4 months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MARS?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Modular Agentic Research System</a:t>
            </a:r>
            <a:r>
              <a:rPr/>
              <a:t> = OS for AI-accelerated R&amp;D</a:t>
            </a:r>
          </a:p>
          <a:p>
            <a:pPr lvl="0" marL="0" indent="0">
              <a:buNone/>
            </a:pPr>
            <a:r>
              <a:rPr b="1"/>
              <a:t>Components</a:t>
            </a:r>
            <a:r>
              <a:rPr/>
              <a:t>: 1. </a:t>
            </a:r>
            <a:r>
              <a:rPr b="1"/>
              <a:t>Foundation</a:t>
            </a:r>
            <a:r>
              <a:rPr/>
              <a:t>: Docker, Neo4j, Milvus, MLflow 2. </a:t>
            </a:r>
            <a:r>
              <a:rPr b="1"/>
              <a:t>AI Integration</a:t>
            </a:r>
            <a:r>
              <a:rPr/>
              <a:t>: LiteLLM, Ollama 3. </a:t>
            </a:r>
            <a:r>
              <a:rPr b="1"/>
              <a:t>Research Tools</a:t>
            </a:r>
            <a:r>
              <a:rPr/>
              <a:t>: Zotero, GitLab, PlantUML/SysML</a:t>
            </a:r>
          </a:p>
          <a:p>
            <a:pPr lvl="1">
              <a:buAutoNum startAt="4" type="arabicPeriod"/>
            </a:pPr>
            <a:r>
              <a:rPr b="1"/>
              <a:t>Agents</a:t>
            </a:r>
            <a:r>
              <a:rPr/>
              <a:t>: DocCzar, TestCzar, KG, orchestrator</a:t>
            </a:r>
          </a:p>
          <a:p>
            <a:pPr lvl="1">
              <a:buAutoNum startAt="4" type="arabicPeriod"/>
            </a:pPr>
            <a:r>
              <a:rPr b="1"/>
              <a:t>Orchestration</a:t>
            </a:r>
            <a:r>
              <a:rPr/>
              <a:t>: LangGraph foundation</a:t>
            </a:r>
          </a:p>
          <a:p>
            <a:pPr lvl="0" marL="0" indent="0">
              <a:buNone/>
            </a:pPr>
            <a:r>
              <a:rPr b="1"/>
              <a:t>Why Self-Hosted</a:t>
            </a:r>
            <a:r>
              <a:rPr/>
              <a:t>: - Data privacy (never leaves network) - Air-gap capable - No vendor lock-in - Cost control, customization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8-Pillar</a:t>
            </a:r>
            <a:r>
              <a:rPr/>
              <a:t> </a:t>
            </a:r>
            <a:r>
              <a:rPr/>
              <a:t>Foundation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Why</a:t>
                      </a:r>
                      <a:r>
                        <a:rPr/>
                        <a:t> </a:t>
                      </a:r>
                      <a:r>
                        <a:rPr/>
                        <a:t>Critical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P1:</a:t>
                      </a:r>
                      <a:r>
                        <a:rPr b="1"/>
                        <a:t> </a:t>
                      </a:r>
                      <a:r>
                        <a:rPr b="1"/>
                        <a:t>Modularity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“</a:t>
                      </a:r>
                      <a:r>
                        <a:rPr/>
                        <a:t>Hotel</a:t>
                      </a:r>
                      <a:r>
                        <a:rPr/>
                        <a:t> </a:t>
                      </a:r>
                      <a:r>
                        <a:rPr/>
                        <a:t>rooms</a:t>
                      </a:r>
                      <a:r>
                        <a:rPr/>
                        <a:t>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Add</a:t>
                      </a:r>
                      <a:r>
                        <a:rPr/>
                        <a:t> </a:t>
                      </a:r>
                      <a:r>
                        <a:rPr/>
                        <a:t>in</a:t>
                      </a:r>
                      <a:r>
                        <a:rPr/>
                        <a:t> </a:t>
                      </a:r>
                      <a:r>
                        <a:rPr/>
                        <a:t>3-7</a:t>
                      </a:r>
                      <a:r>
                        <a:rPr/>
                        <a:t> </a:t>
                      </a:r>
                      <a:r>
                        <a:rPr/>
                        <a:t>weeks</a:t>
                      </a:r>
                      <a:r>
                        <a:rPr/>
                        <a:t> </a:t>
                      </a:r>
                      <a:r>
                        <a:rPr/>
                        <a:t>(not</a:t>
                      </a:r>
                      <a:r>
                        <a:rPr/>
                        <a:t> </a:t>
                      </a:r>
                      <a:r>
                        <a:rPr/>
                        <a:t>6-12</a:t>
                      </a:r>
                      <a:r>
                        <a:rPr/>
                        <a:t> </a:t>
                      </a:r>
                      <a:r>
                        <a:rPr/>
                        <a:t>mo)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P2:</a:t>
                      </a:r>
                      <a:r>
                        <a:rPr b="1"/>
                        <a:t> </a:t>
                      </a: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Sysbox,</a:t>
                      </a:r>
                      <a:r>
                        <a:rPr/>
                        <a:t> </a:t>
                      </a:r>
                      <a:r>
                        <a:rPr/>
                        <a:t>DoD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Classified-capable,</a:t>
                      </a:r>
                      <a:r>
                        <a:rPr/>
                        <a:t> </a:t>
                      </a:r>
                      <a:r>
                        <a:rPr/>
                        <a:t>air-gap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P3:</a:t>
                      </a:r>
                      <a:r>
                        <a:rPr b="1"/>
                        <a:t> </a:t>
                      </a:r>
                      <a:r>
                        <a:rPr b="1"/>
                        <a:t>Memory</a:t>
                      </a:r>
                      <a:r>
                        <a:rPr/>
                        <a:t> </a:t>
                      </a:r>
                      <a:r>
                        <a:rPr/>
                        <a:t>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KG,</a:t>
                      </a:r>
                      <a:r>
                        <a:rPr/>
                        <a:t> </a:t>
                      </a:r>
                      <a:r>
                        <a:rPr/>
                        <a:t>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MOST</a:t>
                      </a:r>
                      <a:r>
                        <a:rPr b="1"/>
                        <a:t> </a:t>
                      </a:r>
                      <a:r>
                        <a:rPr b="1"/>
                        <a:t>IMPORTANT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40%</a:t>
                      </a:r>
                      <a:r>
                        <a:rPr/>
                        <a:t> </a:t>
                      </a:r>
                      <a:r>
                        <a:rPr/>
                        <a:t>tokens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P4:</a:t>
                      </a:r>
                      <a:r>
                        <a:rPr b="1"/>
                        <a:t> </a:t>
                      </a:r>
                      <a:r>
                        <a:rPr b="1"/>
                        <a:t>Observability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Provenance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traceability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P5:</a:t>
                      </a:r>
                      <a:r>
                        <a:rPr b="1"/>
                        <a:t> </a:t>
                      </a:r>
                      <a:r>
                        <a:rPr b="1"/>
                        <a:t>Reproducibility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Containerized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Experiment</a:t>
                      </a:r>
                      <a:r>
                        <a:rPr/>
                        <a:t> </a:t>
                      </a:r>
                      <a:r>
                        <a:rPr/>
                        <a:t>replay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P6:</a:t>
                      </a:r>
                      <a:r>
                        <a:rPr b="1"/>
                        <a:t> </a:t>
                      </a:r>
                      <a:r>
                        <a:rPr b="1"/>
                        <a:t>Human-AI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Approval</a:t>
                      </a:r>
                      <a:r>
                        <a:rPr/>
                        <a:t> </a:t>
                      </a:r>
                      <a:r>
                        <a:rPr/>
                        <a:t>gates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Safety,</a:t>
                      </a:r>
                      <a:r>
                        <a:rPr/>
                        <a:t> </a:t>
                      </a:r>
                      <a:r>
                        <a:rPr/>
                        <a:t>trust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P7:</a:t>
                      </a:r>
                      <a:r>
                        <a:rPr b="1"/>
                        <a:t> </a:t>
                      </a: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  <a:r>
                        <a:rPr/>
                        <a:t> </a:t>
                      </a:r>
                      <a:r>
                        <a:rPr/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Classified</a:t>
                      </a:r>
                      <a:r>
                        <a:rPr/>
                        <a:t> </a:t>
                      </a:r>
                      <a:r>
                        <a:rPr/>
                        <a:t>networks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P8:</a:t>
                      </a:r>
                      <a:r>
                        <a:rPr b="1"/>
                        <a:t> </a:t>
                      </a:r>
                      <a:r>
                        <a:rPr b="1"/>
                        <a:t>Open</a:t>
                      </a:r>
                      <a:r>
                        <a:rPr b="1"/>
                        <a:t> </a:t>
                      </a:r>
                      <a:r>
                        <a:rPr b="1"/>
                        <a:t>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MCP,</a:t>
                      </a:r>
                      <a:r>
                        <a:rPr/>
                        <a:t> </a:t>
                      </a:r>
                      <a:r>
                        <a:rPr/>
                        <a:t>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lock-in,</a:t>
                      </a:r>
                      <a:r>
                        <a:rPr/>
                        <a:t> </a:t>
                      </a:r>
                      <a:r>
                        <a:rPr/>
                        <a:t>ecosystem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P3 is Key</a:t>
            </a:r>
            <a:r>
              <a:rPr/>
              <a:t>: Without memory = tools. With memory = research accelerators.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Architecture</a:t>
            </a:r>
          </a:p>
        </p:txBody>
      </p:sp>
      <p:pic>
        <p:nvPicPr>
          <p:cNvPr descr="diagrams/png/mars-rt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050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Runtime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Faces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has two distinct instantiations with different purposes: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mars-dev (The Workshop)</a:t>
            </a:r>
            <a:r>
              <a:rPr/>
              <a:t> - 🔧 </a:t>
            </a:r>
            <a:r>
              <a:rPr b="1"/>
              <a:t>Purpose</a:t>
            </a:r>
            <a:r>
              <a:rPr/>
              <a:t>: Tools for building MARS itself - 🏗️ </a:t>
            </a:r>
            <a:r>
              <a:rPr b="1"/>
              <a:t>Users</a:t>
            </a:r>
            <a:r>
              <a:rPr/>
              <a:t>: MARS developers (me) - 📦 </a:t>
            </a:r>
            <a:r>
              <a:rPr b="1"/>
              <a:t>Contains</a:t>
            </a:r>
            <a:r>
              <a:rPr/>
              <a:t>: Development infrastructure - Parallel orchestration (E8) - Session management - Pre-commit hooks - Testing infrastructure - Development CLIs - 📍 </a:t>
            </a:r>
            <a:r>
              <a:rPr b="1"/>
              <a:t>Location</a:t>
            </a:r>
            <a:r>
              <a:rPr/>
              <a:t>: </a:t>
            </a:r>
            <a:r>
              <a:rPr>
                <a:latin typeface="Courier"/>
              </a:rPr>
              <a:t>mars-dev/</a:t>
            </a:r>
            <a:r>
              <a:rPr/>
              <a:t> directory - 🎯 </a:t>
            </a:r>
            <a:r>
              <a:rPr b="1"/>
              <a:t>Goal</a:t>
            </a:r>
            <a:r>
              <a:rPr/>
              <a:t>: Make MARS better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research-project (The Product)</a:t>
            </a:r>
            <a:r>
              <a:rPr/>
              <a:t> - 🔬 </a:t>
            </a:r>
            <a:r>
              <a:rPr b="1"/>
              <a:t>Purpose</a:t>
            </a:r>
            <a:r>
              <a:rPr/>
              <a:t>: Using MARS for research - 👨‍🔬 </a:t>
            </a:r>
            <a:r>
              <a:rPr b="1"/>
              <a:t>Users</a:t>
            </a:r>
            <a:r>
              <a:rPr/>
              <a:t>: Research teams (you) - 📦 </a:t>
            </a:r>
            <a:r>
              <a:rPr b="1"/>
              <a:t>Contains</a:t>
            </a:r>
            <a:r>
              <a:rPr/>
              <a:t>: MARS as submodule + your work - MARS framework (read-only) - Research algorithms - Experiment scripts - Data and results - 📍 </a:t>
            </a:r>
            <a:r>
              <a:rPr b="1"/>
              <a:t>Location</a:t>
            </a:r>
            <a:r>
              <a:rPr/>
              <a:t>: Your repository - 🎯 </a:t>
            </a:r>
            <a:r>
              <a:rPr b="1"/>
              <a:t>Goal</a:t>
            </a:r>
            <a:r>
              <a:rPr/>
              <a:t>: Accelerate your research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 Distinction</a:t>
            </a:r>
            <a:r>
              <a:rPr/>
              <a:t>: mars-dev builds MARS, research-project uses MARS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Research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How you’ll use MARS:</a:t>
            </a:r>
          </a:p>
          <a:p>
            <a:pPr lvl="0" indent="0">
              <a:buNone/>
            </a:pPr>
            <a:r>
              <a:rPr>
                <a:latin typeface="Courier"/>
              </a:rPr>
              <a:t>your-research-project/           # Your repository
├── .mars/                       # MARS configuration overrides
│   ├── config/                  # Project-specific settings
│   └── docker-compose.override.yml  # Customize services
├── src/
│   ├── framework/               # MARS submodule (read-only)
│   └── algorithms/              # Your research code
├── data/                        # Your research data
├── results/                     # Your experiment results
├── notebooks/                   # Your Jupyter notebooks
├── scripts/                     # Your analysis scripts
└── README.md                    # Your documentation</a:t>
            </a:r>
          </a:p>
          <a:p>
            <a:pPr lvl="0" marL="0" indent="0">
              <a:buNone/>
            </a:pPr>
            <a:r>
              <a:rPr b="1"/>
              <a:t>Critical Principle</a:t>
            </a:r>
            <a:r>
              <a:rPr/>
              <a:t>: MARS framework is read-only. All customization goes in </a:t>
            </a:r>
            <a:r>
              <a:rPr>
                <a:latin typeface="Courier"/>
              </a:rPr>
              <a:t>.mars/</a:t>
            </a:r>
            <a:r>
              <a:rPr/>
              <a:t> directory.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Configuration: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vs. Your</a:t>
            </a:r>
            <a:r>
              <a:rPr/>
              <a:t> </a:t>
            </a:r>
            <a:r>
              <a:rPr/>
              <a:t>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Two separate configuration mechanisms: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mars-dev Configuration</a:t>
            </a:r>
            <a:r>
              <a:rPr/>
              <a:t> - 🔧 </a:t>
            </a:r>
            <a:r>
              <a:rPr b="1"/>
              <a:t>For</a:t>
            </a:r>
            <a:r>
              <a:rPr/>
              <a:t>: Building MARS - 📂 </a:t>
            </a:r>
            <a:r>
              <a:rPr b="1"/>
              <a:t>Location</a:t>
            </a:r>
            <a:r>
              <a:rPr/>
              <a:t>: </a:t>
            </a:r>
            <a:r>
              <a:rPr>
                <a:latin typeface="Courier"/>
              </a:rPr>
              <a:t>mars-dev/</a:t>
            </a:r>
            <a:r>
              <a:rPr/>
              <a:t> internal files - ⚙️ </a:t>
            </a:r>
            <a:r>
              <a:rPr b="1"/>
              <a:t>Controls</a:t>
            </a:r>
            <a:r>
              <a:rPr/>
              <a:t>: Development tools - E8 orchestration - Pre-commit hooks - Sprint templates - Test infrastructure - 👤 </a:t>
            </a:r>
            <a:r>
              <a:rPr b="1"/>
              <a:t>User</a:t>
            </a:r>
            <a:r>
              <a:rPr/>
              <a:t>: MARS developers - 🚫 </a:t>
            </a:r>
            <a:r>
              <a:rPr b="1"/>
              <a:t>Not in research-project</a:t>
            </a:r>
            <a:r>
              <a:rPr/>
              <a:t>: Development infrastructure stays separate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research-project Configuration</a:t>
            </a:r>
            <a:r>
              <a:rPr/>
              <a:t> - 🔬 </a:t>
            </a:r>
            <a:r>
              <a:rPr b="1"/>
              <a:t>For</a:t>
            </a:r>
            <a:r>
              <a:rPr/>
              <a:t>: Using MARS - 📂 </a:t>
            </a:r>
            <a:r>
              <a:rPr b="1"/>
              <a:t>Location</a:t>
            </a:r>
            <a:r>
              <a:rPr/>
              <a:t>: </a:t>
            </a:r>
            <a:r>
              <a:rPr>
                <a:latin typeface="Courier"/>
              </a:rPr>
              <a:t>.mars/</a:t>
            </a:r>
            <a:r>
              <a:rPr/>
              <a:t> directory - ⚙️ </a:t>
            </a:r>
            <a:r>
              <a:rPr b="1"/>
              <a:t>Controls</a:t>
            </a:r>
            <a:r>
              <a:rPr/>
              <a:t>: MARS services - LLM models (which AI to use) - Service ports - Resource limits - Domain-specific agents - 👤 </a:t>
            </a:r>
            <a:r>
              <a:rPr b="1"/>
              <a:t>User</a:t>
            </a:r>
            <a:r>
              <a:rPr/>
              <a:t>: Research teams - ✅ </a:t>
            </a:r>
            <a:r>
              <a:rPr b="1"/>
              <a:t>Overrides MARS defaults</a:t>
            </a:r>
            <a:r>
              <a:rPr/>
              <a:t>: Your project, your rules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Example</a:t>
            </a:r>
            <a:r>
              <a:rPr/>
              <a:t>: Change Neo4j port for your project → edit </a:t>
            </a:r>
            <a:r>
              <a:rPr>
                <a:latin typeface="Courier"/>
              </a:rPr>
              <a:t>.mars/docker-compose.override.yml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External</a:t>
            </a:r>
            <a:r>
              <a:rPr/>
              <a:t> </a:t>
            </a:r>
            <a:r>
              <a:rPr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is built on 5 external repositories (git submodules):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LiteLLM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Python/Docker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gateway</a:t>
                      </a:r>
                      <a:r>
                        <a:rPr/>
                        <a:t> </a:t>
                      </a:r>
                      <a:r>
                        <a:rPr/>
                        <a:t>(AskSage/CAPRA</a:t>
                      </a:r>
                      <a:r>
                        <a:rPr/>
                        <a:t> </a:t>
                      </a:r>
                      <a:r>
                        <a:rPr/>
                        <a:t>access)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Production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Zotero</a:t>
                      </a:r>
                      <a:r>
                        <a:rPr b="1"/>
                        <a:t> </a:t>
                      </a: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Literature</a:t>
                      </a:r>
                      <a:r>
                        <a:rPr/>
                        <a:t> </a:t>
                      </a:r>
                      <a:r>
                        <a:rPr/>
                        <a:t>management</a:t>
                      </a:r>
                      <a:r>
                        <a:rPr/>
                        <a:t> </a:t>
                      </a: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Production</a:t>
                      </a:r>
                      <a:r>
                        <a:rPr/>
                        <a:t> </a:t>
                      </a:r>
                      <a:r>
                        <a:rPr/>
                        <a:t>(95%</a:t>
                      </a:r>
                      <a:r>
                        <a:rPr/>
                        <a:t> </a:t>
                      </a:r>
                      <a:r>
                        <a:rPr/>
                        <a:t>complete)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GitLab</a:t>
                      </a:r>
                      <a:r>
                        <a:rPr b="1"/>
                        <a:t> </a:t>
                      </a: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Node.js</a:t>
                      </a:r>
                      <a:r>
                        <a:rPr/>
                        <a:t> </a:t>
                      </a:r>
                      <a:r>
                        <a:rPr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40+</a:t>
                      </a:r>
                      <a:r>
                        <a:rPr/>
                        <a:t> </a:t>
                      </a:r>
                      <a:r>
                        <a:rPr/>
                        <a:t>GitLab</a:t>
                      </a:r>
                      <a:r>
                        <a:rPr/>
                        <a:t> </a:t>
                      </a:r>
                      <a:r>
                        <a:rPr/>
                        <a:t>integration</a:t>
                      </a:r>
                      <a:r>
                        <a:rPr/>
                        <a:t> </a:t>
                      </a: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Production</a:t>
                      </a:r>
                      <a:r>
                        <a:rPr/>
                        <a:t> </a:t>
                      </a:r>
                      <a:r>
                        <a:rPr/>
                        <a:t>(50%</a:t>
                      </a:r>
                      <a:r>
                        <a:rPr/>
                        <a:t> </a:t>
                      </a:r>
                      <a:r>
                        <a:rPr/>
                        <a:t>complete)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Zotero</a:t>
                      </a:r>
                      <a:r>
                        <a:rPr b="1"/>
                        <a:t> </a:t>
                      </a:r>
                      <a:r>
                        <a:rPr b="1"/>
                        <a:t>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Docker</a:t>
                      </a:r>
                      <a:r>
                        <a:rPr/>
                        <a:t> </a:t>
                      </a:r>
                      <a:r>
                        <a:rPr/>
                        <a:t>Compose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Self-hosted</a:t>
                      </a:r>
                      <a:r>
                        <a:rPr/>
                        <a:t> </a:t>
                      </a:r>
                      <a:r>
                        <a:rPr/>
                        <a:t>reference</a:t>
                      </a:r>
                      <a:r>
                        <a:rPr/>
                        <a:t> </a:t>
                      </a:r>
                      <a:r>
                        <a:rPr/>
                        <a:t>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Evaluation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Session</a:t>
                      </a:r>
                      <a:r>
                        <a:rPr b="1"/>
                        <a:t> </a:t>
                      </a:r>
                      <a:r>
                        <a:rPr b="1"/>
                        <a:t>Exporter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CCC</a:t>
                      </a:r>
                      <a:r>
                        <a:rPr/>
                        <a:t> </a:t>
                      </a:r>
                      <a:r>
                        <a:rPr/>
                        <a:t>session</a:t>
                      </a:r>
                      <a:r>
                        <a:rPr/>
                        <a:t> </a:t>
                      </a:r>
                      <a:r>
                        <a:rPr/>
                        <a:t>archival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Integrated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What “git submodule” means</a:t>
            </a:r>
            <a:r>
              <a:rPr/>
              <a:t>: Version-controlled dependencies - reproducible builds, no surprises</a:t>
            </a:r>
          </a:p>
          <a:p>
            <a:pPr lvl="0" marL="0" indent="0">
              <a:buNone/>
            </a:pPr>
            <a:r>
              <a:rPr b="1"/>
              <a:t>For researchers</a:t>
            </a:r>
            <a:r>
              <a:rPr/>
              <a:t>: You don’t manage these - they’re pre-integrated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vs. mars-dev: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Two command-line interfaces with different audiences: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mars-dev CLI</a:t>
            </a:r>
            <a:r>
              <a:rPr/>
              <a:t> - 🔧 </a:t>
            </a:r>
            <a:r>
              <a:rPr b="1"/>
              <a:t>For</a:t>
            </a:r>
            <a:r>
              <a:rPr/>
              <a:t>: Building MARS - 👤 </a:t>
            </a:r>
            <a:r>
              <a:rPr b="1"/>
              <a:t>User</a:t>
            </a:r>
            <a:r>
              <a:rPr/>
              <a:t>: MARS developers (me) - 📦 </a:t>
            </a:r>
            <a:r>
              <a:rPr b="1"/>
              <a:t>Commands</a:t>
            </a:r>
            <a:r>
              <a:rPr/>
              <a:t>: Infrastructure operations - </a:t>
            </a:r>
            <a:r>
              <a:rPr>
                <a:latin typeface="Courier"/>
              </a:rPr>
              <a:t>mars-dev up</a:t>
            </a:r>
            <a:r>
              <a:rPr/>
              <a:t> - Start development container - </a:t>
            </a:r>
            <a:r>
              <a:rPr>
                <a:latin typeface="Courier"/>
              </a:rPr>
              <a:t>mars-dev down</a:t>
            </a:r>
            <a:r>
              <a:rPr/>
              <a:t> - Stop development - </a:t>
            </a:r>
            <a:r>
              <a:rPr>
                <a:latin typeface="Courier"/>
              </a:rPr>
              <a:t>mars-dev build</a:t>
            </a:r>
            <a:r>
              <a:rPr/>
              <a:t> - Build MARS images - </a:t>
            </a:r>
            <a:r>
              <a:rPr>
                <a:latin typeface="Courier"/>
              </a:rPr>
              <a:t>mars-dev doctor</a:t>
            </a:r>
            <a:r>
              <a:rPr/>
              <a:t> - Health checks - </a:t>
            </a:r>
            <a:r>
              <a:rPr>
                <a:latin typeface="Courier"/>
              </a:rPr>
              <a:t>mars-dev validate</a:t>
            </a:r>
            <a:r>
              <a:rPr/>
              <a:t> - Compliance checks - </a:t>
            </a:r>
            <a:r>
              <a:rPr>
                <a:latin typeface="Courier"/>
              </a:rPr>
              <a:t>mars-dev audit</a:t>
            </a:r>
            <a:r>
              <a:rPr/>
              <a:t> - Module validation - 🏗️ </a:t>
            </a:r>
            <a:r>
              <a:rPr b="1"/>
              <a:t>Use Case</a:t>
            </a:r>
            <a:r>
              <a:rPr/>
              <a:t>: Develop new MARS features - 📍 </a:t>
            </a:r>
            <a:r>
              <a:rPr b="1"/>
              <a:t>Location</a:t>
            </a:r>
            <a:r>
              <a:rPr/>
              <a:t>: </a:t>
            </a:r>
            <a:r>
              <a:rPr>
                <a:latin typeface="Courier"/>
              </a:rPr>
              <a:t>mars-dev/scripts/mars-dev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CLI</a:t>
            </a:r>
            <a:r>
              <a:rPr/>
              <a:t> - 🔬 </a:t>
            </a:r>
            <a:r>
              <a:rPr b="1"/>
              <a:t>For</a:t>
            </a:r>
            <a:r>
              <a:rPr/>
              <a:t>: Running MARS - 👤 </a:t>
            </a:r>
            <a:r>
              <a:rPr b="1"/>
              <a:t>User</a:t>
            </a:r>
            <a:r>
              <a:rPr/>
              <a:t>: Research teams (you) - 📦 </a:t>
            </a:r>
            <a:r>
              <a:rPr b="1"/>
              <a:t>Commands</a:t>
            </a:r>
            <a:r>
              <a:rPr/>
              <a:t>: Research operations - </a:t>
            </a:r>
            <a:r>
              <a:rPr>
                <a:latin typeface="Courier"/>
              </a:rPr>
              <a:t>mars up</a:t>
            </a:r>
            <a:r>
              <a:rPr/>
              <a:t> - Start MARS services - </a:t>
            </a:r>
            <a:r>
              <a:rPr>
                <a:latin typeface="Courier"/>
              </a:rPr>
              <a:t>mars down</a:t>
            </a:r>
            <a:r>
              <a:rPr/>
              <a:t> - Stop MARS services - </a:t>
            </a:r>
            <a:r>
              <a:rPr>
                <a:latin typeface="Courier"/>
              </a:rPr>
              <a:t>mars logs</a:t>
            </a:r>
            <a:r>
              <a:rPr/>
              <a:t> - View service logs - </a:t>
            </a:r>
            <a:r>
              <a:rPr>
                <a:latin typeface="Courier"/>
              </a:rPr>
              <a:t>mars agents list</a:t>
            </a:r>
            <a:r>
              <a:rPr/>
              <a:t> - List available agents - </a:t>
            </a:r>
            <a:r>
              <a:rPr>
                <a:latin typeface="Courier"/>
              </a:rPr>
              <a:t>mars services info</a:t>
            </a:r>
            <a:r>
              <a:rPr/>
              <a:t> - Service details - </a:t>
            </a:r>
            <a:r>
              <a:rPr>
                <a:latin typeface="Courier"/>
              </a:rPr>
              <a:t>mars rag reindex</a:t>
            </a:r>
            <a:r>
              <a:rPr/>
              <a:t> - Update knowledge graph - 🔬 </a:t>
            </a:r>
            <a:r>
              <a:rPr b="1"/>
              <a:t>Use Case</a:t>
            </a:r>
            <a:r>
              <a:rPr/>
              <a:t>: Conduct research - 📍 </a:t>
            </a:r>
            <a:r>
              <a:rPr b="1"/>
              <a:t>Location</a:t>
            </a:r>
            <a:r>
              <a:rPr/>
              <a:t>: </a:t>
            </a:r>
            <a:r>
              <a:rPr>
                <a:latin typeface="Courier"/>
              </a:rPr>
              <a:t>core/scripts/mars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You’ll use</a:t>
            </a:r>
            <a:r>
              <a:rPr/>
              <a:t>: </a:t>
            </a:r>
            <a:r>
              <a:rPr>
                <a:latin typeface="Courier"/>
              </a:rPr>
              <a:t>mars</a:t>
            </a:r>
            <a:r>
              <a:rPr/>
              <a:t> CLI (research-project). You’ll never need </a:t>
            </a:r>
            <a:r>
              <a:rPr>
                <a:latin typeface="Courier"/>
              </a:rPr>
              <a:t>mars-dev</a:t>
            </a:r>
            <a:r>
              <a:rPr/>
              <a:t> CLI.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How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Projects</a:t>
            </a:r>
            <a:r>
              <a:rPr/>
              <a:t> </a:t>
            </a:r>
            <a:r>
              <a:rPr/>
              <a:t>Get</a:t>
            </a:r>
            <a:r>
              <a:rPr/>
              <a:t> </a:t>
            </a:r>
            <a:r>
              <a:rPr/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Simple 3-step process:</a:t>
            </a:r>
          </a:p>
          <a:p>
            <a:pPr lvl="0" marL="0" indent="0">
              <a:buNone/>
            </a:pPr>
            <a:r>
              <a:rPr b="1"/>
              <a:t>Step 1: Add MARS as submodule</a:t>
            </a:r>
          </a:p>
          <a:p>
            <a:pPr lvl="0" indent="0">
              <a:buNone/>
            </a:pPr>
            <a:r>
              <a:rPr>
                <a:latin typeface="Courier"/>
              </a:rPr>
              <a:t>cd your-research-project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add https://github.com/nasa/mars-v2 src/framework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update --init --recursive</a:t>
            </a:r>
          </a:p>
          <a:p>
            <a:pPr lvl="0" marL="0" indent="0">
              <a:buNone/>
            </a:pPr>
            <a:r>
              <a:rPr b="1"/>
              <a:t>Step 2: Create </a:t>
            </a:r>
            <a:r>
              <a:rPr b="1">
                <a:latin typeface="Courier"/>
              </a:rPr>
              <a:t>.mars/</a:t>
            </a:r>
            <a:r>
              <a:rPr b="1"/>
              <a:t> configuration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-p .mars/config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Customize MARS for your project (optional)</a:t>
            </a:r>
          </a:p>
          <a:p>
            <a:pPr lvl="0" marL="0" indent="0">
              <a:buNone/>
            </a:pPr>
            <a:r>
              <a:rPr b="1"/>
              <a:t>Step 3: Start MARS</a:t>
            </a:r>
          </a:p>
          <a:p>
            <a:pPr lvl="0" indent="0">
              <a:buNone/>
            </a:pPr>
            <a:r>
              <a:rPr>
                <a:latin typeface="Courier"/>
              </a:rPr>
              <a:t>cd src/framework</a:t>
            </a:r>
            <a:br/>
            <a:r>
              <a:rPr>
                <a:latin typeface="Courier"/>
              </a:rPr>
              <a:t>source mars-env.config  # Load MARS environment</a:t>
            </a:r>
            <a:br/>
            <a:r>
              <a:rPr>
                <a:latin typeface="Courier"/>
              </a:rPr>
              <a:t>mars up -d              # Start MARS services</a:t>
            </a:r>
          </a:p>
          <a:p>
            <a:pPr lvl="0" marL="0" indent="0">
              <a:buNone/>
            </a:pPr>
            <a:r>
              <a:rPr b="1"/>
              <a:t>That’s it!</a:t>
            </a:r>
            <a:r>
              <a:rPr/>
              <a:t> MARS is running. Now write your research code.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Documentation: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Audiences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Current State</a:t>
            </a:r>
            <a:r>
              <a:rPr/>
              <a:t>: Documentation is messy (</a:t>
            </a:r>
            <a:r>
              <a:rPr>
                <a:latin typeface="Courier"/>
              </a:rPr>
              <a:t>docs/wiki/</a:t>
            </a:r>
            <a:r>
              <a:rPr/>
              <a:t> will be reorganized)</a:t>
            </a:r>
          </a:p>
          <a:p>
            <a:pPr lvl="0" marL="0" indent="0">
              <a:buNone/>
            </a:pPr>
            <a:r>
              <a:rPr b="1"/>
              <a:t>Future State</a:t>
            </a:r>
            <a:r>
              <a:rPr/>
              <a:t>: Modular documentation architecture aligned with users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For Developers (Building MARS)</a:t>
            </a:r>
            <a:r>
              <a:rPr/>
              <a:t> - 🔧 </a:t>
            </a:r>
            <a:r>
              <a:rPr b="1"/>
              <a:t>Audience</a:t>
            </a:r>
            <a:r>
              <a:rPr/>
              <a:t>: MARS developers (me) - 📂 </a:t>
            </a:r>
            <a:r>
              <a:rPr b="1"/>
              <a:t>Location</a:t>
            </a:r>
            <a:r>
              <a:rPr/>
              <a:t>: Within module directories - 📦 </a:t>
            </a:r>
            <a:r>
              <a:rPr b="1"/>
              <a:t>Structure</a:t>
            </a:r>
            <a:r>
              <a:rPr/>
              <a:t>: - </a:t>
            </a:r>
            <a:r>
              <a:rPr>
                <a:latin typeface="Courier"/>
              </a:rPr>
              <a:t>core/docs/</a:t>
            </a:r>
            <a:r>
              <a:rPr/>
              <a:t> - Core framework - </a:t>
            </a:r>
            <a:r>
              <a:rPr>
                <a:latin typeface="Courier"/>
              </a:rPr>
              <a:t>mars-dev/docs/</a:t>
            </a:r>
            <a:r>
              <a:rPr/>
              <a:t> - Dev tools - </a:t>
            </a:r>
            <a:r>
              <a:rPr>
                <a:latin typeface="Courier"/>
              </a:rPr>
              <a:t>modules/*/docs/</a:t>
            </a:r>
            <a:r>
              <a:rPr/>
              <a:t> - Module-specific - 📝 </a:t>
            </a:r>
            <a:r>
              <a:rPr b="1"/>
              <a:t>Content</a:t>
            </a:r>
            <a:r>
              <a:rPr/>
              <a:t>: - ADRs (architecture decisions) - Implementation details - Development workflows - Testing strategies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For Researchers (Using MARS)</a:t>
            </a:r>
            <a:r>
              <a:rPr/>
              <a:t> - 🔬 </a:t>
            </a:r>
            <a:r>
              <a:rPr b="1"/>
              <a:t>Audience</a:t>
            </a:r>
            <a:r>
              <a:rPr/>
              <a:t>: Research teams (you) - 📂 </a:t>
            </a:r>
            <a:r>
              <a:rPr b="1"/>
              <a:t>Location</a:t>
            </a:r>
            <a:r>
              <a:rPr/>
              <a:t>: Generated GitLab wiki - 📦 </a:t>
            </a:r>
            <a:r>
              <a:rPr b="1"/>
              <a:t>Structure</a:t>
            </a:r>
            <a:r>
              <a:rPr/>
              <a:t>: - Getting Started guides - Use case examples - Configuration reference - Troubleshooting - 📝 </a:t>
            </a:r>
            <a:r>
              <a:rPr b="1"/>
              <a:t>Content</a:t>
            </a:r>
            <a:r>
              <a:rPr/>
              <a:t>: - How to use MARS services - Research workflows - Agent capabilities - Integration examples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 Principle</a:t>
            </a:r>
            <a:r>
              <a:rPr/>
              <a:t>: Documentation lives where it’s maintained, aggregated where it’s consumed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Modular</a:t>
            </a:r>
            <a:r>
              <a:rPr/>
              <a:t> </a:t>
            </a:r>
            <a:r>
              <a:rPr/>
              <a:t>Documentation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Current mess</a:t>
            </a:r>
            <a:r>
              <a:rPr/>
              <a:t> (everything in </a:t>
            </a:r>
            <a:r>
              <a:rPr>
                <a:latin typeface="Courier"/>
              </a:rPr>
              <a:t>docs/wiki/</a:t>
            </a:r>
            <a:r>
              <a:rPr/>
              <a:t>):</a:t>
            </a:r>
          </a:p>
          <a:p>
            <a:pPr lvl="0" indent="0">
              <a:buNone/>
            </a:pPr>
            <a:r>
              <a:rPr>
                <a:latin typeface="Courier"/>
              </a:rPr>
              <a:t>docs/wiki/
├── adr/           # ALL 36 ADRs mixed together
├── integrations/  # Mixed module concerns
├── tools/         # Mixed concerns
└── ...            # 150+ files, unclear ownership</a:t>
            </a:r>
          </a:p>
          <a:p>
            <a:pPr lvl="0" marL="0" indent="0">
              <a:buNone/>
            </a:pPr>
            <a:r>
              <a:rPr b="1"/>
              <a:t>Future organization</a:t>
            </a:r>
            <a:r>
              <a:rPr/>
              <a:t> (modular, clear ownership):</a:t>
            </a:r>
          </a:p>
          <a:p>
            <a:pPr lvl="0" indent="0">
              <a:buNone/>
            </a:pPr>
            <a:r>
              <a:rPr>
                <a:latin typeface="Courier"/>
              </a:rPr>
              <a:t>core/docs/                    # Core framework docs
mars-dev/docs/                # Development infrastructure
modules/
├── agents/
│   ├── shared/docs/          # All agents
│   └── orchestrator/docs/    # Specific agent
└── services/
    ├── shared/docs/          # All services
    └── ollama/docs/          # Specific service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Clear ownership, module independence, easy discovery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Documentation</a:t>
            </a:r>
            <a:r>
              <a:rPr/>
              <a:t> </a:t>
            </a:r>
            <a:r>
              <a:rPr/>
              <a:t>Types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Every module (</a:t>
            </a:r>
            <a:r>
              <a:rPr b="1">
                <a:latin typeface="Courier"/>
              </a:rPr>
              <a:t>core/</a:t>
            </a:r>
            <a:r>
              <a:rPr b="1"/>
              <a:t>, </a:t>
            </a:r>
            <a:r>
              <a:rPr b="1">
                <a:latin typeface="Courier"/>
              </a:rPr>
              <a:t>mars-dev/</a:t>
            </a:r>
            <a:r>
              <a:rPr b="1"/>
              <a:t>, </a:t>
            </a:r>
            <a:r>
              <a:rPr b="1">
                <a:latin typeface="Courier"/>
              </a:rPr>
              <a:t>modules/*/</a:t>
            </a:r>
            <a:r>
              <a:rPr b="1"/>
              <a:t>) has same structure: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Directory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adr/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Architecture</a:t>
                      </a:r>
                      <a:r>
                        <a:rPr/>
                        <a:t> </a:t>
                      </a:r>
                      <a:r>
                        <a:rPr/>
                        <a:t>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Design</a:t>
                      </a:r>
                      <a:r>
                        <a:rPr/>
                        <a:t> </a:t>
                      </a:r>
                      <a:r>
                        <a:rPr/>
                        <a:t>choices,</a:t>
                      </a:r>
                      <a:r>
                        <a:rPr/>
                        <a:t> </a:t>
                      </a:r>
                      <a:r>
                        <a:rPr/>
                        <a:t>trade-offs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educational/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Learn</a:t>
                      </a:r>
                      <a:r>
                        <a:rPr/>
                        <a:t> </a:t>
                      </a:r>
                      <a:r>
                        <a:rPr/>
                        <a:t>the</a:t>
                      </a:r>
                      <a:r>
                        <a:rPr/>
                        <a:t> </a:t>
                      </a:r>
                      <a:r>
                        <a:rPr/>
                        <a:t>technology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Concepts,</a:t>
                      </a:r>
                      <a:r>
                        <a:rPr/>
                        <a:t> </a:t>
                      </a:r>
                      <a:r>
                        <a:rPr/>
                        <a:t>tutorials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setup/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Configuration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Install,</a:t>
                      </a:r>
                      <a:r>
                        <a:rPr/>
                        <a:t> </a:t>
                      </a:r>
                      <a:r>
                        <a:rPr/>
                        <a:t>configure,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architecture/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Implementation</a:t>
                      </a:r>
                      <a:r>
                        <a:rPr/>
                        <a:t> </a:t>
                      </a:r>
                      <a:r>
                        <a:rPr/>
                        <a:t>details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Internal</a:t>
                      </a:r>
                      <a:r>
                        <a:rPr/>
                        <a:t> </a:t>
                      </a:r>
                      <a:r>
                        <a:rPr/>
                        <a:t>design,</a:t>
                      </a:r>
                      <a:r>
                        <a:rPr/>
                        <a:t> </a:t>
                      </a:r>
                      <a:r>
                        <a:rPr/>
                        <a:t>patterns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mcp/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MCP</a:t>
                      </a:r>
                      <a:r>
                        <a:rPr/>
                        <a:t> </a:t>
                      </a:r>
                      <a:r>
                        <a:rPr/>
                        <a:t>tool</a:t>
                      </a:r>
                      <a:r>
                        <a:rPr/>
                        <a:t> </a:t>
                      </a:r>
                      <a:r>
                        <a:rPr/>
                        <a:t>reference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API</a:t>
                      </a:r>
                      <a:r>
                        <a:rPr/>
                        <a:t> </a:t>
                      </a:r>
                      <a:r>
                        <a:rPr/>
                        <a:t>documentation</a:t>
                      </a:r>
                      <a:r>
                        <a:rPr/>
                        <a:t> </a:t>
                      </a:r>
                      <a:r>
                        <a:rPr/>
                        <a:t>(services)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testing/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strategy,</a:t>
                      </a:r>
                      <a:r>
                        <a:rPr/>
                        <a:t> </a:t>
                      </a:r>
                      <a:r>
                        <a:rPr/>
                        <a:t>coverage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troubleshooting/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Fix</a:t>
                      </a:r>
                      <a:r>
                        <a:rPr/>
                        <a:t> </a:t>
                      </a:r>
                      <a:r>
                        <a:rPr/>
                        <a:t>issues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Common</a:t>
                      </a:r>
                      <a:r>
                        <a:rPr/>
                        <a:t> </a:t>
                      </a:r>
                      <a:r>
                        <a:rPr/>
                        <a:t>problems,</a:t>
                      </a:r>
                      <a:r>
                        <a:rPr/>
                        <a:t> </a:t>
                      </a:r>
                      <a:r>
                        <a:rPr/>
                        <a:t>solutions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ADR Numbering</a:t>
            </a:r>
            <a:r>
              <a:rPr/>
              <a:t>: Per-directory (core/ADR-0001, mars-dev/ADR-0001, ollama/ADR-0001)</a:t>
            </a:r>
          </a:p>
          <a:p>
            <a:pPr lvl="0" marL="0" indent="0">
              <a:buNone/>
            </a:pPr>
            <a:r>
              <a:rPr b="1"/>
              <a:t>Cross-references</a:t>
            </a:r>
            <a:r>
              <a:rPr/>
              <a:t>: Use path for clarity (“</a:t>
            </a:r>
            <a:r>
              <a:rPr>
                <a:latin typeface="Courier"/>
              </a:rPr>
              <a:t>mars-dev/ADR-0004</a:t>
            </a:r>
            <a:r>
              <a:rPr/>
              <a:t>” = Modular Documentation)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Generated</a:t>
            </a:r>
            <a:r>
              <a:rPr/>
              <a:t> </a:t>
            </a:r>
            <a:r>
              <a:rPr/>
              <a:t>Wiki</a:t>
            </a:r>
            <a:r>
              <a:rPr/>
              <a:t> </a:t>
            </a:r>
            <a:r>
              <a:rPr/>
              <a:t>(Aggregation)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Source of truth</a:t>
            </a:r>
            <a:r>
              <a:rPr/>
              <a:t>: Documentation lives in module directories (git-tracked)</a:t>
            </a:r>
          </a:p>
          <a:p>
            <a:pPr lvl="0" marL="0" indent="0">
              <a:buNone/>
            </a:pPr>
            <a:r>
              <a:rPr b="1"/>
              <a:t>GitLab wiki</a:t>
            </a:r>
            <a:r>
              <a:rPr/>
              <a:t>: Aggregated view (generated automatically)</a:t>
            </a:r>
          </a:p>
          <a:p>
            <a:pPr lvl="0" indent="0">
              <a:buNone/>
            </a:pPr>
            <a:r>
              <a:rPr>
                <a:latin typeface="Courier"/>
              </a:rPr>
              <a:t>docs/wiki/                    # Generated, NOT hand-edited
├── adr/
│   ├── core/                 # From core/docs/adr/
│   ├── mars-dev/             # From mars-dev/docs/adr/
│   ├── agents/
│   │   ├── shared/           # From modules/agents/shared/docs/adr/
│   │   └── orchestrator/     # From modules/agents/orchestrator/docs/adr/
│   └── services/
│       └── ollama/           # From modules/services/ollama/docs/adr/
├── educational/              # Same structure
├── setup/                    # Same structure
└── cross-cutting/            # Strategic docs (VISION, ROADMAP)
    ├── VISION.md
    └── ROADMAP.md</a:t>
            </a:r>
          </a:p>
          <a:p>
            <a:pPr lvl="0" marL="0" indent="0">
              <a:buNone/>
            </a:pPr>
            <a:r>
              <a:rPr b="1"/>
              <a:t>Workflow</a:t>
            </a:r>
            <a:r>
              <a:rPr/>
              <a:t>: Edit module docs → Script aggregates → GitLab wiki updates</a:t>
            </a:r>
          </a:p>
          <a:p>
            <a:pPr lvl="0" marL="0" indent="0">
              <a:buNone/>
            </a:pPr>
            <a:r>
              <a:rPr b="1"/>
              <a:t>Benefit</a:t>
            </a:r>
            <a:r>
              <a:rPr/>
              <a:t>: Single source of truth, multiple views (module-local, centralized wiki)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Self-Hosted</a:t>
            </a:r>
            <a:r>
              <a:rPr/>
              <a:t> </a:t>
            </a:r>
            <a:r>
              <a:rPr/>
              <a:t>GitLab</a:t>
            </a:r>
            <a:r>
              <a:rPr/>
              <a:t> </a:t>
            </a:r>
            <a:r>
              <a:rPr/>
              <a:t>(Security)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Why self-hosted GitLab inside MARS?</a:t>
            </a:r>
          </a:p>
          <a:p>
            <a:pPr lvl="0" marL="0" indent="0">
              <a:buNone/>
            </a:pPr>
            <a:r>
              <a:rPr b="1"/>
              <a:t>Security requirement</a:t>
            </a:r>
            <a:r>
              <a:rPr/>
              <a:t>: Classified research code cannot leave the network</a:t>
            </a:r>
          </a:p>
          <a:p>
            <a:pPr lvl="0" marL="0" indent="0">
              <a:buNone/>
            </a:pPr>
            <a:r>
              <a:rPr b="1"/>
              <a:t>Architecture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MARS Runtime Container                  │
│                                          │
│  ┌────────────────────────────────┐    │
│  │ GitLab CE (Self-Hosted)        │    │
│  │ - All repos stored locally     │    │
│  │ - No external network access   │    │
│  │ - Complete version control     │    │
│  │ - Issues, MRs, wikis           │    │
│  └────────────────────────────────┘    │
│                                          │
│  Access: localhost:9080 (inside MARS)   │
└─────────────────────────────────────────┘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Air-gap capable, no data leakage, full git functionality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GitLab</a:t>
            </a:r>
            <a:r>
              <a:rPr/>
              <a:t> </a:t>
            </a:r>
            <a:r>
              <a:rPr/>
              <a:t>Sync</a:t>
            </a:r>
            <a:r>
              <a:rPr/>
              <a:t> </a:t>
            </a:r>
            <a:r>
              <a:rPr/>
              <a:t>(Collaboration)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  <a:r>
              <a:rPr/>
              <a:t>: Self-hosted GitLab is isolated - how to collaborate with team?</a:t>
            </a:r>
          </a:p>
          <a:p>
            <a:pPr lvl="0" marL="0" indent="0">
              <a:buNone/>
            </a:pPr>
            <a:r>
              <a:rPr b="1"/>
              <a:t>Solution</a:t>
            </a:r>
            <a:r>
              <a:rPr/>
              <a:t>: Automated bidirectional sync with organizational GitLab</a:t>
            </a:r>
          </a:p>
          <a:p>
            <a:pPr lvl="0" marL="0" indent="0">
              <a:buNone/>
            </a:pPr>
            <a:r>
              <a:rPr b="1"/>
              <a:t>Architecture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MARS GitLab (Isolated)  &lt;---Sync---&gt;  Org GitLab (External)
  localhost:9080                      gitlab.org.example.com
  - Classified research               - Unclassified/reviewed code
  - Daily development                 - Team collaboration
  - Full history                      - External review</a:t>
            </a:r>
          </a:p>
          <a:p>
            <a:pPr lvl="0" marL="0" indent="0">
              <a:buNone/>
            </a:pPr>
            <a:r>
              <a:rPr b="1"/>
              <a:t>Sync Mechanism</a:t>
            </a:r>
            <a:r>
              <a:rPr/>
              <a:t>: - </a:t>
            </a:r>
            <a:r>
              <a:rPr b="1"/>
              <a:t>260 automated tests</a:t>
            </a:r>
            <a:r>
              <a:rPr/>
              <a:t>, 90%+ coverage - </a:t>
            </a:r>
            <a:r>
              <a:rPr b="1"/>
              <a:t>Bidirectional</a:t>
            </a:r>
            <a:r>
              <a:rPr/>
              <a:t>: Pull team updates, push your work - </a:t>
            </a:r>
            <a:r>
              <a:rPr b="1"/>
              <a:t>Safe</a:t>
            </a:r>
            <a:r>
              <a:rPr/>
              <a:t>: Agents stopped during sync, network temporarily enabled - </a:t>
            </a:r>
            <a:r>
              <a:rPr b="1"/>
              <a:t>Audited</a:t>
            </a:r>
            <a:r>
              <a:rPr/>
              <a:t>: Complete operation logging</a:t>
            </a:r>
          </a:p>
          <a:p>
            <a:pPr lvl="0" marL="0" indent="0">
              <a:buNone/>
            </a:pPr>
            <a:r>
              <a:rPr b="1"/>
              <a:t>User workflow</a:t>
            </a:r>
            <a:r>
              <a:rPr/>
              <a:t>: </a:t>
            </a:r>
            <a:r>
              <a:rPr>
                <a:latin typeface="Courier"/>
              </a:rPr>
              <a:t>mars sync:pull</a:t>
            </a:r>
            <a:r>
              <a:rPr/>
              <a:t> (morning), </a:t>
            </a:r>
            <a:r>
              <a:rPr>
                <a:latin typeface="Courier"/>
              </a:rPr>
              <a:t>mars sync:push</a:t>
            </a:r>
            <a:r>
              <a:rPr/>
              <a:t> (evening)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GitLab</a:t>
            </a:r>
            <a:r>
              <a:rPr/>
              <a:t> </a:t>
            </a:r>
            <a:r>
              <a:rPr/>
              <a:t>Sync</a:t>
            </a:r>
            <a:r>
              <a:rPr/>
              <a:t> </a:t>
            </a:r>
            <a:r>
              <a:rPr/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Three key operations:</a:t>
            </a:r>
          </a:p>
          <a:p>
            <a:pPr lvl="0" marL="0" indent="0">
              <a:buNone/>
            </a:pPr>
            <a:r>
              <a:rPr b="1"/>
              <a:t>1. Pull updates</a:t>
            </a:r>
            <a:r>
              <a:rPr/>
              <a:t> (get team changes):</a:t>
            </a:r>
          </a:p>
          <a:p>
            <a:pPr lvl="0" indent="0">
              <a:buNone/>
            </a:pPr>
            <a:r>
              <a:rPr>
                <a:latin typeface="Courier"/>
              </a:rPr>
              <a:t>mars sync:pull mars-v2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1. Stop agents (30s)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2. Enable network temporarily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3. Pull from org GitLab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4. Disable network (restore isolation)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5. Restart agents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Duration: 30-90 seconds</a:t>
            </a:r>
          </a:p>
          <a:p>
            <a:pPr lvl="0" marL="0" indent="0">
              <a:buNone/>
            </a:pPr>
            <a:r>
              <a:rPr b="1"/>
              <a:t>2. Push work</a:t>
            </a:r>
            <a:r>
              <a:rPr/>
              <a:t> (share your commits):</a:t>
            </a:r>
          </a:p>
          <a:p>
            <a:pPr lvl="0" indent="0">
              <a:buNone/>
            </a:pPr>
            <a:r>
              <a:rPr>
                <a:latin typeface="Courier"/>
              </a:rPr>
              <a:t>mars sync:push mars-v2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Same 5-step process, but pushes instead</a:t>
            </a:r>
          </a:p>
          <a:p>
            <a:pPr lvl="0" marL="0" indent="0">
              <a:buNone/>
            </a:pPr>
            <a:r>
              <a:rPr b="1"/>
              <a:t>3. Check status</a:t>
            </a:r>
            <a:r>
              <a:rPr/>
              <a:t> (see pending changes):</a:t>
            </a:r>
          </a:p>
          <a:p>
            <a:pPr lvl="0" indent="0">
              <a:buNone/>
            </a:pPr>
            <a:r>
              <a:rPr>
                <a:latin typeface="Courier"/>
              </a:rPr>
              <a:t>mars sync:status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Shows: commits to pull, commits to push</a:t>
            </a:r>
          </a:p>
          <a:p>
            <a:pPr lvl="0" marL="0" indent="0">
              <a:buNone/>
            </a:pPr>
            <a:r>
              <a:rPr b="1"/>
              <a:t>Safety</a:t>
            </a:r>
            <a:r>
              <a:rPr/>
              <a:t>: Full audit logging, backup/rollback, metadata sync (issues/MRs/wikis)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Modularity</a:t>
            </a:r>
            <a:r>
              <a:rPr/>
              <a:t> </a:t>
            </a:r>
            <a:r>
              <a:rPr/>
              <a:t>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🏠 </a:t>
            </a:r>
            <a:r>
              <a:rPr b="1"/>
              <a:t>Level 0</a:t>
            </a:r>
            <a:r>
              <a:rPr/>
              <a:t>: Custom Home (6-12 months per capability - monolithic) - 🏗️ </a:t>
            </a:r>
            <a:r>
              <a:rPr b="1"/>
              <a:t>Level 1</a:t>
            </a:r>
            <a:r>
              <a:rPr/>
              <a:t>: Prefab Sections (3-6 months - brittle integration) - 🏢 </a:t>
            </a:r>
            <a:r>
              <a:rPr b="1"/>
              <a:t>Level 2</a:t>
            </a:r>
            <a:r>
              <a:rPr/>
              <a:t>: Apartment Building (1-3 months - microservices) - 🏨 </a:t>
            </a:r>
            <a:r>
              <a:rPr b="1"/>
              <a:t>Level 3</a:t>
            </a:r>
            <a:r>
              <a:rPr/>
              <a:t>: Modular Hotel (3-7 weeks per new domain - plug-and-play)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s/png/modularity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17900" y="1600200"/>
            <a:ext cx="2108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Modularity</a:t>
            </a:r>
            <a:r>
              <a:rPr/>
              <a:t> </a:t>
            </a:r>
            <a:r>
              <a:rPr/>
              <a:t>Ladder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0:</a:t>
            </a:r>
            <a:r>
              <a:rPr/>
              <a:t> </a:t>
            </a:r>
            <a:r>
              <a:rPr/>
              <a:t>Custom</a:t>
            </a:r>
            <a:r>
              <a:rPr/>
              <a:t> </a:t>
            </a:r>
            <a:r>
              <a:rPr/>
              <a:t>Home</a:t>
            </a:r>
            <a:r>
              <a:rPr/>
              <a:t> </a:t>
            </a:r>
            <a:r>
              <a:rPr/>
              <a:t>(Monolithic)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 b="1"/>
              <a:t>The Analogy</a:t>
            </a:r>
            <a:r>
              <a:rPr/>
              <a:t>: Building a custom house from scratch every time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6-12 months per capability</a:t>
            </a:r>
            <a:r>
              <a:rPr/>
              <a:t> - Everything built from ground up - No reusable components - Tightly coupled code - Hard to modify or extend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Traditional AI research system - Build authentication system - Build storage system - Build compute infrastructure - Build AI integration - Build user interface - Every component custom-built and interconnected</a:t>
            </a:r>
          </a:p>
          <a:p>
            <a:pPr lvl="0" marL="0" indent="0">
              <a:buNone/>
            </a:pPr>
            <a:r>
              <a:rPr b="1"/>
              <a:t>MARS Comparison</a:t>
            </a:r>
            <a:r>
              <a:rPr/>
              <a:t>: Traditional approach takes 6-12 months with 3-5 FTE. MARS Level 3 delivers same capability in 3-7 weeks with 1-2 FTE.</a:t>
            </a:r>
          </a:p>
          <a:p>
            <a:pPr lvl="0" marL="0" indent="0">
              <a:buNone/>
            </a:pPr>
            <a:r>
              <a:rPr b="1"/>
              <a:t>Problem</a:t>
            </a:r>
            <a:r>
              <a:rPr/>
              <a:t>: Every new research domain requires rebuilding everything.</a:t>
            </a:r>
          </a:p>
        </p:txBody>
      </p:sp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Prefab</a:t>
            </a:r>
            <a:r>
              <a:rPr/>
              <a:t> </a:t>
            </a:r>
            <a:r>
              <a:rPr/>
              <a:t>Sections</a:t>
            </a:r>
            <a:r>
              <a:rPr/>
              <a:t> </a:t>
            </a:r>
            <a:r>
              <a:rPr/>
              <a:t>(Brittle</a:t>
            </a:r>
            <a:r>
              <a:rPr/>
              <a:t> </a:t>
            </a:r>
            <a:r>
              <a:rPr/>
              <a:t>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🏗️ </a:t>
            </a:r>
            <a:r>
              <a:rPr b="1"/>
              <a:t>The Analogy</a:t>
            </a:r>
            <a:r>
              <a:rPr/>
              <a:t>: Using prefabricated walls but custom-fitting each connection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3-6 months per capability</a:t>
            </a:r>
            <a:r>
              <a:rPr/>
              <a:t> - Some reusable components - Manual integration required - Brittle connections between parts - Version conflicts common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Docker containers with custom glue code - Container for database - Container for AI service - Container for web server - Custom scripts to connect them - Configuration files manually synced</a:t>
            </a:r>
          </a:p>
          <a:p>
            <a:pPr lvl="0" marL="0" indent="0">
              <a:buNone/>
            </a:pPr>
            <a:r>
              <a:rPr b="1"/>
              <a:t>Integration Issues</a:t>
            </a:r>
            <a:r>
              <a:rPr/>
              <a:t>: - Service A expects JSON, Service B sends XML - Container 1 uses Python 3.8, Container 2 needs 3.11 - Network configs conflict between services - Updates to one service break others</a:t>
            </a:r>
          </a:p>
          <a:p>
            <a:pPr lvl="0" marL="0" indent="0">
              <a:buNone/>
            </a:pPr>
            <a:r>
              <a:rPr b="1"/>
              <a:t>MARS Comparison</a:t>
            </a:r>
            <a:r>
              <a:rPr/>
              <a:t>: Level 3 uses standardized MCP protocol - no brittle glue code needed.</a:t>
            </a:r>
          </a:p>
        </p:txBody>
      </p:sp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Apartment</a:t>
            </a:r>
            <a:r>
              <a:rPr/>
              <a:t> </a:t>
            </a:r>
            <a:r>
              <a:rPr/>
              <a:t>Building</a:t>
            </a:r>
            <a:r>
              <a:rPr/>
              <a:t> </a:t>
            </a:r>
            <a:r>
              <a:rPr/>
              <a:t>(Microservices)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🏢 </a:t>
            </a:r>
            <a:r>
              <a:rPr b="1"/>
              <a:t>The Analogy</a:t>
            </a:r>
            <a:r>
              <a:rPr/>
              <a:t>: Shared foundation with independent units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1-3 months per capability</a:t>
            </a:r>
            <a:r>
              <a:rPr/>
              <a:t> - Microservices architecture - Shared infrastructure - APIs for communication - Better isolation than Level 1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Docker Compose with multiple services - Shared Docker network - Shared storage volumes - API-based communication - Independent deployment of services</a:t>
            </a:r>
          </a:p>
          <a:p>
            <a:pPr lvl="0" marL="0" indent="0">
              <a:buNone/>
            </a:pPr>
            <a:r>
              <a:rPr b="1"/>
              <a:t>MARS Partial Example</a:t>
            </a:r>
            <a:r>
              <a:rPr/>
              <a:t>: - Neo4j knowledge graph service - MLflow experiment tracking service - MinIO object storage service - Services communicate via REST APIs</a:t>
            </a:r>
          </a:p>
          <a:p>
            <a:pPr lvl="0" marL="0" indent="0">
              <a:buNone/>
            </a:pPr>
            <a:r>
              <a:rPr b="1"/>
              <a:t>Remaining Challenges</a:t>
            </a:r>
            <a:r>
              <a:rPr/>
              <a:t>: - Still need custom integration code - API versioning complexities - Service discovery overhead - No standardized agent protocol</a:t>
            </a:r>
          </a:p>
          <a:p>
            <a:pPr lvl="0" marL="0" indent="0">
              <a:buNone/>
            </a:pPr>
            <a:r>
              <a:rPr b="1"/>
              <a:t>MARS Comparison</a:t>
            </a:r>
            <a:r>
              <a:rPr/>
              <a:t>: Level 3 adds MCP standardization - agents plug in instantly.</a:t>
            </a:r>
          </a:p>
        </p:txBody>
      </p:sp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Modular</a:t>
            </a:r>
            <a:r>
              <a:rPr/>
              <a:t> </a:t>
            </a:r>
            <a:r>
              <a:rPr/>
              <a:t>Hotel</a:t>
            </a:r>
            <a:r>
              <a:rPr/>
              <a:t> </a:t>
            </a:r>
            <a:r>
              <a:rPr/>
              <a:t>(Plug-and-Play)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🏨 </a:t>
            </a:r>
            <a:r>
              <a:rPr b="1"/>
              <a:t>The Analogy</a:t>
            </a:r>
            <a:r>
              <a:rPr/>
              <a:t>: Hotel with foundation built once, rooms added as needed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3-7 weeks per new domain</a:t>
            </a:r>
            <a:r>
              <a:rPr/>
              <a:t> - Foundation built once and shared - Plug-and-play modules - Standardized interfaces (MCP protocol) - 90% foundation reuse</a:t>
            </a:r>
          </a:p>
          <a:p>
            <a:pPr lvl="0" marL="0" indent="0">
              <a:buNone/>
            </a:pPr>
            <a:r>
              <a:rPr b="1"/>
              <a:t>MARS “Hotel Rooms” Architecture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Foundation (Built Once)</a:t>
            </a:r>
            <a:r>
              <a:rPr/>
              <a:t>: - Docker orchestration - Neo4j knowledge graph - MinIO object storage - LiteLLM AI gateway - Squid security proxy - MLflow experiment tracking</a:t>
            </a:r>
          </a:p>
          <a:p>
            <a:pPr lvl="0" marL="0" indent="0">
              <a:buNone/>
            </a:pPr>
            <a:r>
              <a:rPr b="1"/>
              <a:t>Modular “Rooms” (Add As Needed)</a:t>
            </a:r>
            <a:r>
              <a:rPr/>
              <a:t>: - Agents (lit-monitor, orchestrator, testczar) - Services (Zotero, GitLab) - Domain workflows (materials, chemistry, biology)</a:t>
            </a:r>
          </a:p>
          <a:p>
            <a:pPr lvl="0" marL="0" indent="0">
              <a:buNone/>
            </a:pPr>
            <a:r>
              <a:rPr b="1"/>
              <a:t>Standardized Interfaces</a:t>
            </a:r>
            <a:r>
              <a:rPr/>
              <a:t>: - </a:t>
            </a:r>
            <a:r>
              <a:rPr b="1"/>
              <a:t>MCP protocol</a:t>
            </a:r>
            <a:r>
              <a:rPr/>
              <a:t>: Model Context Protocol for agent communication - Agents register available tools/capabilities - Other agents discover and invoke them - No custom integration code needed</a:t>
            </a:r>
          </a:p>
          <a:p>
            <a:pPr lvl="0" marL="0" indent="0">
              <a:buNone/>
            </a:pPr>
            <a:r>
              <a:rPr b="1"/>
              <a:t>Example - Adding Materials Domain</a:t>
            </a:r>
            <a:r>
              <a:rPr/>
              <a:t>: - Week 1: Use existing foundation (0 hrs) - Weeks 2-4: Build materials agents (80-120 hrs) - Weeks 5-7: Add domain tools (40-80 hrs) - </a:t>
            </a:r>
            <a:r>
              <a:rPr b="1"/>
              <a:t>Total: 3-7 weeks, 1-2 FTE</a:t>
            </a:r>
          </a:p>
          <a:p>
            <a:pPr lvl="0" marL="0" indent="0">
              <a:buNone/>
            </a:pPr>
            <a:r>
              <a:rPr b="1"/>
              <a:t>vs. Traditional</a:t>
            </a:r>
            <a:r>
              <a:rPr/>
              <a:t>: 6-12 months, 3-5 FTE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✅ </a:t>
            </a:r>
            <a:r>
              <a:rPr b="1"/>
              <a:t>Production-ready modular architecture</a:t>
            </a:r>
          </a:p>
        </p:txBody>
      </p:sp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Modularity</a:t>
            </a:r>
            <a:r>
              <a:rPr/>
              <a:t> </a:t>
            </a:r>
            <a:r>
              <a:rPr/>
              <a:t>Ladder: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Speed to New Capabilities</a:t>
            </a:r>
            <a:r>
              <a:rPr/>
              <a:t>: - Level 0: 6-12 months → Level 3: 3-7 weeks (75% time savings) - Level 0: 3-5 FTE → Level 3: 1-2 FTE (50% cost savings)</a:t>
            </a:r>
          </a:p>
          <a:p>
            <a:pPr lvl="0" marL="0" indent="0">
              <a:buNone/>
            </a:pPr>
            <a:r>
              <a:rPr b="1"/>
              <a:t>Reduced Risk</a:t>
            </a:r>
            <a:r>
              <a:rPr/>
              <a:t>: - Shared foundation = well-tested, proven infrastructure - New modules inherit security, observability, reliability - Failures isolated to individual modules</a:t>
            </a:r>
          </a:p>
          <a:p>
            <a:pPr lvl="0" marL="0" indent="0">
              <a:buNone/>
            </a:pPr>
            <a:r>
              <a:rPr b="1"/>
              <a:t>Scaling Research</a:t>
            </a:r>
            <a:r>
              <a:rPr/>
              <a:t>: - Add new research domains rapidly - Researchers focus on science, not infrastructure - Cross-domain insights via shared knowledge graph</a:t>
            </a:r>
          </a:p>
          <a:p>
            <a:pPr lvl="0" marL="0" indent="0">
              <a:buNone/>
            </a:pPr>
            <a:r>
              <a:rPr b="1"/>
              <a:t>Technology Evolution</a:t>
            </a:r>
            <a:r>
              <a:rPr/>
              <a:t>: - Swap AI models without rebuilding (LiteLLM abstraction) - Upgrade infrastructure without touching research code - MCP protocol enables future agent ecosystems</a:t>
            </a:r>
          </a:p>
          <a:p>
            <a:pPr lvl="0" marL="0" indent="0">
              <a:buNone/>
            </a:pPr>
            <a:r>
              <a:rPr b="1"/>
              <a:t>Real-World Impact</a:t>
            </a:r>
            <a:r>
              <a:rPr/>
              <a:t>: - Materials group operational in 5-7 weeks (not 6-12 months) - Chemistry group reuses 90% of infrastructure - Biology group reuses same foundation - Each new domain accelerates the next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Modularity</a:t>
            </a:r>
            <a:r>
              <a:rPr/>
              <a:t> </a:t>
            </a:r>
            <a:r>
              <a:rPr/>
              <a:t>Example:</a:t>
            </a:r>
            <a:r>
              <a:rPr/>
              <a:t> </a:t>
            </a:r>
            <a:r>
              <a:rPr/>
              <a:t>Materials</a:t>
            </a:r>
            <a:r>
              <a:rPr/>
              <a:t> </a:t>
            </a:r>
            <a:r>
              <a:rPr/>
              <a:t>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Timeline</a:t>
            </a:r>
            <a:r>
              <a:rPr/>
              <a:t>: 5-7 weeks (vs. 6-12 months from scratch)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Week</a:t>
                      </a:r>
                      <a:r>
                        <a:rPr b="1"/>
                        <a:t> </a:t>
                      </a: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/>
                        <a:t>existing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</a:t>
                      </a:r>
                      <a:r>
                        <a:rPr/>
                        <a:t> </a:t>
                      </a:r>
                      <a:r>
                        <a:rPr/>
                        <a:t>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Zotero,</a:t>
                      </a:r>
                      <a:r>
                        <a:rPr/>
                        <a:t> </a:t>
                      </a:r>
                      <a:r>
                        <a:rPr/>
                        <a:t>GitLab,</a:t>
                      </a:r>
                      <a:r>
                        <a:rPr/>
                        <a:t> </a:t>
                      </a:r>
                      <a:r>
                        <a:rPr/>
                        <a:t>KG</a:t>
                      </a:r>
                      <a:r>
                        <a:rPr/>
                        <a:t> </a:t>
                      </a:r>
                      <a:r>
                        <a:rPr/>
                        <a:t>(immediate)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Weeks</a:t>
                      </a:r>
                      <a:r>
                        <a:rPr b="1"/>
                        <a:t> </a:t>
                      </a:r>
                      <a:r>
                        <a:rPr b="1"/>
                        <a:t>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Materials</a:t>
                      </a:r>
                      <a:r>
                        <a:rPr/>
                        <a:t> </a:t>
                      </a:r>
                      <a:r>
                        <a:rPr/>
                        <a:t>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80-120</a:t>
                      </a:r>
                      <a:r>
                        <a:rPr/>
                        <a:t> </a:t>
                      </a:r>
                      <a:r>
                        <a:rPr/>
                        <a:t>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lit-monitor,</a:t>
                      </a:r>
                      <a:r>
                        <a:rPr/>
                        <a:t> </a:t>
                      </a:r>
                      <a:r>
                        <a:rPr/>
                        <a:t>KG</a:t>
                      </a:r>
                      <a:r>
                        <a:rPr/>
                        <a:t> </a:t>
                      </a:r>
                      <a:r>
                        <a:rPr/>
                        <a:t>schema,</a:t>
                      </a:r>
                      <a:r>
                        <a:rPr/>
                        <a:t> </a:t>
                      </a:r>
                      <a:r>
                        <a:rPr/>
                        <a:t>exp-design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Weeks</a:t>
                      </a:r>
                      <a:r>
                        <a:rPr b="1"/>
                        <a:t> </a:t>
                      </a:r>
                      <a:r>
                        <a:rPr b="1"/>
                        <a:t>5-6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Custom</a:t>
                      </a:r>
                      <a:r>
                        <a:rPr/>
                        <a:t> </a:t>
                      </a: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40-80</a:t>
                      </a:r>
                      <a:r>
                        <a:rPr/>
                        <a:t> </a:t>
                      </a:r>
                      <a:r>
                        <a:rPr/>
                        <a:t>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LAMMPS,</a:t>
                      </a:r>
                      <a:r>
                        <a:rPr/>
                        <a:t> </a:t>
                      </a:r>
                      <a:r>
                        <a:rPr/>
                        <a:t>VASP</a:t>
                      </a:r>
                      <a:r>
                        <a:rPr/>
                        <a:t> </a:t>
                      </a:r>
                      <a:r>
                        <a:rPr/>
                        <a:t>integration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5-7</a:t>
                      </a:r>
                      <a:r>
                        <a:rPr b="1"/>
                        <a:t> </a:t>
                      </a:r>
                      <a:r>
                        <a:rPr b="1"/>
                        <a:t>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120-200</a:t>
                      </a:r>
                      <a:r>
                        <a:rPr b="1"/>
                        <a:t> </a:t>
                      </a:r>
                      <a:r>
                        <a:rPr b="1"/>
                        <a:t>hrs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90%</a:t>
                      </a:r>
                      <a:r>
                        <a:rPr b="1"/>
                        <a:t> </a:t>
                      </a:r>
                      <a:r>
                        <a:rPr b="1"/>
                        <a:t>foundation</a:t>
                      </a:r>
                      <a:r>
                        <a:rPr b="1"/>
                        <a:t> </a:t>
                      </a:r>
                      <a:r>
                        <a:rPr b="1"/>
                        <a:t>reuse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Cost Comparison</a:t>
            </a:r>
            <a:r>
              <a:rPr/>
              <a:t>: Monolithic = 6-12 mo, 3-5 FTE | MARS = 5-7 wk, 1-2 FTE </a:t>
            </a:r>
            <a:r>
              <a:rPr b="1"/>
              <a:t>Savings</a:t>
            </a:r>
            <a:r>
              <a:rPr/>
              <a:t>: 75% time, 50% FTE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Security</a:t>
            </a:r>
            <a:r>
              <a:rPr/>
              <a:t> </a:t>
            </a:r>
            <a:r>
              <a:rPr/>
              <a:t>Ladder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🚪 </a:t>
            </a:r>
            <a:r>
              <a:rPr b="1"/>
              <a:t>Level 0</a:t>
            </a:r>
            <a:r>
              <a:rPr/>
              <a:t>: Open Door (public research only) - 🔑 </a:t>
            </a:r>
            <a:r>
              <a:rPr b="1"/>
              <a:t>Level 1</a:t>
            </a:r>
            <a:r>
              <a:rPr/>
              <a:t>: Lock &amp; Key (limited classified use) - 🏘️ </a:t>
            </a:r>
            <a:r>
              <a:rPr b="1"/>
              <a:t>Level 2</a:t>
            </a:r>
            <a:r>
              <a:rPr/>
              <a:t>: Gated Community (some classified with waivers) - 🏛️ </a:t>
            </a:r>
            <a:r>
              <a:rPr b="1"/>
              <a:t>Level 3</a:t>
            </a:r>
            <a:r>
              <a:rPr/>
              <a:t>: Military Base (DoD classified, air-gap capable)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s/png/security-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3200" y="1600200"/>
            <a:ext cx="11176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Security</a:t>
            </a:r>
            <a:r>
              <a:rPr/>
              <a:t> </a:t>
            </a:r>
            <a:r>
              <a:rPr/>
              <a:t>Ladder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0:</a:t>
            </a:r>
            <a:r>
              <a:rPr/>
              <a:t> </a:t>
            </a:r>
            <a:r>
              <a:rPr/>
              <a:t>Open</a:t>
            </a:r>
            <a:r>
              <a:rPr/>
              <a:t> </a:t>
            </a:r>
            <a:r>
              <a:rPr/>
              <a:t>Door</a:t>
            </a:r>
            <a:r>
              <a:rPr/>
              <a:t> </a:t>
            </a:r>
            <a:r>
              <a:rPr/>
              <a:t>(Public</a:t>
            </a:r>
            <a:r>
              <a:rPr/>
              <a:t> </a:t>
            </a:r>
            <a:r>
              <a:rPr/>
              <a:t>Research)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🚪 </a:t>
            </a:r>
            <a:r>
              <a:rPr b="1"/>
              <a:t>The Analogy</a:t>
            </a:r>
            <a:r>
              <a:rPr/>
              <a:t>: Building with no security - anyone can enter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No security controls</a:t>
            </a:r>
            <a:r>
              <a:rPr/>
              <a:t> - Cloud-hosted AI (OpenAI, Anthropic) - Data leaves your network - Public internet access required - No classification support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ChatGPT Plus, Claude.ai - Convenient but data goes to cloud - Cannot handle CUI/classified - Vendor controls your data - Internet outage = no access</a:t>
            </a:r>
          </a:p>
          <a:p>
            <a:pPr lvl="0" marL="0" indent="0">
              <a:buNone/>
            </a:pPr>
            <a:r>
              <a:rPr b="1"/>
              <a:t>Appropriate For</a:t>
            </a:r>
            <a:r>
              <a:rPr/>
              <a:t>: Public research, open-source projects, unclassified work only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Lock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(Limited</a:t>
            </a:r>
            <a:r>
              <a:rPr/>
              <a:t> </a:t>
            </a:r>
            <a:r>
              <a:rPr/>
              <a:t>Classified)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🔑 </a:t>
            </a:r>
            <a:r>
              <a:rPr b="1"/>
              <a:t>The Analogy</a:t>
            </a:r>
            <a:r>
              <a:rPr/>
              <a:t>: Building with basic locks, but windows still open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Basic security</a:t>
            </a:r>
            <a:r>
              <a:rPr/>
              <a:t> (authentication, HTTPS) - Some data stays local - Limited classified use (waivers required) - Still dependent on external services - Partial air-gap support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GitHub Copilot Enterprise - Data stays in your tenant - Authentication required - But: Still calls external APIs - But: Limited control over model</a:t>
            </a:r>
          </a:p>
          <a:p>
            <a:pPr lvl="0" marL="0" indent="0">
              <a:buNone/>
            </a:pPr>
            <a:r>
              <a:rPr b="1"/>
              <a:t>Appropriate For</a:t>
            </a:r>
            <a:r>
              <a:rPr/>
              <a:t>: CUI (Controlled Unclassified Information), some sensitive research</a:t>
            </a:r>
          </a:p>
        </p:txBody>
      </p:sp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2:</a:t>
            </a:r>
            <a:r>
              <a:rPr/>
              <a:t> </a:t>
            </a:r>
            <a:r>
              <a:rPr/>
              <a:t>Gated</a:t>
            </a:r>
            <a:r>
              <a:rPr/>
              <a:t> </a:t>
            </a:r>
            <a:r>
              <a:rPr/>
              <a:t>Community</a:t>
            </a:r>
            <a:r>
              <a:rPr/>
              <a:t> </a:t>
            </a:r>
            <a:r>
              <a:rPr/>
              <a:t>(Some</a:t>
            </a:r>
            <a:r>
              <a:rPr/>
              <a:t> </a:t>
            </a:r>
            <a:r>
              <a:rPr/>
              <a:t>Classified)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🏘️ </a:t>
            </a:r>
            <a:r>
              <a:rPr b="1"/>
              <a:t>The Analogy</a:t>
            </a:r>
            <a:r>
              <a:rPr/>
              <a:t>: Gated neighborhood with security checkpoints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Enhanced security</a:t>
            </a:r>
            <a:r>
              <a:rPr/>
              <a:t> (network isolation) - Self-hosted infrastructure - Some classified with waivers - Reduced external dependencies - Monitored access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Private cloud deployments - Self-hosted LLM infrastructure - Network segmentation - Access logging - But: May still need external model APIs - But: Not fully air-gap capable</a:t>
            </a:r>
          </a:p>
          <a:p>
            <a:pPr lvl="0" marL="0" indent="0">
              <a:buNone/>
            </a:pPr>
            <a:r>
              <a:rPr b="1"/>
              <a:t>Appropriate For</a:t>
            </a:r>
            <a:r>
              <a:rPr/>
              <a:t>: Sensitive research, some classified work with security waivers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Level</a:t>
            </a:r>
            <a:r>
              <a:rPr/>
              <a:t> </a:t>
            </a:r>
            <a:r>
              <a:rPr/>
              <a:t>3:</a:t>
            </a:r>
            <a:r>
              <a:rPr/>
              <a:t> </a:t>
            </a:r>
            <a:r>
              <a:rPr/>
              <a:t>Military</a:t>
            </a:r>
            <a:r>
              <a:rPr/>
              <a:t> </a:t>
            </a:r>
            <a:r>
              <a:rPr/>
              <a:t>Base</a:t>
            </a:r>
            <a:r>
              <a:rPr/>
              <a:t> </a:t>
            </a:r>
            <a:r>
              <a:rPr/>
              <a:t>(DoD</a:t>
            </a:r>
            <a:r>
              <a:rPr/>
              <a:t> </a:t>
            </a:r>
            <a:r>
              <a:rPr/>
              <a:t>Classified)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🏛️ </a:t>
            </a:r>
            <a:r>
              <a:rPr b="1"/>
              <a:t>The Analogy</a:t>
            </a:r>
            <a:r>
              <a:rPr/>
              <a:t>: Military installation with multiple security layers</a:t>
            </a:r>
          </a:p>
          <a:p>
            <a:pPr lvl="0" marL="0" indent="0">
              <a:buNone/>
            </a:pPr>
            <a:r>
              <a:rPr b="1"/>
              <a:t>Characteristics</a:t>
            </a:r>
            <a:r>
              <a:rPr/>
              <a:t>: - </a:t>
            </a:r>
            <a:r>
              <a:rPr b="1"/>
              <a:t>Production-ready for DoD classified</a:t>
            </a:r>
            <a:r>
              <a:rPr/>
              <a:t> - 100% self-hosted (no external calls) - Air-gap capable - Deny-by-default networking - Full audit logging</a:t>
            </a:r>
          </a:p>
          <a:p>
            <a:pPr lvl="0" marL="0" indent="0">
              <a:buNone/>
            </a:pPr>
            <a:r>
              <a:rPr b="1"/>
              <a:t>MARS Security Features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Network Security</a:t>
            </a:r>
            <a:r>
              <a:rPr/>
              <a:t>: - </a:t>
            </a:r>
            <a:r>
              <a:rPr b="1"/>
              <a:t>Squid proxy</a:t>
            </a:r>
            <a:r>
              <a:rPr/>
              <a:t>: Deny-by-default (explicit allowlist) - Air-gap capable (no internet required) - All external calls blocked unless approved</a:t>
            </a:r>
          </a:p>
          <a:p>
            <a:pPr lvl="0" marL="0" indent="0">
              <a:buNone/>
            </a:pPr>
            <a:r>
              <a:rPr b="1"/>
              <a:t>Container Security</a:t>
            </a:r>
            <a:r>
              <a:rPr/>
              <a:t>: - </a:t>
            </a:r>
            <a:r>
              <a:rPr b="1"/>
              <a:t>Sysbox</a:t>
            </a:r>
            <a:r>
              <a:rPr/>
              <a:t>: Rootless containers (UID/GID isolation) - No privileged containers - Kernel namespace isolation</a:t>
            </a:r>
          </a:p>
          <a:p>
            <a:pPr lvl="0" marL="0" indent="0">
              <a:buNone/>
            </a:pPr>
            <a:r>
              <a:rPr b="1"/>
              <a:t>Authentication</a:t>
            </a:r>
            <a:r>
              <a:rPr/>
              <a:t>: - </a:t>
            </a:r>
            <a:r>
              <a:rPr b="1"/>
              <a:t>Bearer token auth</a:t>
            </a:r>
            <a:r>
              <a:rPr/>
              <a:t>: DoD PKI/CAC support - Certificate-based authentication - Role-based access control (RBAC)</a:t>
            </a:r>
          </a:p>
          <a:p>
            <a:pPr lvl="0" marL="0" indent="0">
              <a:buNone/>
            </a:pPr>
            <a:r>
              <a:rPr b="1"/>
              <a:t>Data Security</a:t>
            </a:r>
            <a:r>
              <a:rPr/>
              <a:t>: - </a:t>
            </a:r>
            <a:r>
              <a:rPr b="1"/>
              <a:t>100% self-hosted</a:t>
            </a:r>
            <a:r>
              <a:rPr/>
              <a:t>: Local LLMs via Ollama - No data leaves network - Encrypted at rest and in transit</a:t>
            </a:r>
          </a:p>
          <a:p>
            <a:pPr lvl="0" marL="0" indent="0">
              <a:buNone/>
            </a:pPr>
            <a:r>
              <a:rPr b="1"/>
              <a:t>Audit &amp; Compliance</a:t>
            </a:r>
            <a:r>
              <a:rPr/>
              <a:t>: - </a:t>
            </a:r>
            <a:r>
              <a:rPr b="1"/>
              <a:t>Append-only logging</a:t>
            </a:r>
            <a:r>
              <a:rPr/>
              <a:t>: Full provenance tracking - Tamper-proof audit trail - Classification label propagation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✅ </a:t>
            </a:r>
            <a:r>
              <a:rPr b="1"/>
              <a:t>Production-ready for classified networks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Security</a:t>
            </a:r>
            <a:r>
              <a:rPr/>
              <a:t> </a:t>
            </a:r>
            <a:r>
              <a:rPr/>
              <a:t>Ladder: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Progression</a:t>
            </a:r>
            <a:r>
              <a:rPr/>
              <a:t>: - </a:t>
            </a:r>
            <a:r>
              <a:rPr b="1"/>
              <a:t>Level 0</a:t>
            </a:r>
            <a:r>
              <a:rPr/>
              <a:t>: Convenient but insecure (cloud AI services) - </a:t>
            </a:r>
            <a:r>
              <a:rPr b="1"/>
              <a:t>Level 1</a:t>
            </a:r>
            <a:r>
              <a:rPr/>
              <a:t>: Basic protection (some local control) - </a:t>
            </a:r>
            <a:r>
              <a:rPr b="1"/>
              <a:t>Level 2</a:t>
            </a:r>
            <a:r>
              <a:rPr/>
              <a:t>: Enhanced security (mostly self-hosted) - </a:t>
            </a:r>
            <a:r>
              <a:rPr b="1"/>
              <a:t>Level 3</a:t>
            </a:r>
            <a:r>
              <a:rPr/>
              <a:t>: DoD classified capable (full air-gap, zero trust)</a:t>
            </a:r>
          </a:p>
          <a:p>
            <a:pPr lvl="0" marL="0" indent="0">
              <a:buNone/>
            </a:pPr>
            <a:r>
              <a:rPr b="1"/>
              <a:t>MARS Today</a:t>
            </a:r>
            <a:r>
              <a:rPr/>
              <a:t>: Level 3 operational - Air-gap deployments ready - DoD classified network capable - 100% self-hosted (no external dependencies) - Deny-by-default security posture</a:t>
            </a:r>
          </a:p>
          <a:p>
            <a:pPr lvl="0" marL="0" indent="0">
              <a:buNone/>
            </a:pPr>
            <a:r>
              <a:rPr b="1"/>
              <a:t>Why This Matters</a:t>
            </a:r>
            <a:r>
              <a:rPr/>
              <a:t>: - </a:t>
            </a:r>
            <a:r>
              <a:rPr b="1"/>
              <a:t>Classified research</a:t>
            </a:r>
            <a:r>
              <a:rPr/>
              <a:t>: Can use AI on sensitive projects - </a:t>
            </a:r>
            <a:r>
              <a:rPr b="1"/>
              <a:t>Data sovereignty</a:t>
            </a:r>
            <a:r>
              <a:rPr/>
              <a:t>: Your data never leaves your network - </a:t>
            </a:r>
            <a:r>
              <a:rPr b="1"/>
              <a:t>Mission assurance</a:t>
            </a:r>
            <a:r>
              <a:rPr/>
              <a:t>: Works without internet access - </a:t>
            </a:r>
            <a:r>
              <a:rPr b="1"/>
              <a:t>Compliance</a:t>
            </a:r>
            <a:r>
              <a:rPr/>
              <a:t>: Meets DoD security requirements</a:t>
            </a:r>
          </a:p>
          <a:p>
            <a:pPr lvl="0" marL="0" indent="0">
              <a:buNone/>
            </a:pPr>
            <a:r>
              <a:rPr b="1"/>
              <a:t>Competitive Advantage</a:t>
            </a:r>
            <a:r>
              <a:rPr/>
              <a:t>: Most AI tools are Level 0-1 (cloud-dependent). MARS is Level 3 (classified-capable).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What’s</a:t>
            </a:r>
            <a:r>
              <a:rPr/>
              <a:t> </a:t>
            </a:r>
            <a:r>
              <a:rPr/>
              <a:t>Built</a:t>
            </a:r>
            <a:r>
              <a:rPr/>
              <a:t> </a:t>
            </a:r>
            <a:r>
              <a:rPr/>
              <a:t>Today</a:t>
            </a:r>
            <a:r>
              <a:rPr/>
              <a:t> </a:t>
            </a:r>
            <a:r>
              <a:rPr/>
              <a:t>(Nov</a:t>
            </a:r>
            <a:r>
              <a:rPr/>
              <a:t> </a:t>
            </a:r>
            <a:r>
              <a:rPr/>
              <a:t>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Foundation</a:t>
            </a:r>
            <a:r>
              <a:rPr/>
              <a:t> ✅: - Docker infrastructure - Neo4j (knowledge graph) - Milvus (vector DB) - 80% - MLflow (experiments) - LiteLLM (AskSage) - Ollama (local LLMs)</a:t>
            </a:r>
          </a:p>
          <a:p>
            <a:pPr lvl="0" marL="0" indent="0">
              <a:buNone/>
            </a:pPr>
            <a:r>
              <a:rPr b="1"/>
              <a:t>Research Tools</a:t>
            </a:r>
            <a:r>
              <a:rPr/>
              <a:t> ✅: - Zotero MCP (100%) - GitLab MCP (50%, Phase 6A) - PlantUML/SysML (100%)</a:t>
            </a:r>
          </a:p>
          <a:p>
            <a:pPr lvl="0" marL="0" indent="0">
              <a:buNone/>
            </a:pPr>
            <a:r>
              <a:rPr b="1"/>
              <a:t>Agents</a:t>
            </a:r>
            <a:r>
              <a:rPr/>
              <a:t> ✅: - DocCzar (doc validation) - TestCzar (test coordination) - KG Agent (REQUIREMENT ingestion)</a:t>
            </a:r>
          </a:p>
          <a:p>
            <a:pPr lvl="0" marL="0" indent="0">
              <a:buNone/>
            </a:pPr>
            <a:r>
              <a:rPr b="1"/>
              <a:t>Dev Infrastructure</a:t>
            </a:r>
            <a:r>
              <a:rPr/>
              <a:t> ✅: - E6: Containerized dev (Docker-in-Docker) - E8: Parallel orchestration (5-25 sessions) - E13: Sprint protection (56 tests) - </a:t>
            </a:r>
            <a:r>
              <a:rPr b="1"/>
              <a:t>434+ tests</a:t>
            </a:r>
            <a:r>
              <a:rPr/>
              <a:t> across codebase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Roadmap</a:t>
            </a:r>
            <a:r>
              <a:rPr/>
              <a:t> </a:t>
            </a:r>
            <a:r>
              <a:rPr/>
              <a:t>(v1.0:</a:t>
            </a:r>
            <a:r>
              <a:rPr/>
              <a:t> </a:t>
            </a:r>
            <a:r>
              <a:rPr/>
              <a:t>Feb-Mar</a:t>
            </a:r>
            <a:r>
              <a:rPr/>
              <a:t> </a:t>
            </a:r>
            <a:r>
              <a:rPr/>
              <a:t>2026)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C2</a:t>
                      </a:r>
                      <a:r>
                        <a:rPr/>
                        <a:t> </a:t>
                      </a:r>
                      <a:r>
                        <a:rPr/>
                        <a:t>(Zotero)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Production-ready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C6</a:t>
                      </a:r>
                      <a:r>
                        <a:rPr/>
                        <a:t> </a:t>
                      </a:r>
                      <a:r>
                        <a:rPr/>
                        <a:t>(SysML)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Diagram</a:t>
                      </a:r>
                      <a:r>
                        <a:rPr/>
                        <a:t> </a:t>
                      </a:r>
                      <a:r>
                        <a:rPr/>
                        <a:t>generation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C16</a:t>
                      </a:r>
                      <a:r>
                        <a:rPr/>
                        <a:t> </a:t>
                      </a:r>
                      <a:r>
                        <a:rPr/>
                        <a:t>(RAG)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MERGED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Semantic</a:t>
                      </a:r>
                      <a:r>
                        <a:rPr/>
                        <a:t> </a:t>
                      </a:r>
                      <a:r>
                        <a:rPr/>
                        <a:t>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C3</a:t>
                      </a:r>
                      <a:r>
                        <a:rPr/>
                        <a:t> </a:t>
                      </a:r>
                      <a:r>
                        <a:rPr/>
                        <a:t>(GitLab)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🚧</a:t>
                      </a:r>
                      <a:r>
                        <a:rPr/>
                        <a:t> </a:t>
                      </a:r>
                      <a:r>
                        <a:rPr/>
                        <a:t>ACTIVE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Phase</a:t>
                      </a:r>
                      <a:r>
                        <a:rPr/>
                        <a:t> </a:t>
                      </a:r>
                      <a:r>
                        <a:rPr/>
                        <a:t>6A</a:t>
                      </a:r>
                      <a:r>
                        <a:rPr/>
                        <a:t> </a:t>
                      </a:r>
                      <a:r>
                        <a:rPr/>
                        <a:t>(79</a:t>
                      </a:r>
                      <a:r>
                        <a:rPr/>
                        <a:t> </a:t>
                      </a:r>
                      <a:r>
                        <a:rPr/>
                        <a:t>tools)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C4</a:t>
                      </a:r>
                      <a:r>
                        <a:rPr/>
                        <a:t> </a:t>
                      </a:r>
                      <a:r>
                        <a:rPr/>
                        <a:t>(Infra)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🚧</a:t>
                      </a:r>
                      <a:r>
                        <a:rPr/>
                        <a:t> </a:t>
                      </a:r>
                      <a:r>
                        <a:rPr/>
                        <a:t>ACTIVE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16/20</a:t>
                      </a:r>
                      <a:r>
                        <a:rPr/>
                        <a:t> </a:t>
                      </a:r>
                      <a:r>
                        <a:rPr/>
                        <a:t>enhancements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C11</a:t>
                      </a:r>
                      <a:r>
                        <a:rPr/>
                        <a:t> </a:t>
                      </a:r>
                      <a:r>
                        <a:rPr/>
                        <a:t>(LangGraph)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🚧</a:t>
                      </a:r>
                      <a:r>
                        <a:rPr/>
                        <a:t> </a:t>
                      </a:r>
                      <a:r>
                        <a:rPr/>
                        <a:t>ACTIVE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HITL</a:t>
                      </a:r>
                      <a:r>
                        <a:rPr/>
                        <a:t> </a:t>
                      </a:r>
                      <a:r>
                        <a:rPr/>
                        <a:t>P4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C1</a:t>
                      </a:r>
                      <a:r>
                        <a:rPr/>
                        <a:t> </a:t>
                      </a:r>
                      <a:r>
                        <a:rPr/>
                        <a:t>(LiteLLM)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⏸️</a:t>
                      </a:r>
                      <a:r>
                        <a:rPr/>
                        <a:t> </a:t>
                      </a:r>
                      <a:r>
                        <a:rPr/>
                        <a:t>BLOCKED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AskSage</a:t>
                      </a:r>
                      <a:r>
                        <a:rPr/>
                        <a:t> </a:t>
                      </a:r>
                      <a:r>
                        <a:rPr/>
                        <a:t>streaming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C5</a:t>
                      </a:r>
                      <a:r>
                        <a:rPr/>
                        <a:t> </a:t>
                      </a:r>
                      <a:r>
                        <a:rPr/>
                        <a:t>(Lit</a:t>
                      </a:r>
                      <a:r>
                        <a:rPr/>
                        <a:t> </a:t>
                      </a:r>
                      <a:r>
                        <a:rPr/>
                        <a:t>Research)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⏸️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Q1</a:t>
                      </a:r>
                      <a:r>
                        <a:rPr/>
                        <a:t> </a:t>
                      </a:r>
                      <a:r>
                        <a:rPr/>
                        <a:t>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Orchestrator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monitor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C12-C15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⏸️</a:t>
                      </a:r>
                      <a:r>
                        <a:rPr/>
                        <a:t> </a:t>
                      </a:r>
                      <a:r>
                        <a:rPr/>
                        <a:t>PLANNED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Coder,</a:t>
                      </a:r>
                      <a:r>
                        <a:rPr/>
                        <a:t> </a:t>
                      </a:r>
                      <a:r>
                        <a:rPr/>
                        <a:t>pub-writer</a:t>
                      </a:r>
                      <a:r>
                        <a:rPr/>
                        <a:t> </a:t>
                      </a:r>
                      <a:r>
                        <a:rPr/>
                        <a:t>agents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4 complete, 4 active, 9 planned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</a:t>
            </a:r>
            <a:r>
              <a:rPr/>
              <a:t> </a:t>
            </a:r>
            <a:r>
              <a:rPr/>
              <a:t>Cases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Accelerates</a:t>
            </a:r>
            <a:r>
              <a:rPr/>
              <a:t> </a:t>
            </a:r>
            <a:r>
              <a:rPr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Literature Management</a:t>
            </a:r>
            <a:r>
              <a:rPr/>
              <a:t> ✅: - Zotero integration - 10 MCP tools - Bidirectional sync</a:t>
            </a:r>
          </a:p>
          <a:p>
            <a:pPr lvl="0" marL="0" indent="0">
              <a:buNone/>
            </a:pPr>
            <a:r>
              <a:rPr b="1"/>
              <a:t>2. Documentation</a:t>
            </a:r>
            <a:r>
              <a:rPr/>
              <a:t> ✅: - DocCzar validates 109 docs - Broken links, citations - Standards enforcement</a:t>
            </a:r>
          </a:p>
          <a:p>
            <a:pPr lvl="0" marL="0" indent="0">
              <a:buNone/>
            </a:pPr>
            <a:r>
              <a:rPr b="1"/>
              <a:t>3. Knowledge Graph</a:t>
            </a:r>
            <a:r>
              <a:rPr/>
              <a:t> ✅: - Neo4j tracks paper → requirement → design → experiment - REQUIREMENT ingestion - Cross-domain synthesis</a:t>
            </a:r>
          </a:p>
          <a:p>
            <a:pPr lvl="0" marL="0" indent="0">
              <a:buNone/>
            </a:pPr>
            <a:r>
              <a:rPr b="1"/>
              <a:t>4. Semantic Search</a:t>
            </a:r>
            <a:r>
              <a:rPr/>
              <a:t> ⏳ 80%: - ~40% token reduction - Automatic context retrieval - (Blocked: upstream MCP bug #226)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Makes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Different?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LangGraph/AutoGen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Cloud</a:t>
                      </a:r>
                      <a:r>
                        <a:rPr/>
                        <a:t> </a:t>
                      </a:r>
                      <a:r>
                        <a:rPr/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Custom</a:t>
                      </a:r>
                      <a:r>
                        <a:rPr/>
                        <a:t> </a:t>
                      </a:r>
                      <a:r>
                        <a:rPr/>
                        <a:t>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MARS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Framework</a:t>
                      </a:r>
                      <a:r>
                        <a:rPr/>
                        <a:t> </a:t>
                      </a:r>
                      <a:r>
                        <a:rPr/>
                        <a:t>(DIY)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Single-agent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Complete</a:t>
                      </a:r>
                      <a:r>
                        <a:rPr b="1"/>
                        <a:t> </a:t>
                      </a:r>
                      <a:r>
                        <a:rPr b="1"/>
                        <a:t>system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Infrastructure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You</a:t>
                      </a:r>
                      <a:r>
                        <a:rPr/>
                        <a:t> </a:t>
                      </a:r>
                      <a:r>
                        <a:rPr/>
                        <a:t>provide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☁️</a:t>
                      </a:r>
                      <a:r>
                        <a:rPr/>
                        <a:t> </a:t>
                      </a:r>
                      <a:r>
                        <a:rPr/>
                        <a:t>Vendor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☁️</a:t>
                      </a:r>
                      <a:r>
                        <a:rPr/>
                        <a:t> </a:t>
                      </a:r>
                      <a:r>
                        <a:rPr/>
                        <a:t>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Self-hosted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(DIY)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LangGraph</a:t>
                      </a:r>
                      <a:r>
                        <a:rPr b="1"/>
                        <a:t> </a:t>
                      </a:r>
                      <a:r>
                        <a:rPr b="1"/>
                        <a:t>built-in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You</a:t>
                      </a:r>
                      <a:r>
                        <a:rPr/>
                        <a:t> </a:t>
                      </a:r>
                      <a:r>
                        <a:rPr/>
                        <a:t>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Vendor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Provenance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Possible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100%</a:t>
                      </a:r>
                      <a:r>
                        <a:rPr b="1"/>
                        <a:t> </a:t>
                      </a:r>
                      <a:r>
                        <a:rPr b="1"/>
                        <a:t>capable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Research-Specific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Generic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Enterprise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Generic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Research</a:t>
                      </a:r>
                      <a:r>
                        <a:rPr b="1"/>
                        <a:t> </a:t>
                      </a:r>
                      <a:r>
                        <a:rPr b="1"/>
                        <a:t>workflows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Lock-In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 b="1"/>
                        <a:t>Open</a:t>
                      </a:r>
                      <a:r>
                        <a:rPr b="1"/>
                        <a:t> </a:t>
                      </a:r>
                      <a:r>
                        <a:rPr b="1"/>
                        <a:t>standards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Unique</a:t>
            </a:r>
            <a:r>
              <a:rPr/>
              <a:t>: Research-first + Orchestration + Governance + Independence + Classified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Extensibility:</a:t>
            </a:r>
            <a:r>
              <a:rPr/>
              <a:t> </a:t>
            </a:r>
            <a:r>
              <a:rPr/>
              <a:t>50+</a:t>
            </a:r>
            <a:r>
              <a:rPr/>
              <a:t> </a:t>
            </a:r>
            <a:r>
              <a:rPr/>
              <a:t>MCP</a:t>
            </a:r>
            <a:r>
              <a:rPr/>
              <a:t> </a:t>
            </a:r>
            <a:r>
              <a:rPr/>
              <a:t>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Modularity</a:t>
            </a:r>
            <a:r>
              <a:rPr/>
              <a:t>: Each integration </a:t>
            </a:r>
            <a:r>
              <a:rPr b="1"/>
              <a:t>~1 hour</a:t>
            </a:r>
            <a:r>
              <a:rPr/>
              <a:t> (vs. ~80 hours custom)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Research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ROS2,</a:t>
                      </a:r>
                      <a:r>
                        <a:rPr/>
                        <a:t> </a:t>
                      </a:r>
                      <a:r>
                        <a:rPr/>
                        <a:t>SLURM,</a:t>
                      </a:r>
                      <a:r>
                        <a:rPr/>
                        <a:t> </a:t>
                      </a:r>
                      <a:r>
                        <a:rPr/>
                        <a:t>Overleaf,</a:t>
                      </a:r>
                      <a:r>
                        <a:rPr/>
                        <a:t> </a:t>
                      </a:r>
                      <a:r>
                        <a:rPr/>
                        <a:t>LabView,</a:t>
                      </a:r>
                      <a:r>
                        <a:rPr/>
                        <a:t> </a:t>
                      </a:r>
                      <a:r>
                        <a:rPr/>
                        <a:t>MATLAB,</a:t>
                      </a:r>
                      <a:r>
                        <a:rPr/>
                        <a:t> </a:t>
                      </a:r>
                      <a:r>
                        <a:rPr/>
                        <a:t>SolidWorks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PubMed,</a:t>
                      </a:r>
                      <a:r>
                        <a:rPr/>
                        <a:t> </a:t>
                      </a:r>
                      <a:r>
                        <a:rPr/>
                        <a:t>IEEE,</a:t>
                      </a:r>
                      <a:r>
                        <a:rPr/>
                        <a:t> </a:t>
                      </a:r>
                      <a:r>
                        <a:rPr/>
                        <a:t>Web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Science,</a:t>
                      </a:r>
                      <a:r>
                        <a:rPr/>
                        <a:t> </a:t>
                      </a:r>
                      <a:r>
                        <a:rPr/>
                        <a:t>arXiv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Lab</a:t>
                      </a:r>
                      <a:r>
                        <a:rPr b="1"/>
                        <a:t> </a:t>
                      </a:r>
                      <a:r>
                        <a:rPr b="1"/>
                        <a:t>Mgmt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eLabFTW,</a:t>
                      </a:r>
                      <a:r>
                        <a:rPr/>
                        <a:t> </a:t>
                      </a:r>
                      <a:r>
                        <a:rPr/>
                        <a:t>Benchling,</a:t>
                      </a:r>
                      <a:r>
                        <a:rPr/>
                        <a:t> </a:t>
                      </a:r>
                      <a:r>
                        <a:rPr/>
                        <a:t>LabArchives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Collab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Slack,</a:t>
                      </a:r>
                      <a:r>
                        <a:rPr/>
                        <a:t> </a:t>
                      </a:r>
                      <a:r>
                        <a:rPr/>
                        <a:t>Teams,</a:t>
                      </a:r>
                      <a:r>
                        <a:rPr/>
                        <a:t> </a:t>
                      </a:r>
                      <a:r>
                        <a:rPr/>
                        <a:t>Jira,</a:t>
                      </a:r>
                      <a:r>
                        <a:rPr/>
                        <a:t> </a:t>
                      </a:r>
                      <a:r>
                        <a:rPr/>
                        <a:t>Confluence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Hardware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Oscilloscopes,</a:t>
                      </a:r>
                      <a:r>
                        <a:rPr/>
                        <a:t> </a:t>
                      </a:r>
                      <a:r>
                        <a:rPr/>
                        <a:t>spectrometers,</a:t>
                      </a:r>
                      <a:r>
                        <a:rPr/>
                        <a:t> </a:t>
                      </a:r>
                      <a:r>
                        <a:rPr/>
                        <a:t>microscopes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Simulation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ANSYS,</a:t>
                      </a:r>
                      <a:r>
                        <a:rPr/>
                        <a:t> </a:t>
                      </a:r>
                      <a:r>
                        <a:rPr/>
                        <a:t>COMSOL,</a:t>
                      </a:r>
                      <a:r>
                        <a:rPr/>
                        <a:t> </a:t>
                      </a:r>
                      <a:r>
                        <a:rPr/>
                        <a:t>OpenFOAM,</a:t>
                      </a:r>
                      <a:r>
                        <a:rPr/>
                        <a:t> </a:t>
                      </a:r>
                      <a:r>
                        <a:rPr/>
                        <a:t>GROMACS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Planned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Current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Zotero</a:t>
                      </a:r>
                      <a:r>
                        <a:rPr/>
                        <a:t> </a:t>
                      </a:r>
                      <a:r>
                        <a:rPr/>
                        <a:t>(lit),</a:t>
                      </a:r>
                      <a:r>
                        <a:rPr/>
                        <a:t> </a:t>
                      </a:r>
                      <a:r>
                        <a:rPr/>
                        <a:t>GitLab</a:t>
                      </a:r>
                      <a:r>
                        <a:rPr/>
                        <a:t> </a:t>
                      </a:r>
                      <a:r>
                        <a:rPr/>
                        <a:t>(project)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Operational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Timeline</a:t>
            </a:r>
            <a:r>
              <a:rPr/>
              <a:t>: 3-4 weeks per integration (testing, not coding)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Standards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Communication</a:t>
            </a:r>
            <a:r>
              <a:rPr/>
              <a:t>: - </a:t>
            </a:r>
            <a:r>
              <a:rPr b="1"/>
              <a:t>Agent-to-Agent (A2A)</a:t>
            </a:r>
            <a:r>
              <a:rPr/>
              <a:t>: GraphQL federation (in dev) - </a:t>
            </a:r>
            <a:r>
              <a:rPr b="1"/>
              <a:t>Agent-to-Tool (MCP)</a:t>
            </a:r>
            <a:r>
              <a:rPr/>
              <a:t>: Model Context Protocol (operational) - </a:t>
            </a:r>
            <a:r>
              <a:rPr b="1"/>
              <a:t>Human-to-Agent</a:t>
            </a:r>
            <a:r>
              <a:rPr/>
              <a:t>: Conversational + approval gates</a:t>
            </a:r>
          </a:p>
          <a:p>
            <a:pPr lvl="0" marL="0" indent="0">
              <a:buNone/>
            </a:pPr>
            <a:r>
              <a:rPr b="1"/>
              <a:t>Observability</a:t>
            </a:r>
            <a:r>
              <a:rPr/>
              <a:t>: - Prometheus metrics - Health endpoints - X-Trace-Id propagation - Append-only provenance</a:t>
            </a:r>
          </a:p>
          <a:p>
            <a:pPr lvl="0" marL="0" indent="0">
              <a:buNone/>
            </a:pPr>
            <a:r>
              <a:rPr b="1"/>
              <a:t>Development</a:t>
            </a:r>
            <a:r>
              <a:rPr/>
              <a:t> (mars-dev): - </a:t>
            </a:r>
            <a:r>
              <a:rPr b="1"/>
              <a:t>37 ADRs</a:t>
            </a:r>
            <a:r>
              <a:rPr/>
              <a:t>: Documented decisions - </a:t>
            </a:r>
            <a:r>
              <a:rPr b="1"/>
              <a:t>Pre-commit hooks</a:t>
            </a:r>
            <a:r>
              <a:rPr/>
              <a:t>: Validation, tests - </a:t>
            </a:r>
            <a:r>
              <a:rPr b="1"/>
              <a:t>E8 orchestration</a:t>
            </a:r>
            <a:r>
              <a:rPr/>
              <a:t>: 5-25 parallel CCC sessions - </a:t>
            </a:r>
            <a:r>
              <a:rPr b="1"/>
              <a:t>Session mgmt</a:t>
            </a:r>
            <a:r>
              <a:rPr/>
              <a:t>: Export/import, git integration</a:t>
            </a:r>
          </a:p>
          <a:p>
            <a:pPr lvl="0" marL="0" indent="0">
              <a:buNone/>
            </a:pPr>
            <a:r>
              <a:rPr b="1"/>
              <a:t>Security</a:t>
            </a:r>
            <a:r>
              <a:rPr/>
              <a:t>: - Deny-by-default (Squid) - Rootless containers (Sysbox) - Bearer token auth (DoD PKI) - Secret redaction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Organizational</a:t>
            </a:r>
            <a:r>
              <a:rPr/>
              <a:t> </a:t>
            </a:r>
            <a:r>
              <a:rPr/>
              <a:t>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Phase 1: Pilot</a:t>
            </a:r>
            <a:r>
              <a:rPr/>
              <a:t> (3-4 months): - 1-2 research groups adopt foundation - Prove value in real programs - Build expertise - Cost: 2-3 FTE during setup</a:t>
            </a:r>
          </a:p>
          <a:p>
            <a:pPr lvl="0" marL="0" indent="0">
              <a:buNone/>
            </a:pPr>
            <a:r>
              <a:rPr b="1"/>
              <a:t>Phase 2: Expansion</a:t>
            </a:r>
            <a:r>
              <a:rPr/>
              <a:t> (6-9 months): - 5-7 additional groups (parallel) - Domain-specific agents (materials, chemistry, biology) - Shared foundation benefits all - Cost: &lt;0.2 FTE per group (shared infra team)</a:t>
            </a:r>
          </a:p>
          <a:p>
            <a:pPr lvl="0" marL="0" indent="0">
              <a:buNone/>
            </a:pPr>
            <a:r>
              <a:rPr b="1"/>
              <a:t>Phase 3: Production</a:t>
            </a:r>
            <a:r>
              <a:rPr/>
              <a:t> (12+ months): - Organization-wide capability - Institutional memory compounds - 3-5× force multiplication achieved - Cost: Shared maintenance (~1-2 FTE)</a:t>
            </a:r>
          </a:p>
          <a:p>
            <a:pPr lvl="0" marL="0" indent="0">
              <a:buNone/>
            </a:pPr>
            <a:r>
              <a:rPr b="1"/>
              <a:t>Timeline</a:t>
            </a:r>
            <a:r>
              <a:rPr/>
              <a:t>: </a:t>
            </a:r>
            <a:r>
              <a:rPr b="1"/>
              <a:t>5-7 weeks per new group</a:t>
            </a:r>
            <a:r>
              <a:rPr/>
              <a:t> (modularity enables parallelization)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Part</a:t>
            </a:r>
            <a:r>
              <a:rPr/>
              <a:t> </a:t>
            </a:r>
            <a:r>
              <a:rPr/>
              <a:t>6: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Implementation</a:t>
            </a:r>
            <a:r>
              <a:rPr/>
              <a:t> </a:t>
            </a:r>
            <a:r>
              <a:rPr/>
              <a:t>Details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Technical</a:t>
            </a:r>
            <a:r>
              <a:rPr/>
              <a:t> </a:t>
            </a:r>
            <a:r>
              <a:rPr/>
              <a:t>Deep</a:t>
            </a:r>
            <a:r>
              <a:rPr/>
              <a:t> </a:t>
            </a:r>
            <a:r>
              <a:rPr/>
              <a:t>Dive:</a:t>
            </a:r>
            <a:r>
              <a:rPr/>
              <a:t> </a:t>
            </a: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Purpose</a:t>
            </a:r>
            <a:r>
              <a:rPr/>
              <a:t>: Explain key MARS implementation choices</a:t>
            </a:r>
          </a:p>
          <a:p>
            <a:pPr lvl="0" marL="0" indent="0">
              <a:buNone/>
            </a:pPr>
            <a:r>
              <a:rPr b="1"/>
              <a:t>Topics</a:t>
            </a:r>
            <a:r>
              <a:rPr/>
              <a:t>: 1. Git Worktrees - Parallel development 2. AskSage Integration - DoD AI access via LiteLLM 3. Sysbox Runtime - Secure containerization 4. Git Submodules - Dependency management</a:t>
            </a:r>
          </a:p>
          <a:p>
            <a:pPr lvl="0" marL="0" indent="0">
              <a:buNone/>
            </a:pPr>
            <a:r>
              <a:rPr b="1"/>
              <a:t>Audience</a:t>
            </a:r>
            <a:r>
              <a:rPr/>
              <a:t>: Technical stakeholders, infrastructure teams</a:t>
            </a:r>
          </a:p>
        </p:txBody>
      </p:sp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Worktrees:</a:t>
            </a:r>
            <a:r>
              <a:rPr/>
              <a:t> </a:t>
            </a:r>
            <a:r>
              <a:rPr/>
              <a:t>Parallel</a:t>
            </a:r>
            <a:r>
              <a:rPr/>
              <a:t> </a:t>
            </a:r>
            <a:r>
              <a:rPr/>
              <a:t>Development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Problem:</a:t>
            </a:r>
            <a:r>
              <a:rPr/>
              <a:t> </a:t>
            </a:r>
            <a:r>
              <a:rPr/>
              <a:t>Linear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Traditional Git Workflow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main branch (work blocked while testing)
    ↓
Create feature branch
    ↓
Make changes (can't work on other features)
    ↓
Test, iterate
    ↓
Merge back to main
    ↓
Switch to next feature</a:t>
            </a:r>
          </a:p>
          <a:p>
            <a:pPr lvl="0" marL="0" indent="0">
              <a:buNone/>
            </a:pPr>
            <a:r>
              <a:rPr b="1"/>
              <a:t>Limitations</a:t>
            </a:r>
            <a:r>
              <a:rPr/>
              <a:t>: - ❌ One task at a time per repository - ❌ Frequent context switching - ❌ Long-running tasks block other work - ❌ Testing requires checkout/stash dance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Worktrees: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What is a worktree?</a:t>
            </a:r>
            <a:r>
              <a:rPr/>
              <a:t> &gt; Multiple working directories for the same repository, each with its own branch</a:t>
            </a:r>
          </a:p>
          <a:p>
            <a:pPr lvl="0" marL="0" indent="0">
              <a:buNone/>
            </a:pPr>
            <a:r>
              <a:rPr b="1"/>
              <a:t>Visual Concept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Main Repository (/workspace/mars-v2)
    ↓ branch: main
Worktree 1 (/workspace/mars-v2/mars-dev/worktrees/feature-a)
    ↓ branch: feature/a
Worktree 2 (/workspace/mars-v2/mars-dev/worktrees/feature-b)
    ↓ branch: feature/b
Worktree 3 (/workspace/mars-v2/mars-dev/worktrees/testing)
    ↓ branch: test/integration</a:t>
            </a:r>
          </a:p>
          <a:p>
            <a:pPr lvl="0" marL="0" indent="0">
              <a:buNone/>
            </a:pPr>
            <a:r>
              <a:rPr b="1"/>
              <a:t>All share</a:t>
            </a:r>
            <a:r>
              <a:rPr/>
              <a:t>: Same .git history, tags, remotes </a:t>
            </a:r>
            <a:r>
              <a:rPr b="1"/>
              <a:t>Each has</a:t>
            </a:r>
            <a:r>
              <a:rPr/>
              <a:t>: Own working directory, own branch, own state</a:t>
            </a:r>
          </a:p>
        </p:txBody>
      </p:sp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Worktrees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Development</a:t>
            </a:r>
          </a:p>
        </p:txBody>
      </p:sp>
      <p:pic>
        <p:nvPicPr>
          <p:cNvPr descr="diagrams/png/git-worktrees-work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527300"/>
            <a:ext cx="82296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Worktrees</a:t>
            </a:r>
            <a:r>
              <a:rPr/>
              <a:t> </a:t>
            </a:r>
            <a:r>
              <a:rPr/>
              <a:t>Workflow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How MARS Uses Worktrees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Parallel Sprint Development</a:t>
            </a:r>
            <a:r>
              <a:rPr/>
              <a:t> (E8 Orchestration): - </a:t>
            </a:r>
            <a:r>
              <a:rPr b="1"/>
              <a:t>5-25 concurrent CCC sessions</a:t>
            </a:r>
            <a:r>
              <a:rPr/>
              <a:t>, each in own worktree - Example: Sprint 7 (Wave 2) = 8 worktrees simultaneously - Each worktree = isolated environment for one task</a:t>
            </a:r>
          </a:p>
          <a:p>
            <a:pPr lvl="0" marL="0" indent="0">
              <a:buNone/>
            </a:pPr>
            <a:r>
              <a:rPr b="1"/>
              <a:t>Typical MARS Worktree Structure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mars-v2/                           # Main repo (read-only during sprints)
├── mars-dev/worktrees/
│   ├── c2-zotero-fixes/          # Component 2 work
│   ├── c4-infrastructure/         # Component 4 enhancements
│   ├── s7-wave2-agent-scaffold/   # Sprint 7 task
│   ├── s7-wave2-testing/          # Parallel testing
│   └── mars-writing/              # Documentation sessions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Worktrees:</a:t>
            </a:r>
            <a:r>
              <a:rPr/>
              <a:t> </a:t>
            </a:r>
            <a:r>
              <a:rPr/>
              <a:t>Benefits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True Parallel Development</a:t>
            </a:r>
            <a:r>
              <a:rPr/>
              <a:t>: - Work on C2 (Zotero) while C4 (Infrastructure) builds - Run tests in one worktree, write code in another - Documentation in one worktree, implementation in another</a:t>
            </a:r>
          </a:p>
          <a:p>
            <a:pPr lvl="0" marL="0" indent="0">
              <a:buNone/>
            </a:pPr>
            <a:r>
              <a:rPr b="1"/>
              <a:t>2. No Context Loss</a:t>
            </a:r>
            <a:r>
              <a:rPr/>
              <a:t>: - Each worktree preserves full IDE state - Terminal history stays relevant - No constant branch switching</a:t>
            </a:r>
          </a:p>
          <a:p>
            <a:pPr lvl="0" marL="0" indent="0">
              <a:buNone/>
            </a:pPr>
            <a:r>
              <a:rPr b="1"/>
              <a:t>3. Isolated Testing</a:t>
            </a:r>
            <a:r>
              <a:rPr/>
              <a:t>: - Test changes without affecting main development - Multiple test configurations simultaneously - Integration testing in dedicated worktree</a:t>
            </a:r>
          </a:p>
          <a:p>
            <a:pPr lvl="0" marL="0" indent="0">
              <a:buNone/>
            </a:pPr>
            <a:r>
              <a:rPr b="1"/>
              <a:t>4. Sprint Orchestration</a:t>
            </a:r>
            <a:r>
              <a:rPr/>
              <a:t> (E8): - 5-25 parallel CCC sessions (one per worktree) - Zellij dashboard shows all sessions - Merge queue for controlled integration</a:t>
            </a:r>
          </a:p>
          <a:p>
            <a:pPr lvl="0" marL="0" indent="0">
              <a:buNone/>
            </a:pPr>
            <a:r>
              <a:rPr b="1"/>
              <a:t>Productivity Gain</a:t>
            </a:r>
            <a:r>
              <a:rPr/>
              <a:t>: </a:t>
            </a:r>
            <a:r>
              <a:rPr b="1"/>
              <a:t>40-60% faster</a:t>
            </a:r>
            <a:r>
              <a:rPr/>
              <a:t> multi-task development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Worktrees: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Primer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Create a worktree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From main repository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add ../worktrees/feature-x -b feature/x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Result: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New directory: ../worktrees/feature-x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New branch: feature/x (checked out in worktree)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Ready to work immediately</a:t>
            </a:r>
          </a:p>
          <a:p>
            <a:pPr lvl="0" marL="0" indent="0">
              <a:buNone/>
            </a:pPr>
            <a:r>
              <a:rPr b="1"/>
              <a:t>List all worktrees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worktree list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Output: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/workspace/mars-v2              abc1234 [main]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/workspace/mars-v2/../feature-x def5678 [feature/x]</a:t>
            </a:r>
          </a:p>
          <a:p>
            <a:pPr lvl="0" marL="0" indent="0">
              <a:buNone/>
            </a:pPr>
            <a:r>
              <a:rPr b="1"/>
              <a:t>Work in worktree</a:t>
            </a:r>
            <a:r>
              <a:rPr/>
              <a:t> (completely isolated):</a:t>
            </a:r>
          </a:p>
          <a:p>
            <a:pPr lvl="0" indent="0">
              <a:buNone/>
            </a:pPr>
            <a:r>
              <a:rPr>
                <a:latin typeface="Courier"/>
              </a:rPr>
              <a:t>cd ../worktrees/feature-x</a:t>
            </a:r>
            <a:br/>
            <a:r>
              <a:rPr>
                <a:latin typeface="Courier"/>
              </a:rPr>
              <a:t>vim code.py               # Make changes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code.py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"feat: Add feature X"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Main repo unaffected, other worktrees unaffected</a:t>
            </a:r>
          </a:p>
          <a:p>
            <a:pPr lvl="0" marL="0" indent="0">
              <a:buNone/>
            </a:pPr>
            <a:r>
              <a:rPr b="1"/>
              <a:t>Merge back to main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cd /workspace/mars-v2    # Back to main repo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merge feature/x      # Integrate changes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Worktrees: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E8</a:t>
            </a:r>
            <a:r>
              <a:rPr/>
              <a:t> </a:t>
            </a:r>
            <a:r>
              <a:rPr/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E8 Parallel Orchestration</a:t>
            </a:r>
            <a:r>
              <a:rPr/>
              <a:t> uses worktrees for </a:t>
            </a:r>
            <a:r>
              <a:rPr b="1"/>
              <a:t>sprint management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Sprint Planning</a:t>
            </a:r>
            <a:r>
              <a:rPr/>
              <a:t> (</a:t>
            </a:r>
            <a:r>
              <a:rPr>
                <a:latin typeface="Courier"/>
              </a:rPr>
              <a:t>mars-dev/sprints/s7-wave2/sprint.yaml</a:t>
            </a:r>
            <a:r>
              <a:rPr/>
              <a:t>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tasks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T1-agent-scaffold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worktree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s7-wave2-agent-scaffold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branch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feat/s7-wave2-agent-scaffold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T2-testing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worktree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s7-wave2-testing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branch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feat/s7-wave2-testing</a:t>
            </a:r>
          </a:p>
          <a:p>
            <a:pPr lvl="0" marL="0" indent="0">
              <a:buNone/>
            </a:pPr>
            <a:r>
              <a:rPr b="1"/>
              <a:t>Automated Worktree Creation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Script: mars-dev/scripts/create-worktrees.sh</a:t>
            </a:r>
            <a:br/>
            <a:r>
              <a:rPr>
                <a:latin typeface="Courier"/>
              </a:rPr>
              <a:t>./mars-dev/scripts/create-worktrees.sh sprints/s7-wave2/sprint.yaml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Creates 8 worktrees, 8 branches, 8 Zellij panes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Each ready for parallel CCC session</a:t>
            </a:r>
          </a:p>
          <a:p>
            <a:pPr lvl="0" marL="0" indent="0">
              <a:buNone/>
            </a:pPr>
            <a:r>
              <a:rPr b="1"/>
              <a:t>Result</a:t>
            </a:r>
            <a:r>
              <a:rPr/>
              <a:t>: </a:t>
            </a:r>
            <a:r>
              <a:rPr b="1"/>
              <a:t>8 tasks progressing simultaneously</a:t>
            </a:r>
            <a:r>
              <a:rPr/>
              <a:t> instead of sequentially</a:t>
            </a:r>
          </a:p>
        </p:txBody>
      </p:sp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Worktrees:</a:t>
            </a:r>
            <a:r>
              <a:rPr/>
              <a:t> </a:t>
            </a:r>
            <a:r>
              <a:rPr/>
              <a:t>Real-World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Scenario</a:t>
            </a:r>
            <a:r>
              <a:rPr/>
              <a:t>: Sprint 7 Wave 2 (8 parallel tasks)</a:t>
            </a:r>
          </a:p>
          <a:p>
            <a:pPr lvl="0" marL="0" indent="0">
              <a:buNone/>
            </a:pPr>
            <a:r>
              <a:rPr b="1"/>
              <a:t>Setup</a:t>
            </a:r>
            <a:r>
              <a:rPr/>
              <a:t> (1 command):</a:t>
            </a:r>
          </a:p>
          <a:p>
            <a:pPr lvl="0" indent="0">
              <a:buNone/>
            </a:pPr>
            <a:r>
              <a:rPr>
                <a:latin typeface="Courier"/>
              </a:rPr>
              <a:t>./mars-dev/scripts/launch-sprint.py sprints/s7-wave2/sprint.yaml</a:t>
            </a:r>
          </a:p>
          <a:p>
            <a:pPr lvl="0" marL="0" indent="0">
              <a:buNone/>
            </a:pPr>
            <a:r>
              <a:rPr b="1"/>
              <a:t>What Happens</a:t>
            </a:r>
            <a:r>
              <a:rPr/>
              <a:t>: 1. Creates 8 worktrees (one per task) 2. Creates 8 branches (one per task) 3. Launches Zellij dashboard (8 panes) 4. Starts 8 CCC sessions (one per pane) 5. Loads task context into each session</a:t>
            </a:r>
          </a:p>
          <a:p>
            <a:pPr lvl="0" marL="0" indent="0">
              <a:buNone/>
            </a:pPr>
            <a:r>
              <a:rPr b="1"/>
              <a:t>Parallel Execution</a:t>
            </a:r>
            <a:r>
              <a:rPr/>
              <a:t>: - Pane 1: Agent scaffolding - Pane 2: Integration testing - Pane 3: Documentation updates - Pane 4: ADR authoring - Pane 5-8: Other tasks</a:t>
            </a:r>
          </a:p>
          <a:p>
            <a:pPr lvl="0" marL="0" indent="0">
              <a:buNone/>
            </a:pPr>
            <a:r>
              <a:rPr b="1"/>
              <a:t>Merge Strategy</a:t>
            </a:r>
            <a:r>
              <a:rPr/>
              <a:t>: Controlled queue (one worktree at a time)</a:t>
            </a:r>
          </a:p>
          <a:p>
            <a:pPr lvl="0" marL="0" indent="0">
              <a:buNone/>
            </a:pPr>
            <a:r>
              <a:rPr b="1"/>
              <a:t>Productivity</a:t>
            </a:r>
            <a:r>
              <a:rPr/>
              <a:t>: 8 tasks in </a:t>
            </a:r>
            <a:r>
              <a:rPr b="1"/>
              <a:t>parallel</a:t>
            </a:r>
            <a:r>
              <a:rPr/>
              <a:t> vs. </a:t>
            </a:r>
            <a:r>
              <a:rPr b="1"/>
              <a:t>sequential</a:t>
            </a:r>
            <a:r>
              <a:rPr/>
              <a:t> = </a:t>
            </a:r>
            <a:r>
              <a:rPr b="1"/>
              <a:t>5-7× faster sprints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AskSage</a:t>
            </a:r>
            <a:r>
              <a:rPr/>
              <a:t> </a:t>
            </a:r>
            <a:r>
              <a:rPr/>
              <a:t>Integration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Challenge:</a:t>
            </a:r>
            <a:r>
              <a:rPr/>
              <a:t> </a:t>
            </a:r>
            <a:r>
              <a:rPr/>
              <a:t>DoD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  <a:r>
              <a:rPr/>
              <a:t>: Commercial AI services not allowed on classified networks</a:t>
            </a:r>
          </a:p>
          <a:p>
            <a:pPr lvl="0" marL="0" indent="0">
              <a:buNone/>
            </a:pPr>
            <a:r>
              <a:rPr b="1"/>
              <a:t>Requirements</a:t>
            </a:r>
            <a:r>
              <a:rPr/>
              <a:t>: - ✅ Air-gap capable (no internet) - ✅ DoD accredited (ATO/security review) - ✅ Data never leaves network - ✅ Vendor lock-in avoidance</a:t>
            </a:r>
          </a:p>
          <a:p>
            <a:pPr lvl="0" marL="0" indent="0">
              <a:buNone/>
            </a:pPr>
            <a:r>
              <a:rPr b="1"/>
              <a:t>Traditional Solution</a:t>
            </a:r>
            <a:r>
              <a:rPr/>
              <a:t>: Build everything from scratch </a:t>
            </a:r>
            <a:r>
              <a:rPr b="1"/>
              <a:t>MARS Solution</a:t>
            </a:r>
            <a:r>
              <a:rPr/>
              <a:t>: AskSage + LiteLLM abstraction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AskSage?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AskSage</a:t>
            </a:r>
            <a:r>
              <a:rPr/>
              <a:t>: Navy-hosted AI service (GPT-4, Claude, Llama)</a:t>
            </a:r>
          </a:p>
          <a:p>
            <a:pPr lvl="0" marL="0" indent="0">
              <a:buNone/>
            </a:pPr>
            <a:r>
              <a:rPr b="1"/>
              <a:t>Architecture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Navy CAPRA Endpoint (https://capra.flankspeed.dso.mil)
    ↓ (DoD PKI authentication)
AskSage API Gateway
    ↓ (routes to available models)
Commercial AI Providers (Azure OpenAI, AWS Bedrock)
    ↓ (via FedRAMP connections)
LLM Models (GPT-4, Claude 3.5, Llama 3)</a:t>
            </a:r>
          </a:p>
          <a:p>
            <a:pPr lvl="0" marL="0" indent="0">
              <a:buNone/>
            </a:pPr>
            <a:r>
              <a:rPr b="1"/>
              <a:t>Key Features</a:t>
            </a:r>
            <a:r>
              <a:rPr/>
              <a:t>: - 🔐 </a:t>
            </a:r>
            <a:r>
              <a:rPr b="1"/>
              <a:t>DoD PKI authentication</a:t>
            </a:r>
            <a:r>
              <a:rPr/>
              <a:t> (CAC/ECA required) - 🛡️ </a:t>
            </a:r>
            <a:r>
              <a:rPr b="1"/>
              <a:t>FedRAMP authorized</a:t>
            </a:r>
            <a:r>
              <a:rPr/>
              <a:t> connections - 📊 </a:t>
            </a:r>
            <a:r>
              <a:rPr b="1"/>
              <a:t>Usage tracking</a:t>
            </a:r>
            <a:r>
              <a:rPr/>
              <a:t> and audit logs - 🚫 </a:t>
            </a:r>
            <a:r>
              <a:rPr b="1"/>
              <a:t>No training</a:t>
            </a:r>
            <a:r>
              <a:rPr/>
              <a:t> on your data (contractual) - 💰 </a:t>
            </a:r>
            <a:r>
              <a:rPr b="1"/>
              <a:t>Government rates</a:t>
            </a:r>
            <a:r>
              <a:rPr/>
              <a:t> (volume discounts)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AskSage</a:t>
            </a:r>
            <a:r>
              <a:rPr/>
              <a:t> </a:t>
            </a:r>
            <a:r>
              <a:rPr/>
              <a:t>vs. Commercial</a:t>
            </a:r>
            <a:r>
              <a:rPr/>
              <a:t> </a:t>
            </a:r>
            <a:r>
              <a:rPr/>
              <a:t>Anthropic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AskSage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Commercial</a:t>
                      </a:r>
                      <a:r>
                        <a:rPr b="1"/>
                        <a:t> </a:t>
                      </a:r>
                      <a:r>
                        <a:rPr b="1"/>
                        <a:t>Anthropic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DoD</a:t>
                      </a:r>
                      <a:r>
                        <a:rPr/>
                        <a:t> </a:t>
                      </a:r>
                      <a:r>
                        <a:rPr/>
                        <a:t>PKI</a:t>
                      </a:r>
                      <a:r>
                        <a:rPr/>
                        <a:t> </a:t>
                      </a:r>
                      <a:r>
                        <a:rPr/>
                        <a:t>(CAC/ECA)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API</a:t>
                      </a:r>
                      <a:r>
                        <a:rPr/>
                        <a:t> </a:t>
                      </a:r>
                      <a:r>
                        <a:rPr/>
                        <a:t>key</a:t>
                      </a:r>
                      <a:r>
                        <a:rPr/>
                        <a:t> </a:t>
                      </a:r>
                      <a:r>
                        <a:rPr/>
                        <a:t>(anyone)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FedRAMP</a:t>
                      </a:r>
                      <a:r>
                        <a:rPr/>
                        <a:t> </a:t>
                      </a:r>
                      <a:r>
                        <a:rPr/>
                        <a:t>connection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Public</a:t>
                      </a:r>
                      <a:r>
                        <a:rPr/>
                        <a:t> </a:t>
                      </a:r>
                      <a:r>
                        <a:rPr/>
                        <a:t>internet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Data</a:t>
                      </a:r>
                      <a:r>
                        <a:rPr b="1"/>
                        <a:t> </a:t>
                      </a:r>
                      <a:r>
                        <a:rPr b="1"/>
                        <a:t>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(contract)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training</a:t>
                      </a:r>
                      <a:r>
                        <a:rPr/>
                        <a:t> </a:t>
                      </a:r>
                      <a:r>
                        <a:rPr/>
                        <a:t>(policy)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Gov’t</a:t>
                      </a:r>
                      <a:r>
                        <a:rPr/>
                        <a:t> </a:t>
                      </a:r>
                      <a:r>
                        <a:rPr/>
                        <a:t>rates</a:t>
                      </a:r>
                      <a:r>
                        <a:rPr/>
                        <a:t> </a:t>
                      </a:r>
                      <a:r>
                        <a:rPr/>
                        <a:t>(~50%</a:t>
                      </a:r>
                      <a:r>
                        <a:rPr/>
                        <a:t> </a:t>
                      </a:r>
                      <a:r>
                        <a:rPr/>
                        <a:t>less)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Standard</a:t>
                      </a:r>
                      <a:r>
                        <a:rPr/>
                        <a:t> </a:t>
                      </a:r>
                      <a:r>
                        <a:rPr/>
                        <a:t>API</a:t>
                      </a:r>
                      <a:r>
                        <a:rPr/>
                        <a:t> </a:t>
                      </a:r>
                      <a:r>
                        <a:rPr/>
                        <a:t>rates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GPT-4,</a:t>
                      </a:r>
                      <a:r>
                        <a:rPr/>
                        <a:t> </a:t>
                      </a:r>
                      <a:r>
                        <a:rPr/>
                        <a:t>Claude,</a:t>
                      </a:r>
                      <a:r>
                        <a:rPr/>
                        <a:t> </a:t>
                      </a:r>
                      <a:r>
                        <a:rPr/>
                        <a:t>Llama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Claude</a:t>
                      </a:r>
                      <a:r>
                        <a:rPr/>
                        <a:t> </a:t>
                      </a:r>
                      <a:r>
                        <a:rPr/>
                        <a:t>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Classified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Allowed</a:t>
                      </a:r>
                      <a:r>
                        <a:rPr/>
                        <a:t> </a:t>
                      </a:r>
                      <a:r>
                        <a:rPr/>
                        <a:t>(with</a:t>
                      </a:r>
                      <a:r>
                        <a:rPr/>
                        <a:t> </a:t>
                      </a:r>
                      <a:r>
                        <a:rPr/>
                        <a:t>ATO)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Prohibited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Partial</a:t>
                      </a:r>
                      <a:r>
                        <a:rPr/>
                        <a:t> </a:t>
                      </a:r>
                      <a:r>
                        <a:rPr/>
                        <a:t>(local</a:t>
                      </a:r>
                      <a:r>
                        <a:rPr/>
                        <a:t> </a:t>
                      </a:r>
                      <a:r>
                        <a:rPr/>
                        <a:t>fallback)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possible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DoD</a:t>
                      </a:r>
                      <a:r>
                        <a:rPr/>
                        <a:t> </a:t>
                      </a:r>
                      <a:r>
                        <a:rPr/>
                        <a:t>logging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Limited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Approach</a:t>
            </a:r>
            <a:r>
              <a:rPr/>
              <a:t>: Use AskSage for classified, Anthropic for unclassified (LiteLLM handles both)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LiteLLM</a:t>
            </a:r>
            <a:r>
              <a:rPr/>
              <a:t> </a:t>
            </a:r>
            <a:r>
              <a:rPr/>
              <a:t>Shim: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  <a:r>
              <a:rPr/>
              <a:t>: Each AI provider has different API</a:t>
            </a:r>
          </a:p>
          <a:p>
            <a:pPr lvl="0" marL="0" indent="0">
              <a:buNone/>
            </a:pPr>
            <a:r>
              <a:rPr b="1"/>
              <a:t>OpenAI API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openai</a:t>
            </a:r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openai.ChatCompletion.create(</a:t>
            </a:r>
            <a:br/>
            <a:r>
              <a:rPr>
                <a:latin typeface="Courier"/>
              </a:rPr>
              <a:t>    model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"gpt-4"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messages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r>
              <a:rPr>
                <a:latin typeface="Courier"/>
              </a:rPr>
              <a:t>}]</a:t>
            </a:r>
            <a:br/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  <a:r>
              <a:rPr b="1"/>
              <a:t>Anthropic API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anthropic</a:t>
            </a:r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anthropic.Anthropic().messages.create(</a:t>
            </a:r>
            <a:br/>
            <a:r>
              <a:rPr>
                <a:latin typeface="Courier"/>
              </a:rPr>
              <a:t>    model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"claude-3-5-sonnet"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messages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"Hello"</a:t>
            </a:r>
            <a:r>
              <a:rPr>
                <a:latin typeface="Courier"/>
              </a:rPr>
              <a:t>}]</a:t>
            </a:r>
            <a:br/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  <a:r>
              <a:rPr b="1"/>
              <a:t>AskSage API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requests</a:t>
            </a:r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requests.post(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"https://capra.flankspeed.dso.mil/v1/chat/completions"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headers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"Authorization"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BB6688"/>
                </a:solidFill>
                <a:latin typeface="Courier"/>
              </a:rPr>
              <a:t>f"Bearer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pki_token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},</a:t>
            </a:r>
            <a:br/>
            <a:r>
              <a:rPr>
                <a:latin typeface="Courier"/>
              </a:rPr>
              <a:t>    json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"model"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"gpt-4"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"messages"</a:t>
            </a:r>
            <a:r>
              <a:rPr>
                <a:latin typeface="Courier"/>
              </a:rPr>
              <a:t>: [...]}</a:t>
            </a:r>
            <a:br/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  <a:r>
              <a:rPr b="1"/>
              <a:t>All different!</a:t>
            </a:r>
            <a:r>
              <a:rPr/>
              <a:t> Hard-coded vendor = lock-in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LiteLLM:</a:t>
            </a:r>
            <a:r>
              <a:rPr/>
              <a:t> </a:t>
            </a:r>
            <a:r>
              <a:rPr/>
              <a:t>Unified</a:t>
            </a:r>
            <a:r>
              <a:rPr/>
              <a:t> </a:t>
            </a:r>
            <a:r>
              <a:rPr/>
              <a:t>AI</a:t>
            </a:r>
            <a:r>
              <a:rPr/>
              <a:t> </a:t>
            </a:r>
            <a:r>
              <a:rPr/>
              <a:t>Gateway</a:t>
            </a:r>
          </a:p>
        </p:txBody>
      </p:sp>
      <p:pic>
        <p:nvPicPr>
          <p:cNvPr descr="diagrams/png/litellm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600200"/>
            <a:ext cx="38100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LiteLLM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LiteLLM</a:t>
            </a:r>
            <a:r>
              <a:rPr/>
              <a:t>: Translates all providers → OpenAI-compatible API</a:t>
            </a:r>
          </a:p>
          <a:p>
            <a:pPr lvl="0" marL="0" indent="0">
              <a:buNone/>
            </a:pPr>
            <a:r>
              <a:rPr b="1"/>
              <a:t>MARS Architecture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MARS Agents
    ↓ (OpenAI API format - always)
LiteLLM Proxy (localhost:4000)
    ↓ (routes based on config)
┌──────────────┬─────────────────┬──────────────┐
AskSage        Anthropic         Ollama
(via CAPRA)    (commercial)      (local GPU)</a:t>
            </a:r>
          </a:p>
          <a:p>
            <a:pPr lvl="0" marL="0" indent="0">
              <a:buNone/>
            </a:pPr>
            <a:r>
              <a:rPr b="1"/>
              <a:t>Configuration</a:t>
            </a:r>
            <a:r>
              <a:rPr/>
              <a:t> (</a:t>
            </a:r>
            <a:r>
              <a:rPr>
                <a:latin typeface="Courier"/>
              </a:rPr>
              <a:t>litellm-config.yaml</a:t>
            </a:r>
            <a:r>
              <a:rPr/>
              <a:t>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model_list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claude-sonnet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litellm_params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claude-3-5-sonnet-20241022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api_base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https://capra.flankspeed.dso.mil/v1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api_key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${ASKSAGE_API_KEY}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claude-sonnet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litellm_params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claude-3-5-sonnet-20241022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api_key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${ANTHROPIC_API_KEY}</a:t>
            </a:r>
          </a:p>
          <a:p>
            <a:pPr lvl="0" marL="0" indent="0">
              <a:buNone/>
            </a:pPr>
            <a:r>
              <a:rPr b="1"/>
              <a:t>MARS Agents</a:t>
            </a:r>
            <a:r>
              <a:rPr/>
              <a:t>: Just call </a:t>
            </a:r>
            <a:r>
              <a:rPr>
                <a:latin typeface="Courier"/>
              </a:rPr>
              <a:t>localhost:4000/v1/chat/completions</a:t>
            </a:r>
            <a:r>
              <a:rPr/>
              <a:t> → LiteLLM handles routing</a:t>
            </a:r>
          </a:p>
        </p:txBody>
      </p:sp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LiteLLM</a:t>
            </a:r>
            <a:r>
              <a:rPr/>
              <a:t> </a:t>
            </a:r>
            <a:r>
              <a:rPr/>
              <a:t>Benefits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Vendor Independence</a:t>
            </a:r>
            <a:r>
              <a:rPr/>
              <a:t>: - Switch providers without code changes - Use AskSage on classified, Anthropic on unclass - Fallback to local Ollama if network down</a:t>
            </a:r>
          </a:p>
          <a:p>
            <a:pPr lvl="0" marL="0" indent="0">
              <a:buNone/>
            </a:pPr>
            <a:r>
              <a:rPr b="1"/>
              <a:t>2. Unified Interface</a:t>
            </a:r>
            <a:r>
              <a:rPr/>
              <a:t>: - All agents use same API (OpenAI format) - No vendor-specific code - Simplified agent development</a:t>
            </a:r>
          </a:p>
          <a:p>
            <a:pPr lvl="0" marL="0" indent="0">
              <a:buNone/>
            </a:pPr>
            <a:r>
              <a:rPr b="1"/>
              <a:t>3. Cost Optimization</a:t>
            </a:r>
            <a:r>
              <a:rPr/>
              <a:t>: - Route expensive calls to cheaper models - Load balancing across providers - Usage tracking and quotas</a:t>
            </a:r>
          </a:p>
          <a:p>
            <a:pPr lvl="0" marL="0" indent="0">
              <a:buNone/>
            </a:pPr>
            <a:r>
              <a:rPr b="1"/>
              <a:t>4. Security &amp; Compliance</a:t>
            </a:r>
            <a:r>
              <a:rPr/>
              <a:t>: - Single point of authentication - Centralized audit logging - API key rotation without code changes</a:t>
            </a:r>
          </a:p>
          <a:p>
            <a:pPr lvl="0" marL="0" indent="0">
              <a:buNone/>
            </a:pPr>
            <a:r>
              <a:rPr b="1"/>
              <a:t>5. Air-Gap Readiness</a:t>
            </a:r>
            <a:r>
              <a:rPr/>
              <a:t>: - Swap AskSage → Ollama (config change only) - No agent code modifications - Seamless transition to offline operation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LiteLLM</a:t>
            </a:r>
            <a:r>
              <a:rPr/>
              <a:t> </a:t>
            </a:r>
            <a:r>
              <a:rPr/>
              <a:t>Configuration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uses 3 providers simultaneously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litellm-config.yaml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model_list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# AskSage (DoD classified work)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gpt-4-asksage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litellm_params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azure/gpt-4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api_base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https://capra.flankspeed.dso.mil/v1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api_key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os.environ/ASKSAGE_API_KEY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# Anthropic (unclassified work)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claude-sonnet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litellm_params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claude-3-5-sonnet-20241022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api_key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os.environ/ANTHROPIC_API_KEY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  # Ollama (air-gap fallback)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model_name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local-llama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litellm_params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model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ollama/llama3.1:70b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api_base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http://localhost:11434</a:t>
            </a:r>
          </a:p>
          <a:p>
            <a:pPr lvl="0" marL="0" indent="0">
              <a:buNone/>
            </a:pPr>
            <a:r>
              <a:rPr b="1"/>
              <a:t>Agent Code</a:t>
            </a:r>
            <a:r>
              <a:rPr/>
              <a:t> (same for all):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openai</a:t>
            </a:r>
            <a:br/>
            <a:r>
              <a:rPr>
                <a:latin typeface="Courier"/>
              </a:rPr>
              <a:t>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openai.OpenAI(base_url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"http://localhost:4000/v1"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response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client.chat.completions.create(</a:t>
            </a:r>
            <a:br/>
            <a:r>
              <a:rPr>
                <a:latin typeface="Courier"/>
              </a:rPr>
              <a:t>    model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"claude-sonnet"</a:t>
            </a:r>
            <a:r>
              <a:rPr>
                <a:latin typeface="Courier"/>
              </a:rPr>
              <a:t>,  </a:t>
            </a:r>
            <a:r>
              <a:rPr i="1">
                <a:solidFill>
                  <a:srgbClr val="60A0B0"/>
                </a:solidFill>
                <a:latin typeface="Courier"/>
              </a:rPr>
              <a:t># LiteLLM routes appropriately</a:t>
            </a:r>
            <a:br/>
            <a:r>
              <a:rPr>
                <a:latin typeface="Courier"/>
              </a:rPr>
              <a:t>    messages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[{</a:t>
            </a:r>
            <a:r>
              <a:rPr>
                <a:solidFill>
                  <a:srgbClr val="4070A0"/>
                </a:solidFill>
                <a:latin typeface="Courier"/>
              </a:rPr>
              <a:t>"role"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"user"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"content"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"Analyze this data"</a:t>
            </a:r>
            <a:r>
              <a:rPr>
                <a:latin typeface="Courier"/>
              </a:rPr>
              <a:t>}]</a:t>
            </a:r>
            <a:br/>
            <a:r>
              <a:rPr>
                <a:latin typeface="Courier"/>
              </a:rPr>
              <a:t>)</a:t>
            </a:r>
          </a:p>
          <a:p>
            <a:pPr lvl="0" marL="0" indent="0">
              <a:buNone/>
            </a:pPr>
            <a:r>
              <a:rPr b="1"/>
              <a:t>No vendor-specific code!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AskSage</a:t>
            </a:r>
            <a:r>
              <a:rPr/>
              <a:t> </a:t>
            </a:r>
            <a:r>
              <a:rPr/>
              <a:t>Authentication</a:t>
            </a:r>
            <a:r>
              <a:rPr/>
              <a:t> </a:t>
            </a:r>
            <a:r>
              <a:rPr/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Challenge</a:t>
            </a:r>
            <a:r>
              <a:rPr/>
              <a:t>: AskSage requires DoD PKI (CAC/ECA)</a:t>
            </a:r>
          </a:p>
          <a:p>
            <a:pPr lvl="0" marL="0" indent="0">
              <a:buNone/>
            </a:pPr>
            <a:r>
              <a:rPr b="1"/>
              <a:t>MARS Solution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1. Manual Token Acquisition</a:t>
            </a:r>
            <a:r>
              <a:rPr/>
              <a:t> (one-time setup):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User authenticates with CAC/ECA via browser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Receives JWT token (valid 30 days)</a:t>
            </a:r>
            <a:br/>
            <a:r>
              <a:rPr>
                <a:latin typeface="Courier"/>
              </a:rPr>
              <a:t>export </a:t>
            </a:r>
            <a:r>
              <a:rPr>
                <a:solidFill>
                  <a:srgbClr val="19177C"/>
                </a:solidFill>
                <a:latin typeface="Courier"/>
              </a:rPr>
              <a:t>ASKSAGE_API_KEY=</a:t>
            </a:r>
            <a:r>
              <a:rPr>
                <a:solidFill>
                  <a:srgbClr val="4070A0"/>
                </a:solidFill>
                <a:latin typeface="Courier"/>
              </a:rPr>
              <a:t>"eyJ0eXAiOiJKV1QiLCJhbGc..."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Saved in mars-env.config (sourced at session start)</a:t>
            </a:r>
          </a:p>
          <a:p>
            <a:pPr lvl="0" marL="0" indent="0">
              <a:buNone/>
            </a:pPr>
            <a:r>
              <a:rPr b="1"/>
              <a:t>2. LiteLLM Token Refresh</a:t>
            </a:r>
            <a:r>
              <a:rPr/>
              <a:t> (automatic):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litellm-config.yaml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general_settings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asksage_token_refresh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enabled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refresh_endpoint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https://capra.flankspeed.dso.mil/auth/refresh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refresh_interval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86400</a:t>
            </a:r>
            <a:r>
              <a:rPr i="1">
                <a:solidFill>
                  <a:srgbClr val="60A0B0"/>
                </a:solidFill>
                <a:latin typeface="Courier"/>
              </a:rPr>
              <a:t>  # 24 hours</a:t>
            </a:r>
          </a:p>
          <a:p>
            <a:pPr lvl="0" marL="0" indent="0">
              <a:buNone/>
            </a:pPr>
            <a:r>
              <a:rPr b="1"/>
              <a:t>3. Fallback to Anthropic</a:t>
            </a:r>
            <a:r>
              <a:rPr/>
              <a:t> (if token expires):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LiteLLM automatically tries alternate providers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Config: fallbacks = ["claude-sonnet", "local-llama"]</a:t>
            </a:r>
          </a:p>
          <a:p>
            <a:pPr lvl="0" marL="0" indent="0">
              <a:buNone/>
            </a:pPr>
            <a:r>
              <a:rPr b="1"/>
              <a:t>Result</a:t>
            </a:r>
            <a:r>
              <a:rPr/>
              <a:t>: Minimal user intervention, seamless failover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Sysbox:</a:t>
            </a:r>
            <a:r>
              <a:rPr/>
              <a:t> </a:t>
            </a:r>
            <a:r>
              <a:rPr/>
              <a:t>Secure</a:t>
            </a:r>
            <a:r>
              <a:rPr/>
              <a:t> </a:t>
            </a:r>
            <a:r>
              <a:rPr/>
              <a:t>Containers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Security</a:t>
            </a:r>
            <a:r>
              <a:rPr/>
              <a:t> </a:t>
            </a:r>
            <a:r>
              <a:rPr/>
              <a:t>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Standard Docker</a:t>
            </a:r>
            <a:r>
              <a:rPr/>
              <a:t> (privileged containers):</a:t>
            </a:r>
          </a:p>
          <a:p>
            <a:pPr lvl="0" indent="0">
              <a:buNone/>
            </a:pPr>
            <a:r>
              <a:rPr>
                <a:latin typeface="Courier"/>
              </a:rPr>
              <a:t>Container (runs as root inside)
    ↓ (has full system access)
Host Kernel
    ↓ (vulnerable to container escape)
Host Filesystem, Network, Devices</a:t>
            </a:r>
          </a:p>
          <a:p>
            <a:pPr lvl="0" marL="0" indent="0">
              <a:buNone/>
            </a:pPr>
            <a:r>
              <a:rPr b="1"/>
              <a:t>Problem</a:t>
            </a:r>
            <a:r>
              <a:rPr/>
              <a:t>: Root inside container = root on host (with escape exploits)</a:t>
            </a:r>
          </a:p>
          <a:p>
            <a:pPr lvl="0" marL="0" indent="0">
              <a:buNone/>
            </a:pPr>
            <a:r>
              <a:rPr b="1"/>
              <a:t>Traditional Solutions</a:t>
            </a:r>
            <a:r>
              <a:rPr/>
              <a:t>: - </a:t>
            </a:r>
            <a:r>
              <a:rPr b="1"/>
              <a:t>Rootless Docker</a:t>
            </a:r>
            <a:r>
              <a:rPr/>
              <a:t>: Docker daemon runs as user (complex setup) - </a:t>
            </a:r>
            <a:r>
              <a:rPr b="1"/>
              <a:t>User Namespaces</a:t>
            </a:r>
            <a:r>
              <a:rPr/>
              <a:t>: Map root → user (limited compatibility) - </a:t>
            </a:r>
            <a:r>
              <a:rPr b="1"/>
              <a:t>SELinux/AppArmor</a:t>
            </a:r>
            <a:r>
              <a:rPr/>
              <a:t>: Mandatory access control (complex policies)</a:t>
            </a:r>
          </a:p>
          <a:p>
            <a:pPr lvl="0" marL="0" indent="0">
              <a:buNone/>
            </a:pPr>
            <a:r>
              <a:rPr b="1"/>
              <a:t>MARS Solution</a:t>
            </a:r>
            <a:r>
              <a:rPr/>
              <a:t>: </a:t>
            </a:r>
            <a:r>
              <a:rPr b="1"/>
              <a:t>Sysbox</a:t>
            </a:r>
            <a:r>
              <a:rPr/>
              <a:t> runtime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Sysbox?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Sysbox</a:t>
            </a:r>
            <a:r>
              <a:rPr/>
              <a:t>: Container runtime that provides </a:t>
            </a:r>
            <a:r>
              <a:rPr b="1"/>
              <a:t>system-level isolation</a:t>
            </a:r>
          </a:p>
          <a:p>
            <a:pPr lvl="0" marL="0" indent="0">
              <a:buNone/>
            </a:pPr>
            <a:r>
              <a:rPr b="1"/>
              <a:t>Key Feature</a:t>
            </a:r>
            <a:r>
              <a:rPr/>
              <a:t>: Containers that </a:t>
            </a:r>
            <a:r>
              <a:rPr b="1"/>
              <a:t>feel like VMs</a:t>
            </a:r>
            <a:r>
              <a:rPr/>
              <a:t> but are still containers</a:t>
            </a:r>
          </a:p>
          <a:p>
            <a:pPr lvl="0" marL="0" indent="0">
              <a:buNone/>
            </a:pPr>
            <a:r>
              <a:rPr b="1"/>
              <a:t>Magic Trick</a:t>
            </a:r>
            <a:r>
              <a:rPr/>
              <a:t>: - Container </a:t>
            </a:r>
            <a:r>
              <a:rPr b="1"/>
              <a:t>thinks</a:t>
            </a:r>
            <a:r>
              <a:rPr/>
              <a:t> it has full system access (systemd, Docker-in-Docker) - Host </a:t>
            </a:r>
            <a:r>
              <a:rPr b="1"/>
              <a:t>knows</a:t>
            </a:r>
            <a:r>
              <a:rPr/>
              <a:t> container is isolated (UID/GID mapping, namespaces) - Security </a:t>
            </a:r>
            <a:r>
              <a:rPr b="1"/>
              <a:t>improved</a:t>
            </a:r>
            <a:r>
              <a:rPr/>
              <a:t> (no privileged mode needed)</a:t>
            </a:r>
          </a:p>
          <a:p>
            <a:pPr lvl="0" marL="0" indent="0">
              <a:buNone/>
            </a:pPr>
            <a:r>
              <a:rPr b="1"/>
              <a:t>Created by</a:t>
            </a:r>
            <a:r>
              <a:rPr/>
              <a:t>: Nestybox (acquired by Docker, 2022) </a:t>
            </a:r>
            <a:r>
              <a:rPr b="1"/>
              <a:t>Used by</a:t>
            </a:r>
            <a:r>
              <a:rPr/>
              <a:t>: GitLab CI (Docker-in-Docker), Tailscale (system containers)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Docker</a:t>
            </a:r>
            <a:r>
              <a:rPr/>
              <a:t> </a:t>
            </a:r>
            <a:r>
              <a:rPr/>
              <a:t>Runtimes:</a:t>
            </a:r>
            <a:r>
              <a:rPr/>
              <a:t> </a:t>
            </a:r>
            <a:r>
              <a:rPr/>
              <a:t>Standard</a:t>
            </a:r>
            <a:r>
              <a:rPr/>
              <a:t> </a:t>
            </a:r>
            <a:r>
              <a:rPr/>
              <a:t>vs. Sysbox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Standard Docker (runc runtime)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-v /var/run/docker.sock:/var/run/docker.sock myimage</a:t>
            </a:r>
          </a:p>
          <a:p>
            <a:pPr lvl="1"/>
            <a:r>
              <a:rPr/>
              <a:t>⚠️ Container has </a:t>
            </a:r>
            <a:r>
              <a:rPr b="1"/>
              <a:t>full Docker control</a:t>
            </a:r>
            <a:r>
              <a:rPr/>
              <a:t> (can break out)</a:t>
            </a:r>
          </a:p>
          <a:p>
            <a:pPr lvl="1"/>
            <a:r>
              <a:rPr/>
              <a:t>⚠️ Mounted </a:t>
            </a:r>
            <a:r>
              <a:rPr>
                <a:latin typeface="Courier"/>
              </a:rPr>
              <a:t>/var/run/docker.sock</a:t>
            </a:r>
            <a:r>
              <a:rPr/>
              <a:t> = root on host</a:t>
            </a:r>
          </a:p>
          <a:p>
            <a:pPr lvl="0" marL="0" indent="0">
              <a:buNone/>
            </a:pPr>
            <a:r>
              <a:rPr b="1"/>
              <a:t>Rootless Docker</a:t>
            </a:r>
            <a:r>
              <a:rPr/>
              <a:t> (rootless daemon):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dockerd-rootless.sh
docker run myimage</a:t>
            </a:r>
          </a:p>
          <a:p>
            <a:pPr lvl="1"/>
            <a:r>
              <a:rPr/>
              <a:t>✅ Docker daemon runs as user (no root)</a:t>
            </a:r>
          </a:p>
          <a:p>
            <a:pPr lvl="1"/>
            <a:r>
              <a:rPr/>
              <a:t>❌ </a:t>
            </a:r>
            <a:r>
              <a:rPr b="1"/>
              <a:t>Complex setup</a:t>
            </a:r>
            <a:r>
              <a:rPr/>
              <a:t> (slirp4netns, uidmap, XDG_RUNTIME_DIR)</a:t>
            </a:r>
          </a:p>
          <a:p>
            <a:pPr lvl="1"/>
            <a:r>
              <a:rPr/>
              <a:t>❌ </a:t>
            </a:r>
            <a:r>
              <a:rPr b="1"/>
              <a:t>Limited features</a:t>
            </a:r>
            <a:r>
              <a:rPr/>
              <a:t> (no privileged ports, no systemd)</a:t>
            </a:r>
          </a:p>
          <a:p>
            <a:pPr lvl="0" marL="0" indent="0">
              <a:buNone/>
            </a:pPr>
            <a:r>
              <a:rPr b="1"/>
              <a:t>Sysbox Runtime</a:t>
            </a:r>
            <a:r>
              <a:rPr/>
              <a:t> (MARS approach):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--runtime=sysbox-runc myimage</a:t>
            </a:r>
          </a:p>
          <a:p>
            <a:pPr lvl="1"/>
            <a:r>
              <a:rPr/>
              <a:t>✅ </a:t>
            </a:r>
            <a:r>
              <a:rPr b="1"/>
              <a:t>Simple</a:t>
            </a:r>
            <a:r>
              <a:rPr/>
              <a:t>: Standard Docker workflow</a:t>
            </a:r>
          </a:p>
          <a:p>
            <a:pPr lvl="1"/>
            <a:r>
              <a:rPr/>
              <a:t>✅ </a:t>
            </a:r>
            <a:r>
              <a:rPr b="1"/>
              <a:t>Secure</a:t>
            </a:r>
            <a:r>
              <a:rPr/>
              <a:t>: UID/GID remapping automatic</a:t>
            </a:r>
          </a:p>
          <a:p>
            <a:pPr lvl="1"/>
            <a:r>
              <a:rPr/>
              <a:t>✅ </a:t>
            </a:r>
            <a:r>
              <a:rPr b="1"/>
              <a:t>Compatible</a:t>
            </a:r>
            <a:r>
              <a:rPr/>
              <a:t>: Full Docker-in-Docker support</a:t>
            </a:r>
          </a:p>
          <a:p>
            <a:pPr lvl="1"/>
            <a:r>
              <a:rPr/>
              <a:t>✅ </a:t>
            </a:r>
            <a:r>
              <a:rPr b="1"/>
              <a:t>Systemd</a:t>
            </a:r>
            <a:r>
              <a:rPr/>
              <a:t>: Works inside containers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Sysbox</a:t>
            </a:r>
            <a:r>
              <a:rPr/>
              <a:t> </a:t>
            </a:r>
            <a:r>
              <a:rPr/>
              <a:t>Architecture</a:t>
            </a:r>
          </a:p>
        </p:txBody>
      </p:sp>
      <p:pic>
        <p:nvPicPr>
          <p:cNvPr descr="diagrams/png/sysbox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600200"/>
            <a:ext cx="3835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Sysbox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How Sysbox Works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Layer 1: Host Docker Daemon</a:t>
            </a:r>
            <a:r>
              <a:rPr/>
              <a:t> (runs as root, manages containers)</a:t>
            </a:r>
          </a:p>
          <a:p>
            <a:pPr lvl="0" indent="0">
              <a:buNone/>
            </a:pPr>
            <a:r>
              <a:rPr>
                <a:latin typeface="Courier"/>
              </a:rPr>
              <a:t>dockerd (system daemon, TCP socket at localhost:9088)</a:t>
            </a:r>
          </a:p>
          <a:p>
            <a:pPr lvl="0" marL="0" indent="0">
              <a:buNone/>
            </a:pPr>
            <a:r>
              <a:rPr b="1"/>
              <a:t>Layer 2: Sysbox Runtime</a:t>
            </a:r>
            <a:r>
              <a:rPr/>
              <a:t> (intercepts container creation)</a:t>
            </a:r>
          </a:p>
          <a:p>
            <a:pPr lvl="0" indent="0">
              <a:buNone/>
            </a:pPr>
            <a:r>
              <a:rPr>
                <a:latin typeface="Courier"/>
              </a:rPr>
              <a:t>sysbox-runc (OCI runtime)
    ↓ (creates user namespace)
sysbox-fs (FUSE filesystem)
    ↓ (emulates /proc, /sys)
sysbox-mgr (resource management)</a:t>
            </a:r>
          </a:p>
          <a:p>
            <a:pPr lvl="0" marL="0" indent="0">
              <a:buNone/>
            </a:pPr>
            <a:r>
              <a:rPr b="1"/>
              <a:t>Layer 3: Container</a:t>
            </a:r>
            <a:r>
              <a:rPr/>
              <a:t> (isolated environment)</a:t>
            </a:r>
          </a:p>
          <a:p>
            <a:pPr lvl="0" indent="0">
              <a:buNone/>
            </a:pPr>
            <a:r>
              <a:rPr>
                <a:latin typeface="Courier"/>
              </a:rPr>
              <a:t>Container sees: UID 0 (root), full /proc, /sys, can run Docker
Host sees: UID 100000+ (unprivileged user), namespaced</a:t>
            </a:r>
          </a:p>
          <a:p>
            <a:pPr lvl="0" marL="0" indent="0">
              <a:buNone/>
            </a:pPr>
            <a:r>
              <a:rPr b="1"/>
              <a:t>Key Insight</a:t>
            </a:r>
            <a:r>
              <a:rPr/>
              <a:t>: Container </a:t>
            </a:r>
            <a:r>
              <a:rPr b="1"/>
              <a:t>believes</a:t>
            </a:r>
            <a:r>
              <a:rPr/>
              <a:t> it’s privileged, but host </a:t>
            </a:r>
            <a:r>
              <a:rPr b="1"/>
              <a:t>enforces</a:t>
            </a:r>
            <a:r>
              <a:rPr/>
              <a:t> unprivileged operation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DOCKER_HOST:</a:t>
            </a:r>
            <a:r>
              <a:rPr/>
              <a:t> </a:t>
            </a:r>
            <a:r>
              <a:rPr/>
              <a:t>Understanding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Sockets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The Docker Socket Landscape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1. System Docker Socket</a:t>
            </a:r>
            <a:r>
              <a:rPr/>
              <a:t> (privileged):</a:t>
            </a:r>
          </a:p>
          <a:p>
            <a:pPr lvl="0" indent="0">
              <a:buNone/>
            </a:pPr>
            <a:r>
              <a:rPr>
                <a:latin typeface="Courier"/>
              </a:rPr>
              <a:t>/var/run/docker.sock (owned by root:docker)</a:t>
            </a:r>
          </a:p>
          <a:p>
            <a:pPr lvl="1"/>
            <a:r>
              <a:rPr/>
              <a:t>Default Docker daemon socket</a:t>
            </a:r>
          </a:p>
          <a:p>
            <a:pPr lvl="1"/>
            <a:r>
              <a:rPr/>
              <a:t>Requires </a:t>
            </a:r>
            <a:r>
              <a:rPr>
                <a:latin typeface="Courier"/>
              </a:rPr>
              <a:t>docker</a:t>
            </a:r>
            <a:r>
              <a:rPr/>
              <a:t> group membership or root</a:t>
            </a:r>
          </a:p>
          <a:p>
            <a:pPr lvl="1"/>
            <a:r>
              <a:rPr b="1"/>
              <a:t>MARS uses this</a:t>
            </a:r>
            <a:r>
              <a:rPr/>
              <a:t> (via Sysbox isolation)</a:t>
            </a:r>
          </a:p>
          <a:p>
            <a:pPr lvl="0" marL="0" indent="0">
              <a:buNone/>
            </a:pPr>
            <a:r>
              <a:rPr b="1"/>
              <a:t>2. Rootless Docker Socket</a:t>
            </a:r>
            <a:r>
              <a:rPr/>
              <a:t> (user):</a:t>
            </a:r>
          </a:p>
          <a:p>
            <a:pPr lvl="0" indent="0">
              <a:buNone/>
            </a:pPr>
            <a:r>
              <a:rPr>
                <a:latin typeface="Courier"/>
              </a:rPr>
              <a:t>/run/user/1000/docker.sock (owned by user)</a:t>
            </a:r>
          </a:p>
          <a:p>
            <a:pPr lvl="1"/>
            <a:r>
              <a:rPr/>
              <a:t>Rootless daemon socket</a:t>
            </a:r>
          </a:p>
          <a:p>
            <a:pPr lvl="1"/>
            <a:r>
              <a:rPr/>
              <a:t>User-specific (XDG_RUNTIME_DIR)</a:t>
            </a:r>
          </a:p>
          <a:p>
            <a:pPr lvl="1"/>
            <a:r>
              <a:rPr b="1"/>
              <a:t>MARS doesn’t use</a:t>
            </a:r>
            <a:r>
              <a:rPr/>
              <a:t> (too complex for multi-user)</a:t>
            </a:r>
          </a:p>
          <a:p>
            <a:pPr lvl="0" marL="0" indent="0">
              <a:buNone/>
            </a:pPr>
            <a:r>
              <a:rPr b="1"/>
              <a:t>3. Remote Docker Socket</a:t>
            </a:r>
            <a:r>
              <a:rPr/>
              <a:t> (TCP):</a:t>
            </a:r>
          </a:p>
          <a:p>
            <a:pPr lvl="0" indent="0">
              <a:buNone/>
            </a:pPr>
            <a:r>
              <a:rPr>
                <a:latin typeface="Courier"/>
              </a:rPr>
              <a:t>tcp://localhost:2375 (insecure)
tcp://localhost:2376 (TLS)</a:t>
            </a:r>
          </a:p>
          <a:p>
            <a:pPr lvl="1"/>
            <a:r>
              <a:rPr/>
              <a:t>Network-accessible Docker API</a:t>
            </a:r>
          </a:p>
          <a:p>
            <a:pPr lvl="1"/>
            <a:r>
              <a:rPr/>
              <a:t>Used for remote management</a:t>
            </a:r>
          </a:p>
          <a:p>
            <a:pPr lvl="1"/>
            <a:r>
              <a:rPr b="1"/>
              <a:t>MARS uses TCP in dev</a:t>
            </a:r>
            <a:r>
              <a:rPr/>
              <a:t> (localhost:9088 for mars-dev)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Docker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uses 2 Docker configurations</a:t>
            </a:r>
            <a:r>
              <a:rPr/>
              <a:t>: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Production</a:t>
            </a:r>
            <a:r>
              <a:rPr/>
              <a:t> (Sysbox):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DOCKER_HOST=unix:///var/run/docker.sock
DOCKER_RUNTIME=sysbox-runc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- System Docker daemon - Sysbox security isolation - Standard workflow</a:t>
            </a:r>
          </a:p>
          <a:p>
            <a:pPr lvl="0" marL="0" indent="0">
              <a:buNone/>
            </a:pPr>
            <a:r>
              <a:rPr b="1"/>
              <a:t>Use Case</a:t>
            </a:r>
            <a:r>
              <a:rPr/>
              <a:t>: - Research deployments - Multi-user environments - Classified networks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Development</a:t>
            </a:r>
            <a:r>
              <a:rPr/>
              <a:t> (mars-dev):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DOCKER_HOST=tcp://localhost:9088
DOCKER_RUNTIME=sysbox-runc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- Isolated from system Docker - Won’t interfere with host - Safe for experimentation</a:t>
            </a:r>
          </a:p>
          <a:p>
            <a:pPr lvl="0" marL="0" indent="0">
              <a:buNone/>
            </a:pPr>
            <a:r>
              <a:rPr b="1"/>
              <a:t>Use Case</a:t>
            </a:r>
            <a:r>
              <a:rPr/>
              <a:t>: - Building MARS itself - Testing infrastructure - Parallel dev environments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 Point</a:t>
            </a:r>
            <a:r>
              <a:rPr/>
              <a:t>: Same Sysbox runtime, different daemon endpoints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Docker</a:t>
            </a:r>
            <a:r>
              <a:rPr/>
              <a:t> </a:t>
            </a:r>
            <a:r>
              <a:rPr/>
              <a:t>Image</a:t>
            </a:r>
            <a:r>
              <a:rPr/>
              <a:t> </a:t>
            </a:r>
            <a:r>
              <a:rPr/>
              <a:t>Caching:</a:t>
            </a:r>
            <a:r>
              <a:rPr/>
              <a:t> </a:t>
            </a:r>
            <a:r>
              <a:rPr/>
              <a:t>Sysbox</a:t>
            </a:r>
            <a:r>
              <a:rPr/>
              <a:t> </a:t>
            </a:r>
            <a:r>
              <a:rPr/>
              <a:t>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Challenge</a:t>
            </a:r>
            <a:r>
              <a:rPr/>
              <a:t>: Sysbox uses </a:t>
            </a:r>
            <a:r>
              <a:rPr b="1"/>
              <a:t>per-container</a:t>
            </a:r>
            <a:r>
              <a:rPr/>
              <a:t> image stores</a:t>
            </a:r>
          </a:p>
          <a:p>
            <a:pPr lvl="0" marL="0" indent="0">
              <a:buNone/>
            </a:pPr>
            <a:r>
              <a:rPr b="1"/>
              <a:t>Standard Docker</a:t>
            </a:r>
            <a:r>
              <a:rPr/>
              <a:t> (shared cache):</a:t>
            </a:r>
          </a:p>
          <a:p>
            <a:pPr lvl="0" indent="0">
              <a:buNone/>
            </a:pPr>
            <a:r>
              <a:rPr>
                <a:latin typeface="Courier"/>
              </a:rPr>
              <a:t>/var/lib/docker/
├── image/          # All containers share images
├── overlay2/       # Shared layers
└── containers/     # Container-specific data</a:t>
            </a:r>
          </a:p>
          <a:p>
            <a:pPr lvl="0" marL="0" indent="0">
              <a:buNone/>
            </a:pPr>
            <a:r>
              <a:rPr b="1"/>
              <a:t>Sysbox</a:t>
            </a:r>
            <a:r>
              <a:rPr/>
              <a:t> (isolated cache):</a:t>
            </a:r>
          </a:p>
          <a:p>
            <a:pPr lvl="0" indent="0">
              <a:buNone/>
            </a:pPr>
            <a:r>
              <a:rPr>
                <a:latin typeface="Courier"/>
              </a:rPr>
              <a:t>/var/lib/sysbox/
├── container-1/
│   └── var/lib/docker/  # Container 1's images
├── container-2/
│   └── var/lib/docker/  # Container 2's images (duplicate!)
└── container-3/
    └── var/lib/docker/  # Container 3's images (duplicate!)</a:t>
            </a:r>
          </a:p>
          <a:p>
            <a:pPr lvl="0" marL="0" indent="0">
              <a:buNone/>
            </a:pPr>
            <a:r>
              <a:rPr b="1"/>
              <a:t>Implication</a:t>
            </a:r>
            <a:r>
              <a:rPr/>
              <a:t>: Each Sysbox container has </a:t>
            </a:r>
            <a:r>
              <a:rPr b="1"/>
              <a:t>own Docker image cache</a:t>
            </a:r>
          </a:p>
        </p:txBody>
      </p:sp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</a:t>
            </a:r>
            <a:r>
              <a:rPr/>
              <a:t> </a:t>
            </a:r>
            <a:r>
              <a:rPr/>
              <a:t>Caching: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  <a:r>
              <a:rPr/>
              <a:t>: 3 containers × 2 GB images = 6 GB storage waste</a:t>
            </a:r>
          </a:p>
          <a:p>
            <a:pPr lvl="0" marL="0" indent="0">
              <a:buNone/>
            </a:pPr>
            <a:r>
              <a:rPr b="1"/>
              <a:t>MARS Solution</a:t>
            </a:r>
            <a:r>
              <a:rPr/>
              <a:t>: Strategic image caching</a:t>
            </a:r>
          </a:p>
          <a:p>
            <a:pPr lvl="0" marL="0" indent="0">
              <a:buNone/>
            </a:pPr>
            <a:r>
              <a:rPr b="1"/>
              <a:t>Approach 1: Pre-pull in Host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On host (before creating Sysbox containers)</a:t>
            </a:r>
            <a:br/>
            <a:r>
              <a:rPr>
                <a:latin typeface="Courier"/>
              </a:rPr>
              <a:t>docker pull python:3.11-slim</a:t>
            </a:r>
            <a:br/>
            <a:r>
              <a:rPr>
                <a:latin typeface="Courier"/>
              </a:rPr>
              <a:t>docker pull node:20-alpine</a:t>
            </a:r>
            <a:br/>
            <a:r>
              <a:rPr>
                <a:latin typeface="Courier"/>
              </a:rPr>
              <a:t>docker pull postgres:15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Sysbox containers inherit from /var/lib/docker/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(via sysbox-fs mount magic)</a:t>
            </a:r>
          </a:p>
          <a:p>
            <a:pPr lvl="0" marL="0" indent="0">
              <a:buNone/>
            </a:pPr>
            <a:r>
              <a:rPr b="1"/>
              <a:t>Approach 2: Shared Volume</a:t>
            </a:r>
            <a:r>
              <a:rPr/>
              <a:t> (experimental):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docker-compose.yml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services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mars-dev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runtime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sysbox-runc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volumes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docker-cache:/var/lib/docker:ro</a:t>
            </a:r>
            <a:r>
              <a:rPr i="1">
                <a:solidFill>
                  <a:srgbClr val="60A0B0"/>
                </a:solidFill>
                <a:latin typeface="Courier"/>
              </a:rPr>
              <a:t>  # Read-only shared cache</a:t>
            </a:r>
          </a:p>
          <a:p>
            <a:pPr lvl="0" marL="0" indent="0">
              <a:buNone/>
            </a:pPr>
            <a:r>
              <a:rPr b="1"/>
              <a:t>Approach 3: Build Once, Run Many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Build MARS images on host</a:t>
            </a:r>
            <a:br/>
            <a:r>
              <a:rPr>
                <a:latin typeface="Courier"/>
              </a:rPr>
              <a:t>docker build -t mars/litellm:latest -f litellm/Dockerfile 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Sysbox containers can docker pull from host registry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(if registry is accessible)</a:t>
            </a:r>
          </a:p>
          <a:p>
            <a:pPr lvl="0" marL="0" indent="0">
              <a:buNone/>
            </a:pPr>
            <a:r>
              <a:rPr b="1"/>
              <a:t>Current MARS Status</a:t>
            </a:r>
            <a:r>
              <a:rPr/>
              <a:t>: Uses Approach 1 (pre-pull) + periodic cleanup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Sysbox</a:t>
            </a:r>
            <a:r>
              <a:rPr/>
              <a:t> </a:t>
            </a:r>
            <a:r>
              <a:rPr/>
              <a:t>vs. Rootless</a:t>
            </a:r>
            <a:r>
              <a:rPr/>
              <a:t> </a:t>
            </a:r>
            <a:r>
              <a:rPr/>
              <a:t>Docker:</a:t>
            </a:r>
            <a:r>
              <a:rPr/>
              <a:t> </a:t>
            </a:r>
            <a:r>
              <a:rPr/>
              <a:t>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Sysbox</a:t>
                      </a:r>
                      <a:r>
                        <a:rPr/>
                        <a:t> </a:t>
                      </a:r>
                      <a:r>
                        <a:rPr/>
                        <a:t>(MARS)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Rootless</a:t>
                      </a:r>
                      <a:r>
                        <a:rPr b="1"/>
                        <a:t> </a:t>
                      </a:r>
                      <a:r>
                        <a:rPr b="1"/>
                        <a:t>Docker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Setup</a:t>
                      </a:r>
                      <a:r>
                        <a:rPr b="1"/>
                        <a:t> </a:t>
                      </a:r>
                      <a:r>
                        <a:rPr b="1"/>
                        <a:t>Complexity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Simple</a:t>
                      </a:r>
                      <a:r>
                        <a:rPr/>
                        <a:t> </a:t>
                      </a:r>
                      <a:r>
                        <a:rPr/>
                        <a:t>(install</a:t>
                      </a:r>
                      <a:r>
                        <a:rPr/>
                        <a:t> </a:t>
                      </a:r>
                      <a:r>
                        <a:rPr/>
                        <a:t>runtime)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Complex</a:t>
                      </a:r>
                      <a:r>
                        <a:rPr/>
                        <a:t> </a:t>
                      </a:r>
                      <a:r>
                        <a:rPr/>
                        <a:t>(daemon</a:t>
                      </a:r>
                      <a:r>
                        <a:rPr/>
                        <a:t> </a:t>
                      </a:r>
                      <a:r>
                        <a:rPr/>
                        <a:t>setup)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Docker-in-Docker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Limited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Systemd</a:t>
                      </a:r>
                      <a:r>
                        <a:rPr b="1"/>
                        <a:t> </a:t>
                      </a:r>
                      <a:r>
                        <a:rPr b="1"/>
                        <a:t>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Privileged</a:t>
                      </a:r>
                      <a:r>
                        <a:rPr b="1"/>
                        <a:t> </a:t>
                      </a:r>
                      <a:r>
                        <a:rPr b="1"/>
                        <a:t>Ports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(remapped)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(&gt;1024</a:t>
                      </a:r>
                      <a:r>
                        <a:rPr/>
                        <a:t> </a:t>
                      </a:r>
                      <a:r>
                        <a:rPr/>
                        <a:t>only)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UID</a:t>
                      </a:r>
                      <a:r>
                        <a:rPr b="1"/>
                        <a:t> </a:t>
                      </a:r>
                      <a:r>
                        <a:rPr b="1"/>
                        <a:t>Mapping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Automatic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Manual</a:t>
                      </a:r>
                      <a:r>
                        <a:rPr/>
                        <a:t> </a:t>
                      </a:r>
                      <a:r>
                        <a:rPr/>
                        <a:t>config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Image</a:t>
                      </a:r>
                      <a:r>
                        <a:rPr b="1"/>
                        <a:t> </a:t>
                      </a:r>
                      <a:r>
                        <a:rPr b="1"/>
                        <a:t>Caching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Per-container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Shared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Strong</a:t>
                      </a:r>
                      <a:r>
                        <a:rPr/>
                        <a:t> </a:t>
                      </a:r>
                      <a:r>
                        <a:rPr/>
                        <a:t>isolation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Strong</a:t>
                      </a:r>
                      <a:r>
                        <a:rPr/>
                        <a:t> </a:t>
                      </a:r>
                      <a:r>
                        <a:rPr/>
                        <a:t>isolation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Multi-User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Works</a:t>
                      </a:r>
                      <a:r>
                        <a:rPr/>
                        <a:t> </a:t>
                      </a:r>
                      <a:r>
                        <a:rPr/>
                        <a:t>well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Per-user</a:t>
                      </a:r>
                      <a:r>
                        <a:rPr/>
                        <a:t> </a:t>
                      </a:r>
                      <a:r>
                        <a:rPr/>
                        <a:t>daemon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Why MARS chose Sysbox</a:t>
            </a:r>
            <a:r>
              <a:rPr/>
              <a:t>: Simpler setup, full Docker features, better multi-user</a:t>
            </a:r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Sysbox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MARS:</a:t>
            </a:r>
            <a:r>
              <a:rPr/>
              <a:t> </a:t>
            </a:r>
            <a:r>
              <a:rPr/>
              <a:t>Practical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Scenario</a:t>
            </a:r>
            <a:r>
              <a:rPr/>
              <a:t>: Running MARS development environment (E6)</a:t>
            </a:r>
          </a:p>
          <a:p>
            <a:pPr lvl="0" marL="0" indent="0">
              <a:buNone/>
            </a:pPr>
            <a:r>
              <a:rPr b="1"/>
              <a:t>Without Sysbox</a:t>
            </a:r>
            <a:r>
              <a:rPr/>
              <a:t> (privileged container):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--privileged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-v /var/run/docker.sock:/var/run/docker.sock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mars/dev:latest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⚠️ Container can: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Access host Docker daemon (full control)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Escape to host via vulnerabilities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Read/write host filesystem</a:t>
            </a:r>
          </a:p>
          <a:p>
            <a:pPr lvl="0" marL="0" indent="0">
              <a:buNone/>
            </a:pPr>
            <a:r>
              <a:rPr b="1"/>
              <a:t>With Sysbox</a:t>
            </a:r>
            <a:r>
              <a:rPr/>
              <a:t> (MARS approach):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--runtime=sysbox-runc </a:t>
            </a:r>
            <a:r>
              <a:rPr b="1">
                <a:solidFill>
                  <a:srgbClr val="00702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mars/dev:latest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✅ Container can: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Run Docker inside (isolated daemon)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Use systemd (process manager)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Feel like full system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❌ Container cannot: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Access host Docker daemon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Break out to host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- See other containers' data</a:t>
            </a:r>
          </a:p>
          <a:p>
            <a:pPr lvl="0" marL="0" indent="0">
              <a:buNone/>
            </a:pPr>
            <a:r>
              <a:rPr b="1"/>
              <a:t>Security Gain</a:t>
            </a:r>
            <a:r>
              <a:rPr/>
              <a:t>: </a:t>
            </a:r>
            <a:r>
              <a:rPr b="1"/>
              <a:t>Defense in depth</a:t>
            </a:r>
            <a:r>
              <a:rPr/>
              <a:t> without functionality loss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Submodules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Dependency</a:t>
            </a:r>
            <a:r>
              <a:rPr/>
              <a:t> </a:t>
            </a:r>
            <a:r>
              <a:rPr/>
              <a:t>Management</a:t>
            </a:r>
            <a:r>
              <a:rPr/>
              <a:t> </a:t>
            </a:r>
            <a:r>
              <a:rPr/>
              <a:t>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has 2 types of dependencies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1. Research Project Dependencies</a:t>
            </a:r>
            <a:r>
              <a:rPr/>
              <a:t> (outward): - How do research projects </a:t>
            </a:r>
            <a:r>
              <a:rPr b="1"/>
              <a:t>use</a:t>
            </a:r>
            <a:r>
              <a:rPr/>
              <a:t> MARS? - Where does MARS code live in research repos? - How to update MARS version?</a:t>
            </a:r>
          </a:p>
          <a:p>
            <a:pPr lvl="0" marL="0" indent="0">
              <a:buNone/>
            </a:pPr>
            <a:r>
              <a:rPr b="1"/>
              <a:t>2. MARS Internal Dependencies</a:t>
            </a:r>
            <a:r>
              <a:rPr/>
              <a:t> (inward): - How does MARS </a:t>
            </a:r>
            <a:r>
              <a:rPr b="1"/>
              <a:t>use</a:t>
            </a:r>
            <a:r>
              <a:rPr/>
              <a:t> external tools (LiteLLM, GitLab MCP, Zotero)? - How to version-control external dependencies? - How to ensure reproducible builds?</a:t>
            </a:r>
          </a:p>
          <a:p>
            <a:pPr lvl="0" marL="0" indent="0">
              <a:buNone/>
            </a:pPr>
            <a:r>
              <a:rPr b="1"/>
              <a:t>Solution</a:t>
            </a:r>
            <a:r>
              <a:rPr/>
              <a:t>: Git submodules (both directions)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Git</a:t>
            </a:r>
            <a:r>
              <a:rPr/>
              <a:t> </a:t>
            </a:r>
            <a:r>
              <a:rPr/>
              <a:t>Submodules?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Git Submodule</a:t>
            </a:r>
            <a:r>
              <a:rPr/>
              <a:t>: A git repository embedded inside another git repository</a:t>
            </a:r>
          </a:p>
          <a:p>
            <a:pPr lvl="0" marL="0" indent="0">
              <a:buNone/>
            </a:pPr>
            <a:r>
              <a:rPr b="1"/>
              <a:t>Visual Concept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Main Repository (research-project/)
├── .git/                 # Main repo's git metadata
├── src/
│   ├── algorithms/       # Your research code
│   └── framework/        # MARS (git submodule)
│       ├── .git/         # MARS's git metadata (pointer)
│       └── core/         # MARS source code
└── .gitmodules           # Submodule configuration</a:t>
            </a:r>
          </a:p>
          <a:p>
            <a:pPr lvl="0" marL="0" indent="0">
              <a:buNone/>
            </a:pPr>
            <a:r>
              <a:rPr b="1"/>
              <a:t>Key Properties</a:t>
            </a:r>
            <a:r>
              <a:rPr/>
              <a:t>: - </a:t>
            </a:r>
            <a:r>
              <a:rPr b="1"/>
              <a:t>Specific commit</a:t>
            </a:r>
            <a:r>
              <a:rPr/>
              <a:t>: Submodule tracks exact MARS version (e.g., commit abc123) - </a:t>
            </a:r>
            <a:r>
              <a:rPr b="1"/>
              <a:t>Independent history</a:t>
            </a:r>
            <a:r>
              <a:rPr/>
              <a:t>: MARS and research-project have separate git histories - </a:t>
            </a:r>
            <a:r>
              <a:rPr b="1"/>
              <a:t>Reproducible</a:t>
            </a:r>
            <a:r>
              <a:rPr/>
              <a:t>: </a:t>
            </a:r>
            <a:r>
              <a:rPr>
                <a:latin typeface="Courier"/>
              </a:rPr>
              <a:t>git clone --recursive</a:t>
            </a:r>
            <a:r>
              <a:rPr/>
              <a:t> gets exact versions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Submodules: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Projects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MARS</a:t>
            </a:r>
          </a:p>
        </p:txBody>
      </p:sp>
      <p:pic>
        <p:nvPicPr>
          <p:cNvPr descr="diagrams/png/git-submodules-rese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73200" y="1600200"/>
            <a:ext cx="6210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Submodules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Project</a:t>
            </a:r>
          </a:p>
        </p:txBody>
      </p:sp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Research Project Structure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battery-research/                    # Your research repository
├── .git/
├── .gitmodules                      # Defines MARS submodule
├── src/
│   ├── framework/                   # MARS (git submodule)
│   │   ├── core/
│   │   ├── modules/
│   │   └── bin/mars                 # MARS CLI
│   └── battery_sim/                 # Your research code
├── data/                            # Your research data
├── results/                         # Your experiment results
└── README.md</a:t>
            </a:r>
          </a:p>
          <a:p>
            <a:pPr lvl="0" marL="0" indent="0">
              <a:buNone/>
            </a:pPr>
            <a:r>
              <a:rPr b="1"/>
              <a:t>.gitmodules file</a:t>
            </a:r>
            <a:r>
              <a:rPr/>
              <a:t>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[submodule "src/framework"]</a:t>
            </a:r>
            <a:br/>
            <a:r>
              <a:rPr>
                <a:solidFill>
                  <a:srgbClr val="902000"/>
                </a:solidFill>
                <a:latin typeface="Courier"/>
              </a:rPr>
              <a:t>    path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 src/framework</a:t>
            </a:r>
            <a:br/>
            <a:r>
              <a:rPr>
                <a:solidFill>
                  <a:srgbClr val="902000"/>
                </a:solidFill>
                <a:latin typeface="Courier"/>
              </a:rPr>
              <a:t>    url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 https://github.com/nasa/mars-v2.git</a:t>
            </a:r>
            <a:br/>
            <a:r>
              <a:rPr>
                <a:solidFill>
                  <a:srgbClr val="902000"/>
                </a:solidFill>
                <a:latin typeface="Courier"/>
              </a:rPr>
              <a:t>    branch </a:t>
            </a:r>
            <a:r>
              <a:rPr>
                <a:solidFill>
                  <a:srgbClr val="007020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 v1</a:t>
            </a:r>
            <a:r>
              <a:rPr>
                <a:solidFill>
                  <a:srgbClr val="40A070"/>
                </a:solidFill>
                <a:latin typeface="Courier"/>
              </a:rPr>
              <a:t>.0</a:t>
            </a:r>
          </a:p>
          <a:p>
            <a:pPr lvl="0" marL="0" indent="0">
              <a:buNone/>
            </a:pPr>
            <a:r>
              <a:rPr b="1"/>
              <a:t>Setup</a:t>
            </a:r>
            <a:r>
              <a:rPr/>
              <a:t> (one-time):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add https://github.com/nasa/mars-v2.git src/framework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"Add MARS framework as submodule"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Initial Clone</a:t>
            </a:r>
            <a:r>
              <a:rPr/>
              <a:t> (new team member):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Clone research project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https://gitlab.example.com/research/battery-sim.git</a:t>
            </a:r>
            <a:br/>
            <a:r>
              <a:rPr>
                <a:latin typeface="Courier"/>
              </a:rPr>
              <a:t>cd battery-sim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Initialize submodules (gets MARS)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update --init --recursive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Result: src/framework/ now contains MARS</a:t>
            </a:r>
          </a:p>
          <a:p>
            <a:pPr lvl="0" marL="0" indent="0">
              <a:buNone/>
            </a:pPr>
            <a:r>
              <a:rPr b="1"/>
              <a:t>Update MARS Version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Navigate to MARS submodule</a:t>
            </a:r>
            <a:br/>
            <a:r>
              <a:rPr>
                <a:latin typeface="Courier"/>
              </a:rPr>
              <a:t>cd src/framework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Pull latest MARS changes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pull origin main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Return to research project</a:t>
            </a:r>
            <a:br/>
            <a:r>
              <a:rPr>
                <a:latin typeface="Courier"/>
              </a:rPr>
              <a:t>cd ../..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Commit updated MARS version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src/framework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"Update MARS to v1.1"</a:t>
            </a:r>
          </a:p>
          <a:p>
            <a:pPr lvl="0" marL="0" indent="0">
              <a:buNone/>
            </a:pPr>
            <a:r>
              <a:rPr b="1"/>
              <a:t>Benefit</a:t>
            </a:r>
            <a:r>
              <a:rPr/>
              <a:t>: Research project tracks </a:t>
            </a:r>
            <a:r>
              <a:rPr b="1"/>
              <a:t>exact MARS version</a:t>
            </a:r>
            <a:r>
              <a:rPr/>
              <a:t> (reproducible results)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Submodules: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Uses</a:t>
            </a:r>
            <a:r>
              <a:rPr/>
              <a:t> </a:t>
            </a:r>
            <a:r>
              <a:rPr/>
              <a:t>External</a:t>
            </a:r>
            <a:r>
              <a:rPr/>
              <a:t> </a:t>
            </a:r>
            <a:r>
              <a:rPr/>
              <a:t>Dependencies</a:t>
            </a:r>
          </a:p>
        </p:txBody>
      </p:sp>
      <p:pic>
        <p:nvPicPr>
          <p:cNvPr descr="diagrams/png/git-submodules-ma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05100"/>
            <a:ext cx="8229600" cy="180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Git</a:t>
            </a:r>
            <a:r>
              <a:rPr/>
              <a:t> </a:t>
            </a:r>
            <a:r>
              <a:rPr/>
              <a:t>Submodules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Dependencies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Repository Structure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mars-v2/                             # MARS repository
├── .git/
├── .gitmodules                      # Defines 5 external dependencies
├── core/
├── modules/
├── external/                        # External dependencies (submodules)
│   ├── litellm/                     # Git submodule → LiteLLM fork
│   ├── gitlab-mcp/                  # Git submodule → GitLab MCP fork
│   ├── zotero-selfhost/             # Git submodule → Zotero Docker
│   ├── claude-extractor/            # Git submodule → Session exporter
│   └── generic-infra/               # Git submodule → Infrastructure patterns
└── bin/</a:t>
            </a:r>
          </a:p>
          <a:p>
            <a:pPr lvl="0" marL="0" indent="0">
              <a:buNone/>
            </a:pPr>
            <a:r>
              <a:rPr b="1"/>
              <a:t>Why Submodules for External Dependencies?</a:t>
            </a:r>
            <a:r>
              <a:rPr/>
              <a:t> - ✅ </a:t>
            </a:r>
            <a:r>
              <a:rPr b="1"/>
              <a:t>Version locking</a:t>
            </a:r>
            <a:r>
              <a:rPr/>
              <a:t>: MARS tracks exact commit of each dependency - ✅ </a:t>
            </a:r>
            <a:r>
              <a:rPr b="1"/>
              <a:t>Reproducible builds</a:t>
            </a:r>
            <a:r>
              <a:rPr/>
              <a:t>: </a:t>
            </a:r>
            <a:r>
              <a:rPr>
                <a:latin typeface="Courier"/>
              </a:rPr>
              <a:t>git clone --recursive</a:t>
            </a:r>
            <a:r>
              <a:rPr/>
              <a:t> gets everything - ✅ </a:t>
            </a:r>
            <a:r>
              <a:rPr b="1"/>
              <a:t>Offline development</a:t>
            </a:r>
            <a:r>
              <a:rPr/>
              <a:t>: All dependencies in one clone - ✅ </a:t>
            </a:r>
            <a:r>
              <a:rPr b="1"/>
              <a:t>Fork management</a:t>
            </a:r>
            <a:r>
              <a:rPr/>
              <a:t>: MARS uses forks with custom patches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External</a:t>
            </a:r>
            <a:r>
              <a:rPr/>
              <a:t> </a:t>
            </a:r>
            <a:r>
              <a:rPr/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5 External Repositories</a:t>
            </a:r>
            <a:r>
              <a:rPr/>
              <a:t> (all managed as submodules):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Fork?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LiteLLM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Python/Docker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gateway</a:t>
                      </a:r>
                      <a:r>
                        <a:rPr/>
                        <a:t> </a:t>
                      </a:r>
                      <a:r>
                        <a:rPr/>
                        <a:t>(AskSage/CAPRA)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(AskSage</a:t>
                      </a:r>
                      <a:r>
                        <a:rPr/>
                        <a:t> </a:t>
                      </a:r>
                      <a:r>
                        <a:rPr/>
                        <a:t>provider)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GitLab</a:t>
                      </a:r>
                      <a:r>
                        <a:rPr b="1"/>
                        <a:t> </a:t>
                      </a: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Node.js</a:t>
                      </a:r>
                      <a:r>
                        <a:rPr/>
                        <a:t> </a:t>
                      </a:r>
                      <a:r>
                        <a:rPr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79</a:t>
                      </a:r>
                      <a:r>
                        <a:rPr/>
                        <a:t> </a:t>
                      </a:r>
                      <a:r>
                        <a:rPr/>
                        <a:t>GitLab</a:t>
                      </a:r>
                      <a:r>
                        <a:rPr/>
                        <a:t> </a:t>
                      </a: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(fixes/features)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Zotero</a:t>
                      </a:r>
                      <a:r>
                        <a:rPr b="1"/>
                        <a:t> </a:t>
                      </a:r>
                      <a:r>
                        <a:rPr b="1"/>
                        <a:t>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Docker</a:t>
                      </a:r>
                      <a:r>
                        <a:rPr/>
                        <a:t> </a:t>
                      </a:r>
                      <a:r>
                        <a:rPr/>
                        <a:t>Compose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Self-hosted</a:t>
                      </a:r>
                      <a:r>
                        <a:rPr/>
                        <a:t> </a:t>
                      </a:r>
                      <a:r>
                        <a:rPr/>
                        <a:t>Zotero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(upstream)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Zotero</a:t>
                      </a:r>
                      <a:r>
                        <a:rPr b="1"/>
                        <a:t> </a:t>
                      </a: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Literature</a:t>
                      </a:r>
                      <a:r>
                        <a:rPr/>
                        <a:t> </a:t>
                      </a:r>
                      <a:r>
                        <a:rPr/>
                        <a:t>mgmt</a:t>
                      </a:r>
                      <a:r>
                        <a:rPr/>
                        <a:t> </a:t>
                      </a:r>
                      <a:r>
                        <a:rPr/>
                        <a:t>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(10</a:t>
                      </a:r>
                      <a:r>
                        <a:rPr/>
                        <a:t> </a:t>
                      </a:r>
                      <a:r>
                        <a:rPr/>
                        <a:t>tools)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Claude</a:t>
                      </a:r>
                      <a:r>
                        <a:rPr b="1"/>
                        <a:t> </a:t>
                      </a:r>
                      <a:r>
                        <a:rPr b="1"/>
                        <a:t>Extractor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CCC</a:t>
                      </a:r>
                      <a:r>
                        <a:rPr/>
                        <a:t> </a:t>
                      </a:r>
                      <a:r>
                        <a:rPr/>
                        <a:t>session</a:t>
                      </a:r>
                      <a:r>
                        <a:rPr/>
                        <a:t> </a:t>
                      </a:r>
                      <a:r>
                        <a:rPr/>
                        <a:t>export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(upstream)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Generic</a:t>
                      </a:r>
                      <a:r>
                        <a:rPr b="1"/>
                        <a:t> </a:t>
                      </a:r>
                      <a:r>
                        <a:rPr b="1"/>
                        <a:t>Infra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Patterns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Reusable</a:t>
                      </a:r>
                      <a:r>
                        <a:rPr/>
                        <a:t> </a:t>
                      </a:r>
                      <a:r>
                        <a:rPr/>
                        <a:t>infra</a:t>
                      </a:r>
                      <a:r>
                        <a:rPr/>
                        <a:t> </a:t>
                      </a:r>
                      <a:r>
                        <a:rPr/>
                        <a:t>templates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Yes</a:t>
                      </a:r>
                      <a:r>
                        <a:rPr/>
                        <a:t> </a:t>
                      </a:r>
                      <a:r>
                        <a:rPr/>
                        <a:t>(extracted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MARS)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Setup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One command gets all dependencies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--recursive https://github.com/nasa/mars-v2.git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Update</a:t>
            </a:r>
            <a:r>
              <a:rPr/>
              <a:t> </a:t>
            </a:r>
            <a:r>
              <a:rPr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Update External Dependency</a:t>
            </a:r>
            <a:r>
              <a:rPr/>
              <a:t>:</a:t>
            </a:r>
          </a:p>
          <a:p>
            <a:pPr lvl="0" marL="0" indent="0">
              <a:buNone/>
            </a:pPr>
            <a:r>
              <a:rPr b="1"/>
              <a:t>Scenario</a:t>
            </a:r>
            <a:r>
              <a:rPr/>
              <a:t>: LiteLLM releases new version with bug fixes</a:t>
            </a:r>
          </a:p>
          <a:p>
            <a:pPr lvl="0" marL="0" indent="0">
              <a:buNone/>
            </a:pPr>
            <a:r>
              <a:rPr b="1"/>
              <a:t>Workflow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Navigate to submodule</a:t>
            </a:r>
            <a:br/>
            <a:r>
              <a:rPr>
                <a:latin typeface="Courier"/>
              </a:rPr>
              <a:t>cd external/litellm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Check current commit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log --oneline -1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Output: abc123 Add AskSage provider support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Pull upstream changes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fetch origin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merge origin/main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Test changes</a:t>
            </a:r>
            <a:br/>
            <a:r>
              <a:rPr>
                <a:latin typeface="Courier"/>
              </a:rPr>
              <a:t>cd ../..</a:t>
            </a:r>
            <a:br/>
            <a:r>
              <a:rPr>
                <a:latin typeface="Courier"/>
              </a:rPr>
              <a:t>pytest tests/test_litellm_integration.py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Commit updated submodule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"Update LiteLLM to v1.2.3 (bug fixes)"</a:t>
            </a:r>
          </a:p>
          <a:p>
            <a:pPr lvl="0" marL="0" indent="0">
              <a:buNone/>
            </a:pPr>
            <a:r>
              <a:rPr b="1"/>
              <a:t>Benefit</a:t>
            </a:r>
            <a:r>
              <a:rPr/>
              <a:t>: Controlled dependency updates, full testing before integration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</a:t>
            </a:r>
            <a:r>
              <a:rPr/>
              <a:t> </a:t>
            </a:r>
            <a:r>
              <a:rPr/>
              <a:t>vs. Package</a:t>
            </a:r>
            <a:r>
              <a:rPr/>
              <a:t> </a:t>
            </a:r>
            <a:r>
              <a:rPr/>
              <a:t>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Why not use pip/npm/docker pull?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Git</a:t>
                      </a:r>
                      <a:r>
                        <a:rPr b="1"/>
                        <a:t> </a:t>
                      </a:r>
                      <a:r>
                        <a:rPr b="1"/>
                        <a:t>Submodules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Package</a:t>
                      </a:r>
                      <a:r>
                        <a:rPr b="1"/>
                        <a:t> </a:t>
                      </a:r>
                      <a:r>
                        <a:rPr b="1"/>
                        <a:t>Managers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Offline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Works</a:t>
                      </a:r>
                      <a:r>
                        <a:rPr/>
                        <a:t> </a:t>
                      </a:r>
                      <a:r>
                        <a:rPr/>
                        <a:t>(bundled)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Needs</a:t>
                      </a:r>
                      <a:r>
                        <a:rPr/>
                        <a:t> </a:t>
                      </a:r>
                      <a:r>
                        <a:rPr/>
                        <a:t>internet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Reproducibility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Exact</a:t>
                      </a:r>
                      <a:r>
                        <a:rPr/>
                        <a:t> </a:t>
                      </a:r>
                      <a:r>
                        <a:rPr/>
                        <a:t>commit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Version</a:t>
                      </a:r>
                      <a:r>
                        <a:rPr/>
                        <a:t> </a:t>
                      </a:r>
                      <a:r>
                        <a:rPr/>
                        <a:t>ranges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Custom</a:t>
                      </a:r>
                      <a:r>
                        <a:rPr b="1"/>
                        <a:t> </a:t>
                      </a:r>
                      <a:r>
                        <a:rPr b="1"/>
                        <a:t>Patches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Easy</a:t>
                      </a:r>
                      <a:r>
                        <a:rPr/>
                        <a:t> </a:t>
                      </a:r>
                      <a:r>
                        <a:rPr/>
                        <a:t>(fork)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Hard</a:t>
                      </a:r>
                      <a:r>
                        <a:rPr/>
                        <a:t> </a:t>
                      </a:r>
                      <a:r>
                        <a:rPr/>
                        <a:t>(patch</a:t>
                      </a:r>
                      <a:r>
                        <a:rPr/>
                        <a:t> </a:t>
                      </a:r>
                      <a:r>
                        <a:rPr/>
                        <a:t>files)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❌</a:t>
                      </a:r>
                      <a:r>
                        <a:rPr/>
                        <a:t> </a:t>
                      </a:r>
                      <a:r>
                        <a:rPr/>
                        <a:t>Requires</a:t>
                      </a:r>
                      <a:r>
                        <a:rPr/>
                        <a:t> </a:t>
                      </a:r>
                      <a:r>
                        <a:rPr/>
                        <a:t>registry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Version</a:t>
                      </a:r>
                      <a:r>
                        <a:rPr b="1"/>
                        <a:t> </a:t>
                      </a:r>
                      <a:r>
                        <a:rPr b="1"/>
                        <a:t>Lock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Explicit</a:t>
                      </a:r>
                      <a:r>
                        <a:rPr/>
                        <a:t> </a:t>
                      </a:r>
                      <a:r>
                        <a:rPr/>
                        <a:t>commit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Lock</a:t>
                      </a:r>
                      <a:r>
                        <a:rPr/>
                        <a:t> </a:t>
                      </a:r>
                      <a:r>
                        <a:rPr/>
                        <a:t>files</a:t>
                      </a:r>
                      <a:r>
                        <a:rPr/>
                        <a:t> </a:t>
                      </a:r>
                      <a:r>
                        <a:rPr/>
                        <a:t>(can</a:t>
                      </a:r>
                      <a:r>
                        <a:rPr/>
                        <a:t> </a:t>
                      </a:r>
                      <a:r>
                        <a:rPr/>
                        <a:t>drift)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Security</a:t>
                      </a:r>
                      <a:r>
                        <a:rPr b="1"/>
                        <a:t> </a:t>
                      </a:r>
                      <a:r>
                        <a:rPr b="1"/>
                        <a:t>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  <a:r>
                        <a:rPr/>
                        <a:t> </a:t>
                      </a:r>
                      <a:r>
                        <a:rPr/>
                        <a:t>source</a:t>
                      </a:r>
                      <a:r>
                        <a:rPr/>
                        <a:t> </a:t>
                      </a:r>
                      <a:r>
                        <a:rPr/>
                        <a:t>visible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⚠️</a:t>
                      </a:r>
                      <a:r>
                        <a:rPr/>
                        <a:t> </a:t>
                      </a:r>
                      <a:r>
                        <a:rPr/>
                        <a:t>Binary/compiled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MARS Choice</a:t>
            </a:r>
            <a:r>
              <a:rPr/>
              <a:t>: Submodules for </a:t>
            </a:r>
            <a:r>
              <a:rPr b="1"/>
              <a:t>critical dependencies</a:t>
            </a:r>
            <a:r>
              <a:rPr/>
              <a:t>, package managers for </a:t>
            </a:r>
            <a:r>
              <a:rPr b="1"/>
              <a:t>libraries</a:t>
            </a:r>
          </a:p>
          <a:p>
            <a:pPr lvl="0" marL="0" indent="0">
              <a:buNone/>
            </a:pPr>
            <a:r>
              <a:rPr b="1"/>
              <a:t>Example</a:t>
            </a:r>
            <a:r>
              <a:rPr/>
              <a:t>: - </a:t>
            </a:r>
            <a:r>
              <a:rPr>
                <a:latin typeface="Courier"/>
              </a:rPr>
              <a:t>external/litellm/</a:t>
            </a:r>
            <a:r>
              <a:rPr/>
              <a:t> → </a:t>
            </a:r>
            <a:r>
              <a:rPr b="1"/>
              <a:t>Submodule</a:t>
            </a:r>
            <a:r>
              <a:rPr/>
              <a:t> (custom AskSage provider) - </a:t>
            </a:r>
            <a:r>
              <a:rPr>
                <a:latin typeface="Courier"/>
              </a:rPr>
              <a:t>pip install requests</a:t>
            </a:r>
            <a:r>
              <a:rPr/>
              <a:t> → </a:t>
            </a:r>
            <a:r>
              <a:rPr b="1"/>
              <a:t>Package manager</a:t>
            </a:r>
            <a:r>
              <a:rPr/>
              <a:t> (standard library)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Common</a:t>
            </a:r>
            <a:r>
              <a:rPr/>
              <a:t> </a:t>
            </a:r>
            <a:r>
              <a:rPr/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Initial Setup</a:t>
            </a:r>
            <a:r>
              <a:rPr/>
              <a:t> (new MARS deployment):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--recursive https://github.com/nasa/mars-v2.git</a:t>
            </a:r>
            <a:br/>
            <a:r>
              <a:rPr>
                <a:latin typeface="Courier"/>
              </a:rPr>
              <a:t>cd mars-v2</a:t>
            </a:r>
            <a:br/>
            <a:r>
              <a:rPr>
                <a:latin typeface="Courier"/>
              </a:rPr>
              <a:t>./mars-dev/scripts/setup-external-deps.sh</a:t>
            </a:r>
          </a:p>
          <a:p>
            <a:pPr lvl="0" marL="0" indent="0">
              <a:buNone/>
            </a:pPr>
            <a:r>
              <a:rPr b="1"/>
              <a:t>2. Update All Submodules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update --remote --merge</a:t>
            </a:r>
          </a:p>
          <a:p>
            <a:pPr lvl="0" marL="0" indent="0">
              <a:buNone/>
            </a:pPr>
            <a:r>
              <a:rPr b="1"/>
              <a:t>3. Check Submodule Status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status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Output shows commit hash and branch for each submodule</a:t>
            </a:r>
          </a:p>
          <a:p>
            <a:pPr lvl="0" marL="0" indent="0">
              <a:buNone/>
            </a:pPr>
            <a:r>
              <a:rPr b="1"/>
              <a:t>4. Work on Submodule</a:t>
            </a:r>
            <a:r>
              <a:rPr/>
              <a:t> (develop patch):</a:t>
            </a:r>
          </a:p>
          <a:p>
            <a:pPr lvl="0" indent="0">
              <a:buNone/>
            </a:pPr>
            <a:r>
              <a:rPr>
                <a:latin typeface="Courier"/>
              </a:rPr>
              <a:t>cd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-b fix/asksage-streaming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Make changes, test, commit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fix/asksage-streaming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Return to MARS, update submodule reference</a:t>
            </a:r>
            <a:br/>
            <a:r>
              <a:rPr>
                <a:latin typeface="Courier"/>
              </a:rPr>
              <a:t>cd ../..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"Update LiteLLM with AskSage streaming fix"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Best</a:t>
            </a:r>
            <a:r>
              <a:rPr/>
              <a:t> </a:t>
            </a:r>
            <a:r>
              <a:rPr/>
              <a:t>Practices</a:t>
            </a:r>
            <a:r>
              <a:rPr/>
              <a:t> </a:t>
            </a:r>
            <a:r>
              <a:rPr/>
              <a:t>(MARS</a:t>
            </a:r>
            <a:r>
              <a:rPr/>
              <a:t> </a:t>
            </a:r>
            <a:r>
              <a:rPr/>
              <a:t>Approach)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Pin to Specific Commits</a:t>
            </a:r>
            <a:r>
              <a:rPr/>
              <a:t> (not branches):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Good: Reproducible</a:t>
            </a:r>
            <a:br/>
            <a:r>
              <a:rPr>
                <a:latin typeface="Courier"/>
              </a:rPr>
              <a:t>cd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abc123  # Specific commit</a:t>
            </a:r>
            <a:br/>
            <a:r>
              <a:rPr>
                <a:latin typeface="Courier"/>
              </a:rPr>
              <a:t>cd ../..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external/litellm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Avoid: Can change unexpectedly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update --remote  # Pulls latest, may break</a:t>
            </a:r>
          </a:p>
          <a:p>
            <a:pPr lvl="0" marL="0" indent="0">
              <a:buNone/>
            </a:pPr>
            <a:r>
              <a:rPr b="1"/>
              <a:t>2. Test Before Updating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Update submodule</a:t>
            </a:r>
            <a:br/>
            <a:r>
              <a:rPr>
                <a:latin typeface="Courier"/>
              </a:rPr>
              <a:t>cd external/litellm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pull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tests</a:t>
            </a:r>
            <a:br/>
            <a:r>
              <a:rPr>
                <a:latin typeface="Courier"/>
              </a:rPr>
              <a:t>cd ../..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pytest tests/test_litellm_*.py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Only commit if tests pass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external/litellm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-m </a:t>
            </a:r>
            <a:r>
              <a:rPr>
                <a:solidFill>
                  <a:srgbClr val="4070A0"/>
                </a:solidFill>
                <a:latin typeface="Courier"/>
              </a:rPr>
              <a:t>"..."</a:t>
            </a:r>
          </a:p>
          <a:p>
            <a:pPr lvl="0" marL="0" indent="0">
              <a:buNone/>
            </a:pPr>
            <a:r>
              <a:rPr b="1"/>
              <a:t>3. Document Dependencies</a:t>
            </a:r>
            <a:r>
              <a:rPr/>
              <a:t>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external-dependencies.yaml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dependencies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litellm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git-submodule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path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external/litellm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commit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abc123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purpose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AskSage/CAPRA AI gateway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status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Production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Dependency</a:t>
            </a:r>
            <a:r>
              <a:rPr/>
              <a:t> </a:t>
            </a:r>
            <a:r>
              <a:rPr/>
              <a:t>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Research Project (battery-sim)
    ↓ (git submodule)
MARS v2 (mars-v2)
    ↓ (5 git submodules)
    ├── LiteLLM (AI gateway)
    ├── GitLab MCP (project mgmt)
    ├── Zotero MCP (literature)
    ├── Zotero Server (self-hosted)
    └── Generic Infra (patterns)</a:t>
            </a:r>
          </a:p>
          <a:p>
            <a:pPr lvl="0" marL="0" indent="0">
              <a:buNone/>
            </a:pPr>
            <a:r>
              <a:rPr b="1"/>
              <a:t>Reproducibility Chain</a:t>
            </a:r>
            <a:r>
              <a:rPr/>
              <a:t>: 1. Research project pins MARS commit (e.g., v1.0.2) 2. MARS pins dependency commits (LiteLLM abc123, GitLab xyz789) 3. </a:t>
            </a:r>
            <a:r>
              <a:rPr>
                <a:latin typeface="Courier"/>
              </a:rPr>
              <a:t>git clone --recursive</a:t>
            </a:r>
            <a:r>
              <a:rPr/>
              <a:t> = </a:t>
            </a:r>
            <a:r>
              <a:rPr b="1"/>
              <a:t>exact versions, always</a:t>
            </a:r>
          </a:p>
          <a:p>
            <a:pPr lvl="0" marL="0" indent="0">
              <a:buNone/>
            </a:pPr>
            <a:r>
              <a:rPr b="1"/>
              <a:t>Air-Gap Capability</a:t>
            </a:r>
            <a:r>
              <a:rPr/>
              <a:t>: - Single clone = all dependencies (no network needed) - Tarball distribution = fully offline installation - Security review = all source code visible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Submodules:</a:t>
            </a:r>
            <a:r>
              <a:rPr/>
              <a:t> </a:t>
            </a:r>
            <a:r>
              <a:rPr/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 1</a:t>
            </a:r>
            <a:r>
              <a:rPr/>
              <a:t>: Submodule not initialized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Symptom: external/litellm/ is empty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Fix: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submodule update --init --recursive</a:t>
            </a:r>
          </a:p>
          <a:p>
            <a:pPr lvl="0" marL="0" indent="0">
              <a:buNone/>
            </a:pPr>
            <a:r>
              <a:rPr b="1"/>
              <a:t>Problem 2</a:t>
            </a:r>
            <a:r>
              <a:rPr/>
              <a:t>: Submodule detached HEAD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Symptom: (HEAD detached at abc123)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Fix (if you want to track a branch):</a:t>
            </a:r>
            <a:br/>
            <a:r>
              <a:rPr>
                <a:latin typeface="Courier"/>
              </a:rPr>
              <a:t>cd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checkout main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pull</a:t>
            </a:r>
            <a:br/>
            <a:r>
              <a:rPr>
                <a:latin typeface="Courier"/>
              </a:rPr>
              <a:t>cd ../..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external/litellm</a:t>
            </a:r>
          </a:p>
          <a:p>
            <a:pPr lvl="0" marL="0" indent="0">
              <a:buNone/>
            </a:pPr>
            <a:r>
              <a:rPr b="1"/>
              <a:t>Problem 3</a:t>
            </a:r>
            <a:r>
              <a:rPr/>
              <a:t>: Merge conflicts in submodule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Symptom: Conflict in submodule pointer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Fix:</a:t>
            </a:r>
            <a:br/>
            <a:r>
              <a:rPr>
                <a:latin typeface="Courier"/>
              </a:rPr>
              <a:t>cd external/litellm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status  # See what</a:t>
            </a:r>
            <a:r>
              <a:rPr>
                <a:solidFill>
                  <a:srgbClr val="4070A0"/>
                </a:solidFill>
                <a:latin typeface="Courier"/>
              </a:rPr>
              <a:t>'s conflicting</a:t>
            </a:r>
            <a:br/>
            <a:r>
              <a:rPr>
                <a:solidFill>
                  <a:srgbClr val="4070A0"/>
                </a:solidFill>
                <a:latin typeface="Courier"/>
              </a:rPr>
              <a:t># Resolve, then:</a:t>
            </a:r>
            <a:br/>
            <a:r>
              <a:rPr>
                <a:solidFill>
                  <a:srgbClr val="4070A0"/>
                </a:solidFill>
                <a:latin typeface="Courier"/>
              </a:rPr>
              <a:t>cd ../..</a:t>
            </a:r>
            <a:br/>
            <a:r>
              <a:rPr>
                <a:solidFill>
                  <a:srgbClr val="4070A0"/>
                </a:solidFill>
                <a:latin typeface="Courier"/>
              </a:rPr>
              <a:t>git add external/litellm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Summary:</a:t>
            </a:r>
            <a:r>
              <a:rPr/>
              <a:t> </a:t>
            </a:r>
            <a:r>
              <a:rPr/>
              <a:t>Technical</a:t>
            </a:r>
            <a:r>
              <a:rPr/>
              <a:t> </a:t>
            </a:r>
            <a:r>
              <a:rPr/>
              <a:t>Implementation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Technical</a:t>
            </a:r>
            <a:r>
              <a:rPr/>
              <a:t> </a:t>
            </a:r>
            <a:r>
              <a:rPr/>
              <a:t>Choices:</a:t>
            </a:r>
            <a:r>
              <a:rPr/>
              <a:t> </a:t>
            </a: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1. Git Worktrees</a:t>
            </a:r>
            <a:r>
              <a:rPr/>
              <a:t>: </a:t>
            </a:r>
            <a:r>
              <a:rPr b="1"/>
              <a:t>40-60% faster</a:t>
            </a:r>
            <a:r>
              <a:rPr/>
              <a:t> parallel development - 5-25 concurrent CCC sessions - No context switching - E8 sprint orchestration</a:t>
            </a:r>
          </a:p>
          <a:p>
            <a:pPr lvl="0" marL="0" indent="0">
              <a:buNone/>
            </a:pPr>
            <a:r>
              <a:rPr b="1"/>
              <a:t>2. AskSage + LiteLLM</a:t>
            </a:r>
            <a:r>
              <a:rPr/>
              <a:t>: </a:t>
            </a:r>
            <a:r>
              <a:rPr b="1"/>
              <a:t>Vendor independence</a:t>
            </a:r>
            <a:r>
              <a:rPr/>
              <a:t> - DoD classified AI access - Fallback to Anthropic/Ollama - Zero code changes to swap providers</a:t>
            </a:r>
          </a:p>
          <a:p>
            <a:pPr lvl="0" marL="0" indent="0">
              <a:buNone/>
            </a:pPr>
            <a:r>
              <a:rPr b="1"/>
              <a:t>3. Sysbox Runtime</a:t>
            </a:r>
            <a:r>
              <a:rPr/>
              <a:t>: </a:t>
            </a:r>
            <a:r>
              <a:rPr b="1"/>
              <a:t>Secure containerization</a:t>
            </a:r>
            <a:r>
              <a:rPr/>
              <a:t> - Docker-in-Docker without privileged mode - UID/GID isolation automatic - Full systemd support</a:t>
            </a:r>
          </a:p>
          <a:p>
            <a:pPr lvl="0" marL="0" indent="0">
              <a:buNone/>
            </a:pPr>
            <a:r>
              <a:rPr b="1"/>
              <a:t>4. Git Submodules</a:t>
            </a:r>
            <a:r>
              <a:rPr/>
              <a:t>: </a:t>
            </a:r>
            <a:r>
              <a:rPr b="1"/>
              <a:t>Reproducible builds</a:t>
            </a:r>
            <a:r>
              <a:rPr/>
              <a:t> - Exact dependency versions - Air-gap capable - Offline development</a:t>
            </a:r>
          </a:p>
          <a:p>
            <a:pPr lvl="0" marL="0" indent="0">
              <a:buNone/>
            </a:pPr>
            <a:r>
              <a:rPr b="1"/>
              <a:t>Result</a:t>
            </a:r>
            <a:r>
              <a:rPr/>
              <a:t>: Research-grade platform with DoD-level security</a:t>
            </a:r>
          </a:p>
        </p:txBody>
      </p:sp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Architecture:</a:t>
            </a:r>
            <a:r>
              <a:rPr/>
              <a:t> </a:t>
            </a:r>
            <a:r>
              <a:rPr/>
              <a:t>Three-Layer</a:t>
            </a:r>
            <a:r>
              <a:rPr/>
              <a:t> </a:t>
            </a:r>
            <a:r>
              <a:rPr/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Separation of Concerns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mars-rt</a:t>
            </a:r>
          </a:p>
          <a:p>
            <a:pPr lvl="0" marL="0" indent="0">
              <a:buNone/>
            </a:pPr>
            <a:r>
              <a:rPr b="1"/>
              <a:t>Runtime CLI</a:t>
            </a:r>
          </a:p>
          <a:p>
            <a:pPr lvl="0" marL="0" indent="0">
              <a:buNone/>
            </a:pPr>
            <a:r>
              <a:rPr b="1"/>
              <a:t>Purpose</a:t>
            </a:r>
            <a:r>
              <a:rPr/>
              <a:t>: Run research projects</a:t>
            </a:r>
          </a:p>
          <a:p>
            <a:pPr lvl="0" marL="0" indent="0">
              <a:buNone/>
            </a:pPr>
            <a:r>
              <a:rPr b="1"/>
              <a:t>Users</a:t>
            </a:r>
            <a:r>
              <a:rPr/>
              <a:t>: Research teams</a:t>
            </a:r>
          </a:p>
          <a:p>
            <a:pPr lvl="0" marL="0" indent="0">
              <a:buNone/>
            </a:pPr>
            <a:r>
              <a:rPr b="1"/>
              <a:t>Commands</a:t>
            </a:r>
            <a:r>
              <a:rPr/>
              <a:t>: - </a:t>
            </a:r>
            <a:r>
              <a:rPr>
                <a:latin typeface="Courier"/>
              </a:rPr>
              <a:t>mars up</a:t>
            </a:r>
            <a:r>
              <a:rPr/>
              <a:t> - Deploy services - </a:t>
            </a:r>
            <a:r>
              <a:rPr>
                <a:latin typeface="Courier"/>
              </a:rPr>
              <a:t>mars agents list</a:t>
            </a:r>
            <a:r>
              <a:rPr/>
              <a:t> - </a:t>
            </a:r>
            <a:r>
              <a:rPr>
                <a:latin typeface="Courier"/>
              </a:rPr>
              <a:t>mars services info</a:t>
            </a:r>
          </a:p>
          <a:p>
            <a:pPr lvl="0" marL="0" indent="0">
              <a:buNone/>
            </a:pPr>
            <a:r>
              <a:rPr b="1"/>
              <a:t>Location</a:t>
            </a:r>
            <a:r>
              <a:rPr/>
              <a:t>: Production/research environments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mars-dev</a:t>
            </a:r>
          </a:p>
          <a:p>
            <a:pPr lvl="0" marL="0" indent="0">
              <a:buNone/>
            </a:pPr>
            <a:r>
              <a:rPr b="1"/>
              <a:t>Development CLI</a:t>
            </a:r>
          </a:p>
          <a:p>
            <a:pPr lvl="0" marL="0" indent="0">
              <a:buNone/>
            </a:pPr>
            <a:r>
              <a:rPr b="1"/>
              <a:t>Purpose</a:t>
            </a:r>
            <a:r>
              <a:rPr/>
              <a:t>: Build MARS itself</a:t>
            </a:r>
          </a:p>
          <a:p>
            <a:pPr lvl="0" marL="0" indent="0">
              <a:buNone/>
            </a:pPr>
            <a:r>
              <a:rPr b="1"/>
              <a:t>Users</a:t>
            </a:r>
            <a:r>
              <a:rPr/>
              <a:t>: MARS developers</a:t>
            </a:r>
          </a:p>
          <a:p>
            <a:pPr lvl="0" marL="0" indent="0">
              <a:buNone/>
            </a:pPr>
            <a:r>
              <a:rPr b="1"/>
              <a:t>Commands</a:t>
            </a:r>
            <a:r>
              <a:rPr/>
              <a:t>: - </a:t>
            </a:r>
            <a:r>
              <a:rPr>
                <a:latin typeface="Courier"/>
              </a:rPr>
              <a:t>mars-dev up</a:t>
            </a:r>
            <a:r>
              <a:rPr/>
              <a:t> - Start E6 container - </a:t>
            </a:r>
            <a:r>
              <a:rPr>
                <a:latin typeface="Courier"/>
              </a:rPr>
              <a:t>mars-dev build</a:t>
            </a:r>
            <a:r>
              <a:rPr/>
              <a:t> - </a:t>
            </a:r>
            <a:r>
              <a:rPr>
                <a:latin typeface="Courier"/>
              </a:rPr>
              <a:t>mars-dev doctor</a:t>
            </a:r>
          </a:p>
          <a:p>
            <a:pPr lvl="0" marL="0" indent="0">
              <a:buNone/>
            </a:pPr>
            <a:r>
              <a:rPr b="1"/>
              <a:t>Location</a:t>
            </a:r>
            <a:r>
              <a:rPr/>
              <a:t>: E6 dev container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mars-user-plugin:</a:t>
            </a:r>
            <a:r>
              <a:rPr/>
              <a:t> </a:t>
            </a:r>
            <a:r>
              <a:rPr/>
              <a:t>Developer</a:t>
            </a:r>
            <a:r>
              <a:rPr/>
              <a:t> </a:t>
            </a:r>
            <a:r>
              <a:rPr/>
              <a:t>Experience</a:t>
            </a:r>
            <a:r>
              <a:rPr/>
              <a:t> </a:t>
            </a:r>
            <a:r>
              <a:rPr/>
              <a:t>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Problem</a:t>
            </a:r>
            <a:r>
              <a:rPr/>
              <a:t>: Every developer has different preferences</a:t>
            </a:r>
          </a:p>
          <a:p>
            <a:pPr lvl="0" marL="0" indent="0">
              <a:buNone/>
            </a:pPr>
            <a:r>
              <a:rPr b="1"/>
              <a:t>Solution</a:t>
            </a:r>
            <a:r>
              <a:rPr/>
              <a:t>: Plugin system for personal customization</a:t>
            </a:r>
          </a:p>
          <a:p>
            <a:pPr lvl="0" marL="0" indent="0">
              <a:buNone/>
            </a:pPr>
            <a:r>
              <a:rPr b="1"/>
              <a:t>Key Features</a:t>
            </a:r>
            <a:r>
              <a:rPr/>
              <a:t>:</a:t>
            </a:r>
          </a:p>
          <a:p>
            <a:pPr lvl="1">
              <a:buAutoNum type="arabicPeriod"/>
            </a:pPr>
            <a:r>
              <a:rPr b="1"/>
              <a:t>Auto-Mount System</a:t>
            </a:r>
            <a:r>
              <a:rPr/>
              <a:t>: Drop files → auto-mounted in E6 container</a:t>
            </a:r>
          </a:p>
          <a:p>
            <a:pPr lvl="1" indent="0">
              <a:buNone/>
            </a:pPr>
            <a:r>
              <a:rPr>
                <a:latin typeface="Courier"/>
              </a:rPr>
              <a:t>external/mars-user-plugin/
└── mounted-files/
    └── root/
        ├── .vimrc    (660 → rw mount)
        └── .bashrc   (640 → ro mount)</a:t>
            </a:r>
          </a:p>
          <a:p>
            <a:pPr lvl="1">
              <a:buAutoNum type="arabicPeriod"/>
            </a:pPr>
            <a:r>
              <a:rPr b="1"/>
              <a:t>Lifecycle Hooks</a:t>
            </a:r>
            <a:r>
              <a:rPr/>
              <a:t>: Hook into mars-dev events</a:t>
            </a:r>
          </a:p>
          <a:p>
            <a:pPr lvl="2"/>
            <a:r>
              <a:rPr>
                <a:latin typeface="Courier"/>
              </a:rPr>
              <a:t>pre-up.sh</a:t>
            </a:r>
            <a:r>
              <a:rPr/>
              <a:t> - Before container starts</a:t>
            </a:r>
          </a:p>
          <a:p>
            <a:pPr lvl="2"/>
            <a:r>
              <a:rPr>
                <a:latin typeface="Courier"/>
              </a:rPr>
              <a:t>container-startup.sh</a:t>
            </a:r>
            <a:r>
              <a:rPr/>
              <a:t> - During startup</a:t>
            </a:r>
          </a:p>
          <a:p>
            <a:pPr lvl="2"/>
            <a:r>
              <a:rPr>
                <a:latin typeface="Courier"/>
              </a:rPr>
              <a:t>post-build.sh</a:t>
            </a:r>
            <a:r>
              <a:rPr/>
              <a:t> - After build completes</a:t>
            </a:r>
          </a:p>
          <a:p>
            <a:pPr lvl="1">
              <a:buAutoNum type="arabicPeriod"/>
            </a:pPr>
            <a:r>
              <a:rPr b="1"/>
              <a:t>Git-Tracked</a:t>
            </a:r>
            <a:r>
              <a:rPr/>
              <a:t>: Personal configs tracked in separate repo</a:t>
            </a:r>
          </a:p>
          <a:p>
            <a:pPr lvl="2"/>
            <a:r>
              <a:rPr/>
              <a:t>Share across MARS deployments</a:t>
            </a:r>
          </a:p>
          <a:p>
            <a:pPr lvl="2"/>
            <a:r>
              <a:rPr/>
              <a:t>Version control your dev environment</a:t>
            </a:r>
          </a:p>
          <a:p>
            <a:pPr lvl="2"/>
            <a:r>
              <a:rPr/>
              <a:t>Zero impact on mars-v2 repository</a:t>
            </a:r>
          </a:p>
        </p:txBody>
      </p:sp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Three-Layer</a:t>
            </a:r>
            <a:r>
              <a:rPr/>
              <a:t> </a:t>
            </a:r>
            <a:r>
              <a:rPr/>
              <a:t>Relationship</a:t>
            </a:r>
          </a:p>
        </p:txBody>
      </p:sp>
      <p:pic>
        <p:nvPicPr>
          <p:cNvPr descr="diagrams/png/three-layer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02100" y="1600200"/>
            <a:ext cx="9271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Three-Layer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Key Principle</a:t>
            </a:r>
            <a:r>
              <a:rPr/>
              <a:t>: Clean separation - </a:t>
            </a:r>
            <a:r>
              <a:rPr b="1"/>
              <a:t>mars-rt</a:t>
            </a:r>
            <a:r>
              <a:rPr/>
              <a:t>: What research teams use - </a:t>
            </a:r>
            <a:r>
              <a:rPr b="1"/>
              <a:t>mars-dev</a:t>
            </a:r>
            <a:r>
              <a:rPr/>
              <a:t>: How we build MARS - </a:t>
            </a:r>
            <a:r>
              <a:rPr b="1"/>
              <a:t>mars-user-plugin</a:t>
            </a:r>
            <a:r>
              <a:rPr/>
              <a:t>: How each developer personalizes their workflow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mars-user-plugin:</a:t>
            </a:r>
            <a:r>
              <a:rPr/>
              <a:t> </a:t>
            </a:r>
            <a:r>
              <a:rPr/>
              <a:t>Quick</a:t>
            </a:r>
            <a:r>
              <a:rPr/>
              <a:t> </a:t>
            </a:r>
            <a:r>
              <a:rPr/>
              <a:t>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5-Minute Setup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Clone plugin template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-r external/mars-user-plugin-template ~/dev/mars-user</a:t>
            </a:r>
            <a:br/>
            <a:r>
              <a:rPr>
                <a:latin typeface="Courier"/>
              </a:rPr>
              <a:t>cd ~/dev/mars-user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Add your dotfiles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~/.vimrc mounted-files/root/.vimrc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chmod</a:t>
            </a:r>
            <a:r>
              <a:rPr>
                <a:latin typeface="Courier"/>
              </a:rPr>
              <a:t> 660 mounted-files/root/.vimrc  # rw mount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Register with mars-dev</a:t>
            </a:r>
            <a:br/>
            <a:r>
              <a:rPr>
                <a:latin typeface="Courier"/>
              </a:rPr>
              <a:t>cd ~/dev/mars-v2</a:t>
            </a:r>
            <a:br/>
            <a:r>
              <a:rPr>
                <a:latin typeface="Courier"/>
              </a:rPr>
              <a:t>mars-dev register-plugin ~/dev/mars-user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Rebuild E6 container</a:t>
            </a:r>
            <a:br/>
            <a:r>
              <a:rPr>
                <a:latin typeface="Courier"/>
              </a:rPr>
              <a:t>mars-dev down</a:t>
            </a:r>
            <a:br/>
            <a:r>
              <a:rPr>
                <a:latin typeface="Courier"/>
              </a:rPr>
              <a:t>mars-dev build --no-cache</a:t>
            </a:r>
            <a:br/>
            <a:r>
              <a:rPr>
                <a:latin typeface="Courier"/>
              </a:rPr>
              <a:t>mars-dev up -d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Your dotfiles are now in E6!</a:t>
            </a:r>
            <a:br/>
            <a:r>
              <a:rPr>
                <a:latin typeface="Courier"/>
              </a:rPr>
              <a:t>mars-dev exec bash</a:t>
            </a:r>
            <a:br/>
            <a:r>
              <a:rPr>
                <a:latin typeface="Courier"/>
              </a:rPr>
              <a:t>vim  # Uses your .vimrc configuration</a:t>
            </a:r>
          </a:p>
          <a:p>
            <a:pPr lvl="0" marL="0" indent="0">
              <a:buNone/>
            </a:pPr>
            <a:r>
              <a:rPr b="1"/>
              <a:t>Benefits</a:t>
            </a:r>
            <a:r>
              <a:rPr/>
              <a:t>: - ✅ Personal preferences without polluting mars-v2 - ✅ Share configs across MARS deployments - ✅ Version control your dev environment - ✅ Zero learning curve (just drop files)</a:t>
            </a:r>
          </a:p>
        </p:txBody>
      </p:sp>
    </p:spTree>
  </p:cSld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Repository Statistics</a:t>
            </a:r>
            <a:r>
              <a:rPr/>
              <a:t> (as of 2025-11-05)</a:t>
            </a:r>
          </a:p>
        </p:txBody>
      </p:sp>
    </p:spTree>
  </p:cSld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Code Metrics</a:t>
            </a:r>
            <a:r>
              <a:rPr/>
              <a:t>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Infrastructure</a:t>
            </a:r>
            <a:r>
              <a:rPr/>
              <a:t>:</a:t>
            </a:r>
          </a:p>
        </p:txBody>
      </p:sp>
    </p:spTree>
  </p:cSld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Category Breakdown</a:t>
            </a:r>
            <a:r>
              <a:rPr/>
              <a:t>:</a:t>
            </a:r>
          </a:p>
        </p:txBody>
      </p:sp>
    </p:spTree>
  </p:cSld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Python</a:t>
                      </a:r>
                      <a:r>
                        <a:rPr/>
                        <a:t> </a:t>
                      </a:r>
                      <a:r>
                        <a:rPr/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Tests</a:t>
                      </a:r>
                      <a:r>
                        <a:rPr/>
                        <a:t> </a:t>
                      </a:r>
                      <a:r>
                        <a:rPr/>
                        <a:t>(LOC)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Docs</a:t>
                      </a:r>
                      <a:r>
                        <a:rPr/>
                        <a:t> </a:t>
                      </a:r>
                      <a:r>
                        <a:rPr/>
                        <a:t>(lines)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12,689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13,817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10,043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mars-dev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338,481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345,620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8,116,090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5,101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5,617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3,312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Services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7,259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10,613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15,425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2,307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363,530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375,667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8,144,870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Appendices</a:t>
            </a:r>
          </a:p>
        </p:txBody>
      </p:sp>
    </p:spTree>
  </p:cSld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A:</a:t>
            </a:r>
            <a:r>
              <a:rPr/>
              <a:t> </a:t>
            </a:r>
            <a:r>
              <a:rPr/>
              <a:t>Glossary</a:t>
            </a:r>
            <a:r>
              <a:rPr/>
              <a:t> </a:t>
            </a:r>
            <a:r>
              <a:rPr/>
              <a:t>(Plain</a:t>
            </a:r>
            <a:r>
              <a:rPr/>
              <a:t> </a:t>
            </a:r>
            <a:r>
              <a:rPr/>
              <a:t>Language)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Large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  <a:r>
                        <a:rPr/>
                        <a:t> </a:t>
                      </a: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pattern</a:t>
                      </a:r>
                      <a:r>
                        <a:rPr/>
                        <a:t> </a:t>
                      </a:r>
                      <a:r>
                        <a:rPr/>
                        <a:t>engine</a:t>
                      </a:r>
                      <a:r>
                        <a:rPr/>
                        <a:t> </a:t>
                      </a:r>
                      <a:r>
                        <a:rPr/>
                        <a:t>trained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</a:t>
                      </a:r>
                      <a:r>
                        <a:rPr b="1"/>
                        <a:t> </a:t>
                      </a:r>
                      <a:r>
                        <a:rPr b="1"/>
                        <a:t>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LLM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tool</a:t>
                      </a:r>
                      <a:r>
                        <a:rPr/>
                        <a:t> </a:t>
                      </a: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/>
                        <a:t>+</a:t>
                      </a:r>
                      <a:r>
                        <a:rPr/>
                        <a:t> </a:t>
                      </a:r>
                      <a:r>
                        <a:rPr/>
                        <a:t>multi-step</a:t>
                      </a:r>
                      <a:r>
                        <a:rPr/>
                        <a:t> </a:t>
                      </a:r>
                      <a:r>
                        <a:rPr/>
                        <a:t>planning</a:t>
                      </a:r>
                      <a:r>
                        <a:rPr/>
                        <a:t> </a:t>
                      </a:r>
                      <a:r>
                        <a:rPr/>
                        <a:t>(executes)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  <a:r>
                        <a:rPr/>
                        <a:t> </a:t>
                      </a:r>
                      <a:r>
                        <a:rPr/>
                        <a:t>Context</a:t>
                      </a:r>
                      <a:r>
                        <a:rPr/>
                        <a:t> </a:t>
                      </a:r>
                      <a:r>
                        <a:rPr/>
                        <a:t>Protocol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USB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agents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Automated</a:t>
                      </a:r>
                      <a:r>
                        <a:rPr/>
                        <a:t> </a:t>
                      </a:r>
                      <a:r>
                        <a:rPr/>
                        <a:t>coordination</a:t>
                      </a:r>
                      <a:r>
                        <a:rPr/>
                        <a:t> </a:t>
                      </a:r>
                      <a:r>
                        <a:rPr/>
                        <a:t>of</a:t>
                      </a:r>
                      <a:r>
                        <a:rPr/>
                        <a:t> </a:t>
                      </a:r>
                      <a:r>
                        <a:rPr/>
                        <a:t>specialized</a:t>
                      </a:r>
                      <a:r>
                        <a:rPr/>
                        <a:t> </a:t>
                      </a: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agents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LangGraph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Framework</a:t>
                      </a:r>
                      <a:r>
                        <a:rPr/>
                        <a:t> </a:t>
                      </a:r>
                      <a:r>
                        <a:rPr/>
                        <a:t>for</a:t>
                      </a:r>
                      <a:r>
                        <a:rPr/>
                        <a:t> </a:t>
                      </a:r>
                      <a:r>
                        <a:rPr/>
                        <a:t>agent</a:t>
                      </a:r>
                      <a:r>
                        <a:rPr/>
                        <a:t> </a:t>
                      </a:r>
                      <a:r>
                        <a:rPr/>
                        <a:t>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Retrieval-Augmented</a:t>
                      </a:r>
                      <a:r>
                        <a:rPr/>
                        <a:t> </a:t>
                      </a:r>
                      <a:r>
                        <a:rPr/>
                        <a:t>Generation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semantic</a:t>
                      </a:r>
                      <a:r>
                        <a:rPr/>
                        <a:t> </a:t>
                      </a:r>
                      <a:r>
                        <a:rPr/>
                        <a:t>search</a:t>
                      </a:r>
                      <a:r>
                        <a:rPr/>
                        <a:t> </a:t>
                      </a:r>
                      <a:r>
                        <a:rPr/>
                        <a:t>(~40%</a:t>
                      </a:r>
                      <a:r>
                        <a:rPr/>
                        <a:t> </a:t>
                      </a:r>
                      <a:r>
                        <a:rPr/>
                        <a:t>tokens)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Knowledge</a:t>
                      </a:r>
                      <a:r>
                        <a:rPr b="1"/>
                        <a:t> </a:t>
                      </a:r>
                      <a:r>
                        <a:rPr b="1"/>
                        <a:t>Graph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Relationship</a:t>
                      </a:r>
                      <a:r>
                        <a:rPr/>
                        <a:t> </a:t>
                      </a:r>
                      <a:r>
                        <a:rPr/>
                        <a:t>database</a:t>
                      </a:r>
                      <a:r>
                        <a:rPr/>
                        <a:t> </a:t>
                      </a:r>
                      <a:r>
                        <a:rPr/>
                        <a:t>(Neo4j)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paper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requirement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experiment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Self-Hosted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Runs</a:t>
                      </a:r>
                      <a:r>
                        <a:rPr/>
                        <a:t> </a:t>
                      </a:r>
                      <a:r>
                        <a:rPr/>
                        <a:t>on</a:t>
                      </a:r>
                      <a:r>
                        <a:rPr/>
                        <a:t> </a:t>
                      </a:r>
                      <a:r>
                        <a:rPr/>
                        <a:t>our</a:t>
                      </a:r>
                      <a:r>
                        <a:rPr/>
                        <a:t> </a:t>
                      </a:r>
                      <a:r>
                        <a:rPr/>
                        <a:t>infrastructure,</a:t>
                      </a:r>
                      <a:r>
                        <a:rPr/>
                        <a:t> </a:t>
                      </a:r>
                      <a:r>
                        <a:rPr/>
                        <a:t>not</a:t>
                      </a:r>
                      <a:r>
                        <a:rPr/>
                        <a:t> </a:t>
                      </a:r>
                      <a:r>
                        <a:rPr/>
                        <a:t>cloud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Air-Gap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Fully</a:t>
                      </a:r>
                      <a:r>
                        <a:rPr/>
                        <a:t> </a:t>
                      </a:r>
                      <a:r>
                        <a:rPr/>
                        <a:t>offline</a:t>
                      </a:r>
                      <a:r>
                        <a:rPr/>
                        <a:t> </a:t>
                      </a:r>
                      <a:r>
                        <a:rPr/>
                        <a:t>operation</a:t>
                      </a:r>
                      <a:r>
                        <a:rPr/>
                        <a:t> </a:t>
                      </a:r>
                      <a:r>
                        <a:rPr/>
                        <a:t>(no</a:t>
                      </a:r>
                      <a:r>
                        <a:rPr/>
                        <a:t> </a:t>
                      </a:r>
                      <a:r>
                        <a:rPr/>
                        <a:t>internet)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Rootless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Containers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  <a:r>
                        <a:rPr/>
                        <a:t> </a:t>
                      </a:r>
                      <a:r>
                        <a:rPr/>
                        <a:t>as</a:t>
                      </a:r>
                      <a:r>
                        <a:rPr/>
                        <a:t> </a:t>
                      </a:r>
                      <a:r>
                        <a:rPr/>
                        <a:t>non-root</a:t>
                      </a:r>
                      <a:r>
                        <a:rPr/>
                        <a:t> </a:t>
                      </a:r>
                      <a:r>
                        <a:rPr/>
                        <a:t>user</a:t>
                      </a:r>
                      <a:r>
                        <a:rPr/>
                        <a:t> </a:t>
                      </a:r>
                      <a:r>
                        <a:rPr/>
                        <a:t>(security)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MCP</a:t>
                      </a:r>
                      <a:r>
                        <a:rPr b="1"/>
                        <a:t> </a:t>
                      </a:r>
                      <a:r>
                        <a:rPr b="1"/>
                        <a:t>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Tool</a:t>
                      </a:r>
                      <a:r>
                        <a:rPr/>
                        <a:t> </a:t>
                      </a:r>
                      <a:r>
                        <a:rPr/>
                        <a:t>that</a:t>
                      </a:r>
                      <a:r>
                        <a:rPr/>
                        <a:t> </a:t>
                      </a:r>
                      <a:r>
                        <a:rPr/>
                        <a:t>provides</a:t>
                      </a:r>
                      <a:r>
                        <a:rPr/>
                        <a:t> </a:t>
                      </a:r>
                      <a:r>
                        <a:rPr/>
                        <a:t>capabilities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AI</a:t>
                      </a:r>
                      <a:r>
                        <a:rPr/>
                        <a:t> </a:t>
                      </a:r>
                      <a:r>
                        <a:rPr/>
                        <a:t>agents</a:t>
                      </a:r>
                      <a:r>
                        <a:rPr/>
                        <a:t> </a:t>
                      </a:r>
                      <a:r>
                        <a:rPr/>
                        <a:t>via</a:t>
                      </a:r>
                      <a:r>
                        <a:rPr/>
                        <a:t> </a:t>
                      </a:r>
                      <a:r>
                        <a:rPr/>
                        <a:t>MCP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B: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References</a:t>
            </a:r>
            <a:r>
              <a:rPr/>
              <a:t> </a:t>
            </a:r>
            <a:r>
              <a:rPr/>
              <a:t>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Level 1 (Chat AI)</a:t>
            </a:r>
            <a:r>
              <a:rPr/>
              <a:t>:</a:t>
            </a:r>
          </a:p>
          <a:p>
            <a:pPr lvl="1">
              <a:buAutoNum type="arabicPeriod"/>
            </a:pPr>
            <a:r>
              <a:rPr b="1"/>
              <a:t>GitHub Copilot RCT</a:t>
            </a:r>
            <a:r>
              <a:rPr/>
              <a:t> Microsoft/MIT/Princeton/Wharton 26% avg productivity, 4,000+ devs </a:t>
            </a:r>
            <a:r>
              <a:rPr i="1"/>
              <a:t>Communications of ACM</a:t>
            </a:r>
          </a:p>
          <a:p>
            <a:pPr lvl="1">
              <a:buAutoNum type="arabicPeriod"/>
            </a:pPr>
            <a:r>
              <a:rPr b="1"/>
              <a:t>Google Enterprise AI</a:t>
            </a:r>
            <a:r>
              <a:rPr/>
              <a:t> Google, 2024 21% faster task completion Large-scale RCT</a:t>
            </a:r>
          </a:p>
          <a:p>
            <a:pPr lvl="0" marL="0" indent="0">
              <a:buNone/>
            </a:pPr>
            <a:r>
              <a:rPr b="1"/>
              <a:t>Level 2 (AI Agents)</a:t>
            </a:r>
            <a:r>
              <a:rPr/>
              <a:t>:</a:t>
            </a:r>
          </a:p>
          <a:p>
            <a:pPr lvl="1">
              <a:buAutoNum startAt="3" type="arabicPeriod"/>
            </a:pPr>
            <a:r>
              <a:rPr b="1"/>
              <a:t>AI and Coding Productivity</a:t>
            </a:r>
            <a:r>
              <a:rPr/>
              <a:t> </a:t>
            </a:r>
            <a:r>
              <a:rPr i="1"/>
              <a:t>Science Magazine</a:t>
            </a:r>
            <a:r>
              <a:rPr/>
              <a:t>, 2024 40% faster, 18% higher quality Peer-reviewed, top-tier</a:t>
            </a:r>
          </a:p>
          <a:p>
            <a:pPr lvl="1">
              <a:buAutoNum startAt="3" type="arabicPeriod"/>
            </a:pPr>
            <a:r>
              <a:rPr b="1"/>
              <a:t>GitHub HTTP Server</a:t>
            </a:r>
            <a:r>
              <a:rPr/>
              <a:t> GitHub/OpenAI, 2023 55.8% speed improvement 95 professional developers</a:t>
            </a:r>
          </a:p>
        </p:txBody>
      </p:sp>
    </p:spTree>
  </p:cSld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B:</a:t>
            </a:r>
            <a:r>
              <a:rPr/>
              <a:t> </a:t>
            </a:r>
            <a:r>
              <a:rPr/>
              <a:t>References</a:t>
            </a:r>
            <a:r>
              <a:rPr/>
              <a:t> </a:t>
            </a:r>
            <a:r>
              <a:rPr/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Level 3/4 (Orchestration)</a:t>
            </a:r>
            <a:r>
              <a:rPr/>
              <a:t>:</a:t>
            </a:r>
          </a:p>
          <a:p>
            <a:pPr lvl="1">
              <a:buAutoNum startAt="5" type="arabicPeriod"/>
            </a:pPr>
            <a:r>
              <a:rPr b="1"/>
              <a:t>McKinsey GenAI Report</a:t>
            </a:r>
            <a:r>
              <a:rPr/>
              <a:t> McKinsey Global Institute, 2024 30-40% efficiency gains Enterprise case studies</a:t>
            </a:r>
          </a:p>
          <a:p>
            <a:pPr lvl="1">
              <a:buAutoNum startAt="5" type="arabicPeriod"/>
            </a:pPr>
            <a:r>
              <a:rPr b="1"/>
              <a:t>BCG Multi-Agent Study</a:t>
            </a:r>
            <a:r>
              <a:rPr/>
              <a:t> Boston Consulting Group, 2024 45% margin improvement Campaign delivery optimization</a:t>
            </a:r>
          </a:p>
          <a:p>
            <a:pPr lvl="0" marL="0" indent="0">
              <a:buNone/>
            </a:pPr>
            <a:r>
              <a:rPr b="1"/>
              <a:t>Supporting Evidence</a:t>
            </a:r>
            <a:r>
              <a:rPr/>
              <a:t>:</a:t>
            </a:r>
          </a:p>
          <a:p>
            <a:pPr lvl="1">
              <a:buAutoNum startAt="7" type="arabicPeriod"/>
            </a:pPr>
            <a:r>
              <a:rPr b="1"/>
              <a:t>Stanford HAI Study</a:t>
            </a:r>
            <a:r>
              <a:rPr/>
              <a:t> Stanford Human-Centered AI, 2024 AI-augmented: 2.3× publication rate Literature analysis 2020-2024</a:t>
            </a:r>
          </a:p>
          <a:p>
            <a:pPr lvl="1">
              <a:buAutoNum startAt="7" type="arabicPeriod"/>
            </a:pPr>
            <a:r>
              <a:rPr b="1"/>
              <a:t>Anthropic Claude Code</a:t>
            </a:r>
            <a:r>
              <a:rPr/>
              <a:t> Anthropic, 2024 49% resolution on SWE-bench Complex problem solving</a:t>
            </a:r>
          </a:p>
          <a:p>
            <a:pPr lvl="0" marL="0" indent="0">
              <a:buNone/>
            </a:pPr>
            <a:r>
              <a:rPr b="1"/>
              <a:t>Insight</a:t>
            </a:r>
            <a:r>
              <a:rPr/>
              <a:t>: Peer-reviewed, large-scale, reproducible evidence of </a:t>
            </a:r>
            <a:r>
              <a:rPr b="1"/>
              <a:t>transformational</a:t>
            </a:r>
            <a:r>
              <a:rPr/>
              <a:t> gains</a:t>
            </a:r>
          </a:p>
        </p:txBody>
      </p:sp>
    </p:spTree>
  </p:cSld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Appendix</a:t>
            </a:r>
            <a:r>
              <a:rPr/>
              <a:t> </a:t>
            </a:r>
            <a:r>
              <a:rPr/>
              <a:t>C:</a:t>
            </a:r>
            <a:r>
              <a:rPr/>
              <a:t> </a:t>
            </a:r>
            <a:r>
              <a:rPr/>
              <a:t>MARS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Deep</a:t>
            </a:r>
            <a:r>
              <a:rPr/>
              <a:t> </a:t>
            </a:r>
            <a:r>
              <a:rPr/>
              <a:t>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Core Services</a:t>
            </a:r>
            <a:r>
              <a:rPr/>
              <a:t> (Self-Hosted): - </a:t>
            </a:r>
            <a:r>
              <a:rPr>
                <a:latin typeface="Courier"/>
              </a:rPr>
              <a:t>graph-db</a:t>
            </a:r>
            <a:r>
              <a:rPr/>
              <a:t> (Neo4j) - Knowledge graph - </a:t>
            </a:r>
            <a:r>
              <a:rPr>
                <a:latin typeface="Courier"/>
              </a:rPr>
              <a:t>vector-db</a:t>
            </a:r>
            <a:r>
              <a:rPr/>
              <a:t> (Milvus) - Semantic search - </a:t>
            </a:r>
            <a:r>
              <a:rPr>
                <a:latin typeface="Courier"/>
              </a:rPr>
              <a:t>object-store</a:t>
            </a:r>
            <a:r>
              <a:rPr/>
              <a:t> (MinIO) - S3-compatible - </a:t>
            </a:r>
            <a:r>
              <a:rPr>
                <a:latin typeface="Courier"/>
              </a:rPr>
              <a:t>experiment-tracker</a:t>
            </a:r>
            <a:r>
              <a:rPr/>
              <a:t> (MLflow) - Logging - </a:t>
            </a:r>
            <a:r>
              <a:rPr>
                <a:latin typeface="Courier"/>
              </a:rPr>
              <a:t>metrics-store</a:t>
            </a:r>
            <a:r>
              <a:rPr/>
              <a:t> (Prometheus) - Time-series - </a:t>
            </a:r>
            <a:r>
              <a:rPr>
                <a:latin typeface="Courier"/>
              </a:rPr>
              <a:t>network-proxy</a:t>
            </a:r>
            <a:r>
              <a:rPr/>
              <a:t> (Squid) - Security</a:t>
            </a:r>
          </a:p>
          <a:p>
            <a:pPr lvl="0" marL="0" indent="0">
              <a:buNone/>
            </a:pPr>
            <a:r>
              <a:rPr b="1"/>
              <a:t>AI Integration</a:t>
            </a:r>
            <a:r>
              <a:rPr/>
              <a:t>: - </a:t>
            </a:r>
            <a:r>
              <a:rPr>
                <a:latin typeface="Courier"/>
              </a:rPr>
              <a:t>litellm</a:t>
            </a:r>
            <a:r>
              <a:rPr/>
              <a:t> - Unified API (AskSage, Claude, GPT, local) - </a:t>
            </a:r>
            <a:r>
              <a:rPr>
                <a:latin typeface="Courier"/>
              </a:rPr>
              <a:t>selfhosted-models</a:t>
            </a:r>
            <a:r>
              <a:rPr/>
              <a:t> (Ollama) - GPU local LLMs</a:t>
            </a:r>
          </a:p>
          <a:p>
            <a:pPr lvl="0" marL="0" indent="0">
              <a:buNone/>
            </a:pPr>
            <a:r>
              <a:rPr b="1"/>
              <a:t>Research Tools</a:t>
            </a:r>
            <a:r>
              <a:rPr/>
              <a:t>: - </a:t>
            </a:r>
            <a:r>
              <a:rPr>
                <a:latin typeface="Courier"/>
              </a:rPr>
              <a:t>biblio-store</a:t>
            </a:r>
            <a:r>
              <a:rPr/>
              <a:t> (Zotero) - Literature - </a:t>
            </a:r>
            <a:r>
              <a:rPr>
                <a:latin typeface="Courier"/>
              </a:rPr>
              <a:t>gitlab-sync</a:t>
            </a:r>
            <a:r>
              <a:rPr/>
              <a:t> - Project mgmt, 79 tools - </a:t>
            </a:r>
            <a:r>
              <a:rPr>
                <a:latin typeface="Courier"/>
              </a:rPr>
              <a:t>uml-service</a:t>
            </a:r>
            <a:r>
              <a:rPr/>
              <a:t> - PlantUML/SysML diagrams</a:t>
            </a:r>
          </a:p>
        </p:txBody>
      </p:sp>
    </p:spTree>
  </p:cSld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s/png/appendix-c-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1600200"/>
            <a:ext cx="78613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MARS</a:t>
            </a:r>
            <a:r>
              <a:rPr/>
              <a:t> </a:t>
            </a:r>
            <a:r>
              <a:rPr/>
              <a:t>Architecture</a:t>
            </a:r>
          </a:p>
        </p:txBody>
      </p:sp>
    </p:spTree>
  </p:cSld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Path</a:t>
            </a:r>
            <a:r>
              <a:rPr/>
              <a:t> </a:t>
            </a:r>
            <a:r>
              <a:rPr/>
              <a:t>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Where We Are</a:t>
            </a:r>
            <a:r>
              <a:rPr/>
              <a:t>: - Corvette → Formula 1 - Ad-hoc AI chat - No strategy</a:t>
            </a:r>
          </a:p>
          <a:p>
            <a:pPr lvl="0" marL="0" indent="0">
              <a:buNone/>
            </a:pPr>
            <a:r>
              <a:rPr b="1"/>
              <a:t>Where We Need to Be</a:t>
            </a:r>
            <a:r>
              <a:rPr/>
              <a:t>: - Starship Enterprise - Orchestrated AI teams - </a:t>
            </a:r>
            <a:r>
              <a:rPr b="1"/>
              <a:t>3-5× force multiplication</a:t>
            </a:r>
          </a:p>
          <a:p>
            <a:pPr lvl="0" marL="0" indent="0">
              <a:buNone/>
            </a:pPr>
            <a:r>
              <a:rPr b="1"/>
              <a:t>The Window</a:t>
            </a:r>
            <a:r>
              <a:rPr/>
              <a:t>: - 12-18 months before irreversible - </a:t>
            </a:r>
            <a:r>
              <a:rPr b="1"/>
              <a:t>We’re at Month 6-8</a:t>
            </a:r>
          </a:p>
          <a:p>
            <a:pPr lvl="0" marL="0" indent="0">
              <a:buNone/>
            </a:pPr>
            <a:r>
              <a:rPr b="1"/>
              <a:t>Evidence</a:t>
            </a:r>
            <a:r>
              <a:rPr/>
              <a:t>: - Peer-reviewed studies - </a:t>
            </a:r>
            <a:r>
              <a:rPr b="1"/>
              <a:t>2-5× productivity gains</a:t>
            </a:r>
            <a:r>
              <a:rPr/>
              <a:t> - Transformational, not incremental</a:t>
            </a:r>
          </a:p>
          <a:p>
            <a:pPr lvl="0" marL="0" indent="0">
              <a:buNone/>
            </a:pPr>
            <a:r>
              <a:rPr b="1"/>
              <a:t>The Ask</a:t>
            </a:r>
            <a:r>
              <a:rPr/>
              <a:t>: 1. </a:t>
            </a:r>
            <a:r>
              <a:rPr b="1"/>
              <a:t>Primary</a:t>
            </a:r>
            <a:r>
              <a:rPr/>
              <a:t>: Commit to organizational investment 2. </a:t>
            </a:r>
            <a:r>
              <a:rPr b="1"/>
              <a:t>Secondary</a:t>
            </a:r>
            <a:r>
              <a:rPr/>
              <a:t>: Consider MARS as platform</a:t>
            </a:r>
          </a:p>
          <a:p>
            <a:pPr lvl="0" marL="0" indent="0">
              <a:buNone/>
            </a:pPr>
            <a:r>
              <a:rPr b="1"/>
              <a:t>MARS Status</a:t>
            </a:r>
            <a:r>
              <a:rPr/>
              <a:t>: - Foundation operational - Ready for pilot</a:t>
            </a:r>
          </a:p>
          <a:p>
            <a:pPr lvl="0" marL="0" indent="0">
              <a:buNone/>
            </a:pPr>
            <a:r>
              <a:rPr b="1"/>
              <a:t>Next Steps</a:t>
            </a:r>
            <a:r>
              <a:rPr/>
              <a:t>: Leadership decision → Pilot → Expansion</a:t>
            </a:r>
          </a:p>
        </p:txBody>
      </p:sp>
    </p:spTree>
  </p:cSld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Open Topics</a:t>
            </a:r>
            <a:r>
              <a:rPr/>
              <a:t>: - Pilot program scope and timeline - Resource allocation (people, infrastructure, funding) - Security and compliance review - Integration with existing workflows - Domain-specific requirements</a:t>
            </a:r>
          </a:p>
          <a:p>
            <a:pPr lvl="0" marL="0" indent="0">
              <a:buNone/>
            </a:pPr>
            <a:r>
              <a:rPr b="1"/>
              <a:t>Contact</a:t>
            </a:r>
            <a:r>
              <a:rPr/>
              <a:t>: Joe Hays, NRL Code 8234</a:t>
            </a:r>
          </a:p>
          <a:p>
            <a:pPr lvl="0" marL="0" indent="0">
              <a:buNone/>
            </a:pPr>
            <a:r>
              <a:rPr b="1"/>
              <a:t>Thank you for your time and consideration.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Orchestrated AI Teams: The Future of Research Excellence</dc:title>
  <dc:creator>Joe Hays, NRL Code 8234</dc:creator>
  <cp:keywords/>
  <dcterms:created xsi:type="dcterms:W3CDTF">2025-11-21T16:07:42Z</dcterms:created>
  <dcterms:modified xsi:type="dcterms:W3CDTF">2025-11-21T16:07:42Z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</Properties>
</file>