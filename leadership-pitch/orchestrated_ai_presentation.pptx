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Orchestrated AI Teams: The Future of Research Excellence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Presentation for Research Leadership</a:t>
            </a:r>
          </a:p>
          <a:p>
            <a:pPr lvl="0" indent="0" marL="0">
              <a:buNone/>
            </a:pPr>
            <a:r>
              <a:rPr/>
              <a:t>Joe Hays, NRL Code 8234 November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Critical Decision</a:t>
            </a:r>
            <a:r>
              <a:rPr/>
              <a:t>: Embrace orchestrated AI teams or risk organizational irrelevance</a:t>
            </a:r>
          </a:p>
          <a:p>
            <a:pPr lvl="0" indent="0" marL="0">
              <a:buNone/>
            </a:pPr>
            <a:r>
              <a:rPr b="1"/>
              <a:t>The Progression</a:t>
            </a:r>
            <a:r>
              <a:rPr/>
              <a:t>: - 🚗 </a:t>
            </a:r>
            <a:r>
              <a:rPr b="1"/>
              <a:t>Traditional PhD Teams</a:t>
            </a:r>
            <a:r>
              <a:rPr/>
              <a:t> = Corvette (brilliant but bandwidth-limited) - 🏎️ </a:t>
            </a:r>
            <a:r>
              <a:rPr b="1"/>
              <a:t>PhD + LLM Chat</a:t>
            </a:r>
            <a:r>
              <a:rPr/>
              <a:t> = Formula 1 (21-26% faster) - ✈️ </a:t>
            </a:r>
            <a:r>
              <a:rPr b="1"/>
              <a:t>PhD + Coding Agents</a:t>
            </a:r>
            <a:r>
              <a:rPr/>
              <a:t> = Cessna (40-55% faster) - 🚀 </a:t>
            </a:r>
            <a:r>
              <a:rPr b="1"/>
              <a:t>PhD + Manual Orchestration</a:t>
            </a:r>
            <a:r>
              <a:rPr/>
              <a:t> = Fighter Jet (100-150% faster) - 🛸 </a:t>
            </a:r>
            <a:r>
              <a:rPr b="1"/>
              <a:t>PhD + LangGraph Orchestration</a:t>
            </a:r>
            <a:r>
              <a:rPr/>
              <a:t> = Starship Enterprise (200-400% faster)</a:t>
            </a:r>
          </a:p>
          <a:p>
            <a:pPr lvl="0" indent="0" marL="0">
              <a:buNone/>
            </a:pPr>
            <a:r>
              <a:rPr b="1"/>
              <a:t>The Ask</a:t>
            </a:r>
            <a:r>
              <a:rPr/>
              <a:t>: 1. </a:t>
            </a:r>
            <a:r>
              <a:rPr b="1"/>
              <a:t>Primary</a:t>
            </a:r>
            <a:r>
              <a:rPr/>
              <a:t>: Commit to organizational investment in orchestrated AI 2. </a:t>
            </a:r>
            <a:r>
              <a:rPr b="1"/>
              <a:t>Secondary</a:t>
            </a:r>
            <a:r>
              <a:rPr/>
              <a:t>: Consider MARS as the platform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 1: The Existential Challenge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2: The AI Acceleration Ladder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3: Technology Primer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4: The Opportunity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5: MARS Prototype Solution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The Existential Challenge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Research Acceleration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Numbers</a:t>
            </a:r>
            <a:r>
              <a:rPr/>
              <a:t>: - </a:t>
            </a:r>
            <a:r>
              <a:rPr b="1"/>
              <a:t>Daily scientific output</a:t>
            </a:r>
            <a:r>
              <a:rPr/>
              <a:t>: ~9,700 STEM papers/day - </a:t>
            </a:r>
            <a:r>
              <a:rPr b="1"/>
              <a:t>Human capacity</a:t>
            </a:r>
            <a:r>
              <a:rPr/>
              <a:t>: 2-3 papers/day (with other duties) - </a:t>
            </a:r>
            <a:r>
              <a:rPr b="1"/>
              <a:t>Coverage</a:t>
            </a:r>
            <a:r>
              <a:rPr/>
              <a:t>: &lt;1% of relevant literature</a:t>
            </a:r>
          </a:p>
          <a:p>
            <a:pPr lvl="0" indent="0" marL="0">
              <a:buNone/>
            </a:pPr>
            <a:r>
              <a:rPr b="1"/>
              <a:t>The Core Competitive Advantage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Human researchers + orchestrated AI = </a:t>
            </a:r>
            <a:r>
              <a:rPr b="1"/>
              <a:t>2-5× faster from idea to publication</a:t>
            </a:r>
          </a:p>
          <a:p>
            <a:pPr lvl="0" indent="0" marL="0">
              <a:buNone/>
            </a:pPr>
            <a:r>
              <a:rPr b="1"/>
              <a:t>Why Speed Matters</a:t>
            </a:r>
            <a:r>
              <a:rPr/>
              <a:t>: - First-mover advantage in competitive domains - Compounding returns (faster iteration = more experiments) - Talent retention (researchers want maximum impact) - Resource efficiency (2× speed = 50% cost per result)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Happens Without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Historical Parallels</a:t>
            </a:r>
            <a:r>
              <a:rPr/>
              <a:t> (2024 evidence):</a:t>
            </a:r>
          </a:p>
          <a:p>
            <a:pPr lvl="0" indent="0" marL="0">
              <a:buNone/>
            </a:pPr>
            <a:r>
              <a:rPr b="1"/>
              <a:t>Software Development</a:t>
            </a:r>
            <a:r>
              <a:rPr/>
              <a:t>: - AI-augmented: 40-55% productivity increase - Traditional: Struggling to retain talent</a:t>
            </a:r>
          </a:p>
          <a:p>
            <a:pPr lvl="0" indent="0" marL="0">
              <a:buNone/>
            </a:pPr>
            <a:r>
              <a:rPr b="1"/>
              <a:t>Professional Services</a:t>
            </a:r>
            <a:r>
              <a:rPr/>
              <a:t>: - AI-augmented: 30-40% efficiency gains - Traditional: Losing bids to competitors</a:t>
            </a:r>
          </a:p>
          <a:p>
            <a:pPr lvl="0" indent="0" marL="0">
              <a:buNone/>
            </a:pPr>
            <a:r>
              <a:rPr b="1"/>
              <a:t>Research Sector</a:t>
            </a:r>
            <a:r>
              <a:rPr/>
              <a:t> (emerging now): - AI-augmented labs: 2-3× publication rate - Traditional labs: Falling behind in citations - Grant proposals: “missed relevant work” penalties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12-18 months before gap becomes irreversible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Widening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 Orchestrated AI</a:t>
            </a:r>
            <a:r>
              <a:rPr/>
              <a:t>: - 90%+ literature coverage vs. &lt;1% - 3-5× faster breakthrough timing - Top talent attraction</a:t>
            </a:r>
          </a:p>
          <a:p>
            <a:pPr lvl="0" indent="0" marL="0">
              <a:buNone/>
            </a:pPr>
            <a:r>
              <a:rPr b="1"/>
              <a:t>Organizations without</a:t>
            </a:r>
            <a:r>
              <a:rPr/>
              <a:t>: - Perpetually “catching up” - Declining grant success - Talent drain</a:t>
            </a:r>
          </a:p>
          <a:p>
            <a:pPr lvl="0" indent="0" marL="0">
              <a:buNone/>
            </a:pPr>
            <a:r>
              <a:rPr b="1"/>
              <a:t>Critical Window</a:t>
            </a:r>
            <a:r>
              <a:rPr/>
              <a:t>: We are at Month 6-8 of 18-month window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Competitor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Who’s Already Moving</a:t>
            </a:r>
            <a:r>
              <a:rPr/>
              <a:t> (2024):</a:t>
            </a:r>
          </a:p>
          <a:p>
            <a:pPr lvl="0" indent="0" marL="0">
              <a:buNone/>
            </a:pPr>
            <a:r>
              <a:rPr b="1"/>
              <a:t>Government</a:t>
            </a:r>
            <a:r>
              <a:rPr/>
              <a:t>: DARPA, DOE Labs, NIST </a:t>
            </a:r>
            <a:r>
              <a:rPr b="1"/>
              <a:t>Academic</a:t>
            </a:r>
            <a:r>
              <a:rPr/>
              <a:t>: MIT, Stanford, Berkeley </a:t>
            </a:r>
            <a:r>
              <a:rPr b="1"/>
              <a:t>Private</a:t>
            </a:r>
            <a:r>
              <a:rPr/>
              <a:t>: DeepMind, Microsoft Research, OpenAI </a:t>
            </a:r>
            <a:r>
              <a:rPr b="1"/>
              <a:t>Defense</a:t>
            </a:r>
            <a:r>
              <a:rPr/>
              <a:t>: Lockheed Martin, Boeing, Northrop Grumman</a:t>
            </a:r>
          </a:p>
          <a:p>
            <a:pPr lvl="0" indent="0" marL="0">
              <a:buNone/>
            </a:pPr>
            <a:r>
              <a:rPr b="1"/>
              <a:t>What They’re Building</a:t>
            </a:r>
            <a:r>
              <a:rPr/>
              <a:t>: - Literature monitoring agents (24/7) - Knowledge graph systems - Experiment design agents - Code/analysis agents - </a:t>
            </a:r>
            <a:r>
              <a:rPr b="1"/>
              <a:t>Orchestration layer</a:t>
            </a:r>
            <a:r>
              <a:rPr/>
              <a:t> ← Key differentiator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The AI Acceleration Ladder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0: Traditional PhD Teams (Corvette)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 Allocation</a:t>
            </a:r>
            <a:r>
              <a:rPr/>
              <a:t>: - Literature review: 20% (8 hrs/week) - Writing/documentation: 30% (12 hrs) - Experiment setup: 20% (8 hrs) - </a:t>
            </a:r>
            <a:r>
              <a:rPr b="1"/>
              <a:t>High-value analysis</a:t>
            </a:r>
            <a:r>
              <a:rPr/>
              <a:t>: </a:t>
            </a:r>
            <a:r>
              <a:rPr b="1"/>
              <a:t>30% (12 hrs)</a:t>
            </a:r>
          </a:p>
          <a:p>
            <a:pPr lvl="0" indent="0" marL="0">
              <a:buNone/>
            </a:pPr>
            <a:r>
              <a:rPr b="1"/>
              <a:t>The Problem</a:t>
            </a:r>
            <a:r>
              <a:rPr/>
              <a:t>: Only 30% on breakthrough-generating work</a:t>
            </a:r>
          </a:p>
          <a:p>
            <a:pPr lvl="0" indent="0" marL="0">
              <a:buNone/>
            </a:pPr>
            <a:r>
              <a:rPr b="1"/>
              <a:t>Baseline Metrics</a:t>
            </a:r>
            <a:r>
              <a:rPr/>
              <a:t>: - Literature coverage: &lt;5% - Publication velocity: 1× - Team effective size: 1× headcount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1: PhD + LLM Chat (Formula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</a:t>
            </a:r>
            <a:r>
              <a:rPr/>
              <a:t>: ChatGPT, Claude, Gemini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Google: </a:t>
            </a:r>
            <a:r>
              <a:rPr b="1"/>
              <a:t>21% faster</a:t>
            </a:r>
            <a:r>
              <a:rPr/>
              <a:t> task completion - GitHub Copilot: </a:t>
            </a:r>
            <a:r>
              <a:rPr b="1"/>
              <a:t>26% average productivity increase</a:t>
            </a:r>
          </a:p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Routine task speed: +21-26% - Time on high-value work: ~35-38% (+5-8 points) - Publication velocity: 1.15-1.20×</a:t>
            </a:r>
          </a:p>
          <a:p>
            <a:pPr lvl="0" indent="0" marL="0">
              <a:buNone/>
            </a:pPr>
            <a:r>
              <a:rPr b="1"/>
              <a:t>Limitation</a:t>
            </a:r>
            <a:r>
              <a:rPr/>
              <a:t>: No memory, no tool integration, manual coordination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2: PhD + AI Coding Agents (Cessna)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</a:t>
            </a:r>
            <a:r>
              <a:rPr/>
              <a:t>: Claude Code CLI, GitHub Copilot, Cursor, Devin</a:t>
            </a:r>
          </a:p>
          <a:p>
            <a:pPr lvl="0" indent="0" marL="0">
              <a:buNone/>
            </a:pPr>
            <a:r>
              <a:rPr b="1"/>
              <a:t>Key Difference</a:t>
            </a:r>
            <a:r>
              <a:rPr/>
              <a:t>: Agents can </a:t>
            </a:r>
            <a:r>
              <a:rPr b="1"/>
              <a:t>execute</a:t>
            </a:r>
            <a:r>
              <a:rPr/>
              <a:t>, not just advise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Science Magazine: </a:t>
            </a:r>
            <a:r>
              <a:rPr b="1"/>
              <a:t>40% faster</a:t>
            </a:r>
            <a:r>
              <a:rPr/>
              <a:t>, </a:t>
            </a:r>
            <a:r>
              <a:rPr b="1"/>
              <a:t>18% higher quality</a:t>
            </a:r>
            <a:r>
              <a:rPr/>
              <a:t> - GitHub HTTP Server: </a:t>
            </a:r>
            <a:r>
              <a:rPr b="1"/>
              <a:t>55.8% speed improvement</a:t>
            </a:r>
            <a:r>
              <a:rPr/>
              <a:t> - Capgemini: </a:t>
            </a:r>
            <a:r>
              <a:rPr b="1"/>
              <a:t>30-40% time reduction</a:t>
            </a:r>
            <a:r>
              <a:rPr/>
              <a:t> across SDLC</a:t>
            </a:r>
          </a:p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Coding/analysis speed: 1.75-2.00× - Time on high-value work: </a:t>
            </a:r>
            <a:r>
              <a:rPr b="1"/>
              <a:t>45-50%</a:t>
            </a:r>
            <a:r>
              <a:rPr/>
              <a:t> - Publication velocity: </a:t>
            </a:r>
            <a:r>
              <a:rPr b="1"/>
              <a:t>1.40-1.60×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3: PhD + Manual Orchestration (Fighter Jet)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Architecture</a:t>
            </a:r>
            <a:r>
              <a:rPr/>
              <a:t>: Multiple specialized agents in parallel</a:t>
            </a:r>
          </a:p>
          <a:p>
            <a:pPr lvl="0" indent="0" marL="0">
              <a:buNone/>
            </a:pPr>
            <a:r>
              <a:rPr b="1"/>
              <a:t>Example Workflow</a:t>
            </a:r>
            <a:r>
              <a:rPr/>
              <a:t>: - </a:t>
            </a:r>
            <a:r>
              <a:rPr b="1"/>
              <a:t>Without orchestration</a:t>
            </a:r>
            <a:r>
              <a:rPr/>
              <a:t>: 13 hours sequential - </a:t>
            </a:r>
            <a:r>
              <a:rPr b="1"/>
              <a:t>With orchestration</a:t>
            </a:r>
            <a:r>
              <a:rPr/>
              <a:t>: 8 hours (6 hrs longest agent + 2 hrs merge) - </a:t>
            </a:r>
            <a:r>
              <a:rPr b="1"/>
              <a:t>Time savings</a:t>
            </a:r>
            <a:r>
              <a:rPr/>
              <a:t>: 38% faster</a:t>
            </a:r>
          </a:p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Parallel capacity: 3-5 tasks simultaneous - Time on high-value work: </a:t>
            </a:r>
            <a:r>
              <a:rPr b="1"/>
              <a:t>60-65%</a:t>
            </a:r>
            <a:r>
              <a:rPr/>
              <a:t> - Publication velocity: </a:t>
            </a:r>
            <a:r>
              <a:rPr b="1"/>
              <a:t>2.00-2.50×</a:t>
            </a:r>
          </a:p>
          <a:p>
            <a:pPr lvl="0" indent="0" marL="0">
              <a:buNone/>
            </a:pPr>
            <a:r>
              <a:rPr b="1"/>
              <a:t>Limitation</a:t>
            </a:r>
            <a:r>
              <a:rPr/>
              <a:t>: High coordination overhead (3-4 hrs/day)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4: PhD + LangGraph Orchestration (Starship Enterprise)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Capability</a:t>
            </a:r>
            <a:r>
              <a:rPr/>
              <a:t>: </a:t>
            </a:r>
            <a:r>
              <a:rPr b="1"/>
              <a:t>Automated coordination</a:t>
            </a:r>
            <a:r>
              <a:rPr/>
              <a:t> (no manual overhead)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McKinsey: </a:t>
            </a:r>
            <a:r>
              <a:rPr b="1"/>
              <a:t>30-40% efficiency gains</a:t>
            </a:r>
            <a:r>
              <a:rPr/>
              <a:t> beyond single-agent - BCG: </a:t>
            </a:r>
            <a:r>
              <a:rPr b="1"/>
              <a:t>45% margin improvement</a:t>
            </a:r>
            <a:r>
              <a:rPr/>
              <a:t> in orchestrated workflows - Total improvement: </a:t>
            </a:r>
            <a:r>
              <a:rPr b="1"/>
              <a:t>200-400% vs. baseline</a:t>
            </a:r>
          </a:p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Orchestration overhead: 3-4 hrs/day → </a:t>
            </a:r>
            <a:r>
              <a:rPr b="1"/>
              <a:t>30 min/day</a:t>
            </a:r>
            <a:r>
              <a:rPr/>
              <a:t> - Parallel capacity: </a:t>
            </a:r>
            <a:r>
              <a:rPr b="1"/>
              <a:t>10-20+ tasks</a:t>
            </a:r>
            <a:r>
              <a:rPr/>
              <a:t> - Time on high-value work: </a:t>
            </a:r>
            <a:r>
              <a:rPr b="1"/>
              <a:t>75-80%</a:t>
            </a:r>
            <a:r>
              <a:rPr/>
              <a:t> - Publication velocity: </a:t>
            </a:r>
            <a:r>
              <a:rPr b="1"/>
              <a:t>3.00-5.00×</a:t>
            </a:r>
            <a:r>
              <a:rPr/>
              <a:t> - Literature coverage: </a:t>
            </a:r>
            <a:r>
              <a:rPr b="1"/>
              <a:t>90%+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Summary: 2024 Research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1 (Chat)</a:t>
            </a:r>
            <a:r>
              <a:rPr/>
              <a:t>: +21-26% - GitHub Copilot RCT (4,000+ developers, peer-reviewed) - Google Enterprise AI (large-scale RCT)</a:t>
            </a:r>
          </a:p>
          <a:p>
            <a:pPr lvl="0" indent="0" marL="0">
              <a:buNone/>
            </a:pPr>
            <a:r>
              <a:rPr b="1"/>
              <a:t>Level 2 (Agents)</a:t>
            </a:r>
            <a:r>
              <a:rPr/>
              <a:t>: +40-55% - Science Magazine (peer-reviewed, top-tier) - GitHub HTTP Server (widely cited benchmark)</a:t>
            </a:r>
          </a:p>
          <a:p>
            <a:pPr lvl="0" indent="0" marL="0">
              <a:buNone/>
            </a:pPr>
            <a:r>
              <a:rPr b="1"/>
              <a:t>Level 3/4 (Orchestration)</a:t>
            </a:r>
            <a:r>
              <a:rPr/>
              <a:t>: +30-50% beyond single-agent - McKinsey Generative AI Report - BCG Multi-Agent Workflow Study</a:t>
            </a:r>
          </a:p>
          <a:p>
            <a:pPr lvl="0" indent="0" marL="0">
              <a:buNone/>
            </a:pPr>
            <a:r>
              <a:rPr b="1"/>
              <a:t>Key Takeaway</a:t>
            </a:r>
            <a:r>
              <a:rPr/>
              <a:t>: Even conservative estimates show </a:t>
            </a:r>
            <a:r>
              <a:rPr b="1"/>
              <a:t>transformational</a:t>
            </a:r>
            <a:r>
              <a:rPr/>
              <a:t> gains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Technology Primer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Explanation</a:t>
            </a:r>
            <a:r>
              <a:rPr/>
              <a:t>: Pattern-matching engine trained on billions of pages</a:t>
            </a:r>
          </a:p>
          <a:p>
            <a:pPr lvl="0" indent="0" marL="0">
              <a:buNone/>
            </a:pPr>
            <a:r>
              <a:rPr b="1"/>
              <a:t>Think of it as</a:t>
            </a:r>
            <a:r>
              <a:rPr/>
              <a:t>: Research assistant who has read every scientific paper ever written</a:t>
            </a:r>
          </a:p>
          <a:p>
            <a:pPr lvl="0" indent="0" marL="0">
              <a:buNone/>
            </a:pPr>
            <a:r>
              <a:rPr b="1"/>
              <a:t>Good At</a:t>
            </a:r>
            <a:r>
              <a:rPr/>
              <a:t>: - ✅ Summarization, translation, drafting - ✅ Q&amp;A, code generation</a:t>
            </a:r>
          </a:p>
          <a:p>
            <a:pPr lvl="0" indent="0" marL="0">
              <a:buNone/>
            </a:pPr>
            <a:r>
              <a:rPr b="1"/>
              <a:t>Not Good At</a:t>
            </a:r>
            <a:r>
              <a:rPr/>
              <a:t>: - ❌ Original discovery (recombines known patterns) - ❌ Precise calculation (hallucination risk) - ❌ Long-term memory (forgets after session) - ❌ Tool use (basic LLMs can’t execute)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Memory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0</a:t>
            </a:r>
            <a:r>
              <a:rPr/>
              <a:t>: Post-It Notes (ChatGPT) - No memory </a:t>
            </a:r>
            <a:r>
              <a:rPr b="1"/>
              <a:t>Level 1</a:t>
            </a:r>
            <a:r>
              <a:rPr/>
              <a:t>: Personal Notebook (Session only) </a:t>
            </a:r>
            <a:r>
              <a:rPr b="1"/>
              <a:t>Level 2</a:t>
            </a:r>
            <a:r>
              <a:rPr/>
              <a:t>: Reference Manual (CLAUDE.md) - Static context </a:t>
            </a:r>
            <a:r>
              <a:rPr b="1"/>
              <a:t>Level 3</a:t>
            </a:r>
            <a:r>
              <a:rPr/>
              <a:t>: Library Card Catalog (RAG) - Semantic search, ~40% token reduction </a:t>
            </a:r>
            <a:r>
              <a:rPr b="1"/>
              <a:t>Level 4</a:t>
            </a:r>
            <a:r>
              <a:rPr/>
              <a:t>: Library with Cross-References (Knowledge graphs) - Relationship understanding </a:t>
            </a:r>
            <a:r>
              <a:rPr b="1"/>
              <a:t>Level 5</a:t>
            </a:r>
            <a:r>
              <a:rPr/>
              <a:t>: University Library (OpenMemory) - 5 memory sectors, learns over time </a:t>
            </a:r>
            <a:r>
              <a:rPr b="1"/>
              <a:t>Level 6</a:t>
            </a:r>
            <a:r>
              <a:rPr/>
              <a:t>: Library of Congress - Full institutional memory</a:t>
            </a:r>
          </a:p>
          <a:p>
            <a:pPr lvl="0" indent="0" marL="0">
              <a:buNone/>
            </a:pPr>
            <a:r>
              <a:rPr b="1"/>
              <a:t>MARS Status</a:t>
            </a:r>
            <a:r>
              <a:rPr/>
              <a:t>: Level 2 operational, Level 3 at 80%, Level 4 operational (agent integration pending)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Definition</a:t>
            </a:r>
            <a:r>
              <a:rPr/>
              <a:t>: LLM + Tool Use + Multi-Step Planning</a:t>
            </a:r>
          </a:p>
          <a:p>
            <a:pPr lvl="0" indent="0" marL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LLM (Chat)</a:t>
            </a:r>
            <a:r>
              <a:rPr/>
              <a:t> = Consultant (advises, then leaves) - </a:t>
            </a:r>
            <a:r>
              <a:rPr b="1"/>
              <a:t>AI Agent</a:t>
            </a:r>
            <a:r>
              <a:rPr/>
              <a:t> = Postdoc (executes tasks, works autonomously)</a:t>
            </a:r>
          </a:p>
          <a:p>
            <a:pPr lvl="0" indent="0" marL="0">
              <a:buNone/>
            </a:pPr>
            <a:r>
              <a:rPr b="1"/>
              <a:t>What Agents Can Do</a:t>
            </a:r>
            <a:r>
              <a:rPr/>
              <a:t>: - Read/write files, execute code, query databases - Multi-step planning (break down tasks, adapt) - Autonomous work (hours without intervention)</a:t>
            </a:r>
          </a:p>
          <a:p>
            <a:pPr lvl="0" indent="0" marL="0">
              <a:buNone/>
            </a:pPr>
            <a:r>
              <a:rPr b="1"/>
              <a:t>Why Agents are Level 2 (Cessna)</a:t>
            </a:r>
            <a:r>
              <a:rPr/>
              <a:t>: - Autonomous execution, tool integration, error recovery - But: One agent, one task at a time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Context Protocol</a:t>
            </a:r>
            <a:r>
              <a:rPr/>
              <a:t> = USB for AI agents</a:t>
            </a:r>
          </a:p>
          <a:p>
            <a:pPr lvl="0" indent="0" marL="0">
              <a:buNone/>
            </a:pPr>
            <a:r>
              <a:rPr b="1"/>
              <a:t>Problem MCP Solves</a:t>
            </a:r>
            <a:r>
              <a:rPr/>
              <a:t>: - </a:t>
            </a:r>
            <a:r>
              <a:rPr b="1"/>
              <a:t>Before</a:t>
            </a:r>
            <a:r>
              <a:rPr/>
              <a:t>: Every tool = 40-80 hour custom integration - </a:t>
            </a:r>
            <a:r>
              <a:rPr b="1"/>
              <a:t>After</a:t>
            </a:r>
            <a:r>
              <a:rPr/>
              <a:t>: MCP server = plug-and-play (&lt;1 hour)</a:t>
            </a:r>
          </a:p>
          <a:p>
            <a:pPr lvl="0" indent="0" marL="0">
              <a:buNone/>
            </a:pPr>
            <a:r>
              <a:rPr b="1"/>
              <a:t>MARS MCP Servers</a:t>
            </a:r>
            <a:r>
              <a:rPr/>
              <a:t>: - </a:t>
            </a:r>
            <a:r>
              <a:rPr b="1"/>
              <a:t>Zotero</a:t>
            </a:r>
            <a:r>
              <a:rPr/>
              <a:t> (literature management) - ✅ Operational - </a:t>
            </a:r>
            <a:r>
              <a:rPr b="1"/>
              <a:t>GitLab</a:t>
            </a:r>
            <a:r>
              <a:rPr/>
              <a:t> (79+ tools) - ✅ Operational - </a:t>
            </a:r>
            <a:r>
              <a:rPr b="1"/>
              <a:t>50+ planned</a:t>
            </a:r>
            <a:r>
              <a:rPr/>
              <a:t> (ROS2, SLURM, Overleaf, eLabFTW, etc.)</a:t>
            </a:r>
          </a:p>
          <a:p>
            <a:pPr lvl="0" indent="0" marL="0">
              <a:buNone/>
            </a:pPr>
            <a:r>
              <a:rPr b="1"/>
              <a:t>Strategic Value</a:t>
            </a:r>
            <a:r>
              <a:rPr/>
              <a:t>: Ecosystem, not custom build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AI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Definition</a:t>
            </a:r>
            <a:r>
              <a:rPr/>
              <a:t>: Automated coordination of specialized AI agents</a:t>
            </a:r>
          </a:p>
          <a:p>
            <a:pPr lvl="0" indent="0" marL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Manual</a:t>
            </a:r>
            <a:r>
              <a:rPr/>
              <a:t>: You (PI) coordinate team, 3-4 hrs/day overhead - </a:t>
            </a:r>
            <a:r>
              <a:rPr b="1"/>
              <a:t>Automated</a:t>
            </a:r>
            <a:r>
              <a:rPr/>
              <a:t>: AI coordinator manages agents, 30 min/day oversight</a:t>
            </a:r>
          </a:p>
          <a:p>
            <a:pPr lvl="0" indent="0" marL="0">
              <a:buNone/>
            </a:pPr>
            <a:r>
              <a:rPr b="1"/>
              <a:t>How LangGraph Works</a:t>
            </a:r>
            <a:r>
              <a:rPr/>
              <a:t>: 1. Decompose complex task into subtasks 2. Assign subtasks to specialized agents 3. Route information between agents 4. Synthesize outputs into recommendation 5. Escalate strategic decisions to human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Orchestrated Teams Beat Single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Specialization Advantage</a:t>
            </a:r>
            <a:r>
              <a:rPr/>
              <a:t>: - Single agent = Generalist (context switching, prone to errors) - Orchestrated team = Specialists (focused, higher quality)</a:t>
            </a:r>
          </a:p>
          <a:p>
            <a:pPr lvl="0" indent="0" marL="0">
              <a:buNone/>
            </a:pPr>
            <a:r>
              <a:rPr b="1"/>
              <a:t>Agent Profiles</a:t>
            </a:r>
            <a:r>
              <a:rPr/>
              <a:t> (like human personalities): - </a:t>
            </a:r>
            <a:r>
              <a:rPr b="1"/>
              <a:t>test-czar</a:t>
            </a:r>
            <a:r>
              <a:rPr/>
              <a:t>: Skeptical/Pessimistic (finds edge cases) - </a:t>
            </a:r>
            <a:r>
              <a:rPr b="1"/>
              <a:t>planner</a:t>
            </a:r>
            <a:r>
              <a:rPr/>
              <a:t>: Pragmatic/Realistic (ensures feasibility) - </a:t>
            </a:r>
            <a:r>
              <a:rPr b="1"/>
              <a:t>research-orchestrator</a:t>
            </a:r>
            <a:r>
              <a:rPr/>
              <a:t>: Optimistic/Creative (breakthrough opportunities) - </a:t>
            </a:r>
            <a:r>
              <a:rPr b="1"/>
              <a:t>doc-enforcer</a:t>
            </a:r>
            <a:r>
              <a:rPr/>
              <a:t>: Detail-Oriented/Pedantic (publication-ready quality)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: McKinsey 30-40% gains from orchestration </a:t>
            </a:r>
            <a:r>
              <a:rPr b="1"/>
              <a:t>beyond</a:t>
            </a:r>
            <a:r>
              <a:rPr/>
              <a:t> single-agent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The Opportunity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Become a “Starship Enterprise”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</a:t>
            </a:r>
            <a:r>
              <a:rPr/>
              <a:t> (Corvette → Formula 1): - Researchers use ChatGPT occasionally - Some early adopters using coding agents - No coordinated strategy or infrastructure</a:t>
            </a:r>
          </a:p>
          <a:p>
            <a:pPr lvl="0" indent="0" marL="0">
              <a:buNone/>
            </a:pPr>
            <a:r>
              <a:rPr b="1"/>
              <a:t>Where We Could Be</a:t>
            </a:r>
            <a:r>
              <a:rPr/>
              <a:t> (12 months): - Every research group has orchestrated AI team - Literature monitoring automated (90%+ coverage) - Experiment design AI-augmented - Publication velocity 3-5× baseline - Competitive moat vs. organizations at Corvette/F1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Workflow Vision (Starship Enterprise)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Morning</a:t>
            </a:r>
            <a:r>
              <a:rPr/>
              <a:t> (15 min): - Review overnight literature digest (10-15 relevant from 1,500+) - Approve/reject AI recommendations for experiments</a:t>
            </a:r>
          </a:p>
          <a:p>
            <a:pPr lvl="0" indent="0" marL="0">
              <a:buNone/>
            </a:pPr>
            <a:r>
              <a:rPr b="1"/>
              <a:t>Mid-day</a:t>
            </a:r>
            <a:r>
              <a:rPr/>
              <a:t> (4-6 hours): - </a:t>
            </a:r>
            <a:r>
              <a:rPr b="1"/>
              <a:t>High-value work only</a:t>
            </a:r>
            <a:r>
              <a:rPr/>
              <a:t>: Design, interpretation, writing - AI handles: Code, lit deep-dives, data processing, docs</a:t>
            </a:r>
          </a:p>
          <a:p>
            <a:pPr lvl="0" indent="0" marL="0">
              <a:buNone/>
            </a:pPr>
            <a:r>
              <a:rPr b="1"/>
              <a:t>Afternoon</a:t>
            </a:r>
            <a:r>
              <a:rPr/>
              <a:t> (2-3 hours): - Meetings with human collaborators - Review AI outputs, provide feedback</a:t>
            </a:r>
          </a:p>
          <a:p>
            <a:pPr lvl="0" indent="0" marL="0">
              <a:buNone/>
            </a:pPr>
            <a:r>
              <a:rPr b="1"/>
              <a:t>Evening</a:t>
            </a:r>
            <a:r>
              <a:rPr/>
              <a:t> (automated): - Literature scrubbing, simulations, backups, knowledge graph updates</a:t>
            </a:r>
          </a:p>
          <a:p>
            <a:pPr lvl="0" indent="0" marL="0">
              <a:buNone/>
            </a:pPr>
            <a:r>
              <a:rPr b="1"/>
              <a:t>Time Allocation Shift</a:t>
            </a:r>
            <a:r>
              <a:rPr/>
              <a:t>: 30% → </a:t>
            </a:r>
            <a:r>
              <a:rPr b="1"/>
              <a:t>75% on breakthrough work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 Orchestrated AI</a:t>
            </a:r>
            <a:r>
              <a:rPr/>
              <a:t>: - More comprehensive literature (90% vs. 5%) - Faster publication (3-5× velocity) - Higher quality proposals (AI-augmented design)</a:t>
            </a:r>
          </a:p>
          <a:p>
            <a:pPr lvl="0" indent="0" marL="0">
              <a:buNone/>
            </a:pPr>
            <a:r>
              <a:rPr b="1"/>
              <a:t>Organizations without</a:t>
            </a:r>
            <a:r>
              <a:rPr/>
              <a:t>: - Declining grant success (comparative disadvantage) - Talent drain (researchers want modern tools) - Slower breakthroughs (missing connections)</a:t>
            </a:r>
          </a:p>
          <a:p>
            <a:pPr lvl="0" indent="0" marL="0">
              <a:buNone/>
            </a:pPr>
            <a:r>
              <a:rPr b="1"/>
              <a:t>Our Context</a:t>
            </a:r>
            <a:r>
              <a:rPr/>
              <a:t>: Compete against labs with 5-10× headcount - </a:t>
            </a:r>
            <a:r>
              <a:rPr b="1"/>
              <a:t>Force multiplication</a:t>
            </a:r>
            <a:r>
              <a:rPr/>
              <a:t>: Small team operates like large team - </a:t>
            </a:r>
            <a:r>
              <a:rPr b="1"/>
              <a:t>Velocity</a:t>
            </a:r>
            <a:r>
              <a:rPr/>
              <a:t>: 3-5× publication rate vs. competitors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Accelerating Breakthroughs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Orchestrated AI Enables Discoveries</a:t>
            </a:r>
            <a:r>
              <a:rPr/>
              <a:t>:</a:t>
            </a:r>
          </a:p>
          <a:p>
            <a:pPr lvl="0" indent="0" marL="0">
              <a:buNone/>
            </a:pPr>
            <a:r>
              <a:rPr b="1"/>
              <a:t>1. Cross-Domain Synthesis</a:t>
            </a:r>
            <a:r>
              <a:rPr/>
              <a:t>: - Monitor multiple domains simultaneously (materials + chemistry + physics + CS) - Identify unexpected connections humans miss</a:t>
            </a:r>
          </a:p>
          <a:p>
            <a:pPr lvl="0" indent="0" marL="0">
              <a:buNone/>
            </a:pPr>
            <a:r>
              <a:rPr b="1"/>
              <a:t>2. Non-Obvious Patterns</a:t>
            </a:r>
            <a:r>
              <a:rPr/>
              <a:t>: - Analyze 1,500+ papers/day (vs. human 5-10) - Detect statistical trends across thousands of papers</a:t>
            </a:r>
          </a:p>
          <a:p>
            <a:pPr lvl="0" indent="0" marL="0">
              <a:buNone/>
            </a:pPr>
            <a:r>
              <a:rPr b="1"/>
              <a:t>3. Rapid Prototyping</a:t>
            </a:r>
            <a:r>
              <a:rPr/>
              <a:t>: - Test 10× more hypotheses per year - Proof-of-concept in days (not months)</a:t>
            </a:r>
          </a:p>
          <a:p>
            <a:pPr lvl="0" indent="0" marL="0">
              <a:buNone/>
            </a:pPr>
            <a:r>
              <a:rPr b="1"/>
              <a:t>4. Avoiding Dead-Ends</a:t>
            </a:r>
            <a:r>
              <a:rPr/>
              <a:t>: - Comprehensive prior work analysis before commitment - Identify showstoppers BEFORE 6-month investment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MARS Prototype Solution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I’ve Been Preparing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 I Am</a:t>
            </a:r>
            <a:r>
              <a:rPr/>
              <a:t>: Intelligent autonomous systems researcher</a:t>
            </a:r>
          </a:p>
          <a:p>
            <a:pPr lvl="0" indent="0" marL="0">
              <a:buNone/>
            </a:pPr>
            <a:r>
              <a:rPr b="1"/>
              <a:t>The “Sharpening the Saw” Moment</a:t>
            </a:r>
            <a:r>
              <a:rPr/>
              <a:t>: - 40% time on literature review (manual tracking) - 30% on documentation/tracking - 20% on </a:t>
            </a:r>
            <a:r>
              <a:rPr b="1"/>
              <a:t>actual research</a:t>
            </a:r>
            <a:r>
              <a:rPr/>
              <a:t> - 10% on writing</a:t>
            </a:r>
          </a:p>
          <a:p>
            <a:pPr lvl="0" indent="0" marL="0">
              <a:buNone/>
            </a:pPr>
            <a:r>
              <a:rPr b="1"/>
              <a:t>This was backwards.</a:t>
            </a:r>
          </a:p>
          <a:p>
            <a:pPr lvl="0" indent="0" marL="0">
              <a:buNone/>
            </a:pPr>
            <a:r>
              <a:rPr b="1"/>
              <a:t>The Decision</a:t>
            </a:r>
            <a:r>
              <a:rPr/>
              <a:t>: Build research-first platform that solves the problem correctly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- August 2025: Started prototyping (self-funded) - September-November 2025: Intensive development - </a:t>
            </a:r>
            <a:r>
              <a:rPr b="1"/>
              <a:t>Current</a:t>
            </a:r>
            <a:r>
              <a:rPr/>
              <a:t>: Foundation complete, ready for expansion</a:t>
            </a:r>
          </a:p>
          <a:p>
            <a:pPr lvl="0" indent="0" marL="0">
              <a:buNone/>
            </a:pPr>
            <a:r>
              <a:rPr b="1"/>
              <a:t>Time Investment</a:t>
            </a:r>
            <a:r>
              <a:rPr/>
              <a:t>: ~800-1,000 hours over 3-4 months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MARS?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Modular Agentic Research System</a:t>
            </a:r>
            <a:r>
              <a:rPr/>
              <a:t> = Operating system for AI-accelerated R&amp;D</a:t>
            </a:r>
          </a:p>
          <a:p>
            <a:pPr lvl="0" indent="0" marL="0">
              <a:buNone/>
            </a:pPr>
            <a:r>
              <a:rPr b="1"/>
              <a:t>Components</a:t>
            </a:r>
            <a:r>
              <a:rPr/>
              <a:t>: 1. </a:t>
            </a:r>
            <a:r>
              <a:rPr b="1"/>
              <a:t>Foundation Services</a:t>
            </a:r>
            <a:r>
              <a:rPr/>
              <a:t>: Docker, Neo4j (graph), Milvus (vector), MLflow 2. </a:t>
            </a:r>
            <a:r>
              <a:rPr b="1"/>
              <a:t>AI Integration</a:t>
            </a:r>
            <a:r>
              <a:rPr/>
              <a:t>: LiteLLM (unified API), Ollama (local LLMs) 3. </a:t>
            </a:r>
            <a:r>
              <a:rPr b="1"/>
              <a:t>Research Tools</a:t>
            </a:r>
            <a:r>
              <a:rPr/>
              <a:t>: Zotero, GitLab, PlantUML/SysML 4. </a:t>
            </a:r>
            <a:r>
              <a:rPr b="1"/>
              <a:t>AI Agents</a:t>
            </a:r>
            <a:r>
              <a:rPr/>
              <a:t>: DocCzar, TestCzar, knowledge-graph, orchestrator 5. </a:t>
            </a:r>
            <a:r>
              <a:rPr b="1"/>
              <a:t>Orchestration</a:t>
            </a:r>
            <a:r>
              <a:rPr/>
              <a:t>: LangGraph foundation</a:t>
            </a:r>
          </a:p>
          <a:p>
            <a:pPr lvl="0" indent="0" marL="0">
              <a:buNone/>
            </a:pPr>
            <a:r>
              <a:rPr b="1"/>
              <a:t>Why “Self-Hosted”</a:t>
            </a:r>
            <a:r>
              <a:rPr/>
              <a:t>: - Data privacy (never leaves network) - Air-gap capable (classified environments) - No vendor lock-in - Cost control, customization, compliance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8-Pillar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MARS Built on Rigorous Architecture</a:t>
            </a:r>
            <a:r>
              <a:rPr/>
              <a:t> (37 ADRs documenting decisions):</a:t>
            </a:r>
          </a:p>
          <a:p>
            <a:pPr lvl="0" indent="-342900" marL="342900">
              <a:buAutoNum type="arabicPeriod"/>
            </a:pPr>
            <a:r>
              <a:rPr b="1"/>
              <a:t>P1: Modularity</a:t>
            </a:r>
            <a:r>
              <a:rPr/>
              <a:t> - “Hotel rooms” (add capabilities incrementally)</a:t>
            </a:r>
          </a:p>
          <a:p>
            <a:pPr lvl="0" indent="-342900" marL="342900">
              <a:buAutoNum type="arabicPeriod"/>
            </a:pPr>
            <a:r>
              <a:rPr b="1"/>
              <a:t>P2: Security</a:t>
            </a:r>
            <a:r>
              <a:rPr/>
              <a:t> - Sysbox isolation, DoD compliance</a:t>
            </a:r>
          </a:p>
          <a:p>
            <a:pPr lvl="0" indent="-342900" marL="342900">
              <a:buAutoNum type="arabicPeriod"/>
            </a:pPr>
            <a:r>
              <a:rPr b="1"/>
              <a:t>P3: Memory &amp; Context</a:t>
            </a:r>
            <a:r>
              <a:rPr/>
              <a:t> ⭐ </a:t>
            </a:r>
            <a:r>
              <a:rPr b="1"/>
              <a:t>MOST IMPORTANT</a:t>
            </a:r>
            <a:r>
              <a:rPr/>
              <a:t> - Knowledge graphs, 40% token reduction</a:t>
            </a:r>
          </a:p>
          <a:p>
            <a:pPr lvl="0" indent="-342900" marL="342900">
              <a:buAutoNum type="arabicPeriod"/>
            </a:pPr>
            <a:r>
              <a:rPr b="1"/>
              <a:t>P4: Observability</a:t>
            </a:r>
            <a:r>
              <a:rPr/>
              <a:t> - Full provenance, metrics, health monitoring</a:t>
            </a:r>
          </a:p>
          <a:p>
            <a:pPr lvl="0" indent="-342900" marL="342900">
              <a:buAutoNum type="arabicPeriod"/>
            </a:pPr>
            <a:r>
              <a:rPr b="1"/>
              <a:t>P5: Reproducibility</a:t>
            </a:r>
            <a:r>
              <a:rPr/>
              <a:t> - Containerized, versioned, replay</a:t>
            </a:r>
          </a:p>
          <a:p>
            <a:pPr lvl="0" indent="-342900" marL="342900">
              <a:buAutoNum type="arabicPeriod"/>
            </a:pPr>
            <a:r>
              <a:rPr b="1"/>
              <a:t>P6: Human-AI Collaboration</a:t>
            </a:r>
            <a:r>
              <a:rPr/>
              <a:t> - Human-in-loop, approval gates</a:t>
            </a:r>
          </a:p>
          <a:p>
            <a:pPr lvl="0" indent="-342900" marL="342900">
              <a:buAutoNum type="arabicPeriod"/>
            </a:pPr>
            <a:r>
              <a:rPr b="1"/>
              <a:t>P7: Air-Gap &amp; Self-Hosting</a:t>
            </a:r>
            <a:r>
              <a:rPr/>
              <a:t> - 100% offline capable</a:t>
            </a:r>
          </a:p>
          <a:p>
            <a:pPr lvl="0" indent="-342900" marL="342900">
              <a:buAutoNum type="arabicPeriod"/>
            </a:pPr>
            <a:r>
              <a:rPr b="1"/>
              <a:t>P8: Open Standards</a:t>
            </a:r>
            <a:r>
              <a:rPr/>
              <a:t> - MCP protocol, Docker, open-source</a:t>
            </a:r>
          </a:p>
          <a:p>
            <a:pPr lvl="0" indent="0" marL="0">
              <a:buNone/>
            </a:pPr>
            <a:r>
              <a:rPr b="1"/>
              <a:t>Why P3 is Critical</a:t>
            </a:r>
            <a:r>
              <a:rPr/>
              <a:t>: Without persistent memory, agents are tools. With memory, agents are research accelerators.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Modularity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0</a:t>
            </a:r>
            <a:r>
              <a:rPr/>
              <a:t>: Custom Home (monolithic) - 6-12 months per new capability </a:t>
            </a:r>
            <a:r>
              <a:rPr b="1"/>
              <a:t>Level 1</a:t>
            </a:r>
            <a:r>
              <a:rPr/>
              <a:t>: Prefab Sections (semi-modular) - 3-6 months, brittle </a:t>
            </a:r>
            <a:r>
              <a:rPr b="1"/>
              <a:t>Level 2</a:t>
            </a:r>
            <a:r>
              <a:rPr/>
              <a:t>: Apartment Building (microservices) - 1-3 months </a:t>
            </a:r>
            <a:r>
              <a:rPr b="1"/>
              <a:t>Level 3</a:t>
            </a:r>
            <a:r>
              <a:rPr/>
              <a:t>: Modular Hotel (MARS) - </a:t>
            </a:r>
            <a:r>
              <a:rPr b="1"/>
              <a:t>3-7 weeks per new domain</a:t>
            </a:r>
          </a:p>
          <a:p>
            <a:pPr lvl="0" indent="0" marL="0">
              <a:buNone/>
            </a:pPr>
            <a:r>
              <a:rPr b="1"/>
              <a:t>MARS “Hotel Rooms” Architecture</a:t>
            </a:r>
            <a:r>
              <a:rPr/>
              <a:t>: - </a:t>
            </a:r>
            <a:r>
              <a:rPr b="1"/>
              <a:t>Foundation</a:t>
            </a:r>
            <a:r>
              <a:rPr/>
              <a:t> (built once): Docker, Neo4j, MinIO, LiteLLM, Squid, MLflow - </a:t>
            </a:r>
            <a:r>
              <a:rPr b="1"/>
              <a:t>Modular “Rooms”</a:t>
            </a:r>
            <a:r>
              <a:rPr/>
              <a:t> (add as needed): Agents, services, domain workflows - </a:t>
            </a:r>
            <a:r>
              <a:rPr b="1"/>
              <a:t>Standardized Interfaces</a:t>
            </a:r>
            <a:r>
              <a:rPr/>
              <a:t>: MCP protocol (plug-and-play)</a:t>
            </a:r>
          </a:p>
          <a:p>
            <a:pPr lvl="0" indent="0" marL="0">
              <a:buNone/>
            </a:pPr>
            <a:r>
              <a:rPr b="1"/>
              <a:t>Materials Group Example</a:t>
            </a:r>
            <a:r>
              <a:rPr/>
              <a:t>: - Week 1: Use existing foundation (Zotero, GitLab, graph) - Weeks 2-4: Create materials-specific agents - Weeks 5-6: Integrate custom tools - </a:t>
            </a:r>
            <a:r>
              <a:rPr b="1"/>
              <a:t>Total</a:t>
            </a:r>
            <a:r>
              <a:rPr/>
              <a:t>: 5-7 weeks vs. 6-12 months from scratch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Security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0</a:t>
            </a:r>
            <a:r>
              <a:rPr/>
              <a:t>: Open Door (no security) - Public research only </a:t>
            </a:r>
            <a:r>
              <a:rPr b="1"/>
              <a:t>Level 1</a:t>
            </a:r>
            <a:r>
              <a:rPr/>
              <a:t>: Lock &amp; Key (basic) - Limited classified use </a:t>
            </a:r>
            <a:r>
              <a:rPr b="1"/>
              <a:t>Level 2</a:t>
            </a:r>
            <a:r>
              <a:rPr/>
              <a:t>: Gated Community (defense in depth) - Some classified with waivers </a:t>
            </a:r>
            <a:r>
              <a:rPr b="1"/>
              <a:t>Level 3</a:t>
            </a:r>
            <a:r>
              <a:rPr/>
              <a:t>: Military Base (MARS) - </a:t>
            </a:r>
            <a:r>
              <a:rPr b="1"/>
              <a:t>DoD classified, air-gap</a:t>
            </a:r>
          </a:p>
          <a:p>
            <a:pPr lvl="0" indent="0" marL="0">
              <a:buNone/>
            </a:pPr>
            <a:r>
              <a:rPr b="1"/>
              <a:t>MARS Security</a:t>
            </a:r>
            <a:r>
              <a:rPr/>
              <a:t>: - </a:t>
            </a:r>
            <a:r>
              <a:rPr b="1"/>
              <a:t>Deny-by-default networking</a:t>
            </a:r>
            <a:r>
              <a:rPr/>
              <a:t> (Squid proxy allowlist) - </a:t>
            </a:r>
            <a:r>
              <a:rPr b="1"/>
              <a:t>Rootless containers</a:t>
            </a:r>
            <a:r>
              <a:rPr/>
              <a:t> (no privileged processes) - </a:t>
            </a:r>
            <a:r>
              <a:rPr b="1"/>
              <a:t>Bearer token auth</a:t>
            </a:r>
            <a:r>
              <a:rPr/>
              <a:t> (DoD PKI/CAC support) - </a:t>
            </a:r>
            <a:r>
              <a:rPr b="1"/>
              <a:t>DoD TLS certificates</a:t>
            </a:r>
            <a:r>
              <a:rPr/>
              <a:t> - </a:t>
            </a:r>
            <a:r>
              <a:rPr b="1"/>
              <a:t>100% self-hosted</a:t>
            </a:r>
            <a:r>
              <a:rPr/>
              <a:t> (air-gap capable) - </a:t>
            </a:r>
            <a:r>
              <a:rPr b="1"/>
              <a:t>Local LLMs</a:t>
            </a:r>
            <a:r>
              <a:rPr/>
              <a:t> (Ollama - $0 cost, no data egress) - </a:t>
            </a:r>
            <a:r>
              <a:rPr b="1"/>
              <a:t>Audit logging</a:t>
            </a:r>
            <a:r>
              <a:rPr/>
              <a:t> (append-only provenance)</a:t>
            </a:r>
          </a:p>
          <a:p>
            <a:pPr lvl="0" indent="0" marL="0">
              <a:buNone/>
            </a:pPr>
            <a:r>
              <a:rPr b="1"/>
              <a:t>Air-Gap Deployment</a:t>
            </a:r>
            <a:r>
              <a:rPr/>
              <a:t>: Classified materials research on DoD network (no internet)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Built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Foundation</a:t>
            </a:r>
            <a:r>
              <a:rPr/>
              <a:t> (✅ Operational): - Docker infrastructure, Neo4j, Milvus (80%), MLflow - LiteLLM (AskSage integration), Ollama (local LLMs) - Zotero MCP (100%), GitLab MCP (50%) - PlantUML/SysML diagrams (100%)</a:t>
            </a:r>
          </a:p>
          <a:p>
            <a:pPr lvl="0" indent="0" marL="0">
              <a:buNone/>
            </a:pPr>
            <a:r>
              <a:rPr b="1"/>
              <a:t>Agents</a:t>
            </a:r>
            <a:r>
              <a:rPr/>
              <a:t> (✅ Operational): - </a:t>
            </a:r>
            <a:r>
              <a:rPr b="1"/>
              <a:t>DocCzar</a:t>
            </a:r>
            <a:r>
              <a:rPr/>
              <a:t> (doc-enforcer): Documentation validation - </a:t>
            </a:r>
            <a:r>
              <a:rPr b="1"/>
              <a:t>TestCzar</a:t>
            </a:r>
            <a:r>
              <a:rPr/>
              <a:t> (test-runner): Test coordination - </a:t>
            </a:r>
            <a:r>
              <a:rPr b="1"/>
              <a:t>Knowledge Graph Agent</a:t>
            </a:r>
            <a:r>
              <a:rPr/>
              <a:t>: REQUIREMENT block ingestion</a:t>
            </a:r>
          </a:p>
          <a:p>
            <a:pPr lvl="0" indent="0" marL="0">
              <a:buNone/>
            </a:pPr>
            <a:r>
              <a:rPr b="1"/>
              <a:t>Development Infrastructure</a:t>
            </a:r>
            <a:r>
              <a:rPr/>
              <a:t> (✅ Operational): - E6: Containerized dev environment (Docker-in-Docker) - E8: Parallel orchestration (5-25 concurrent sessions via worktrees) - E13: Sprint protection (56 tests) - 434+ tests across codebase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on the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Component Status</a:t>
            </a:r>
            <a:r>
              <a:rPr/>
              <a:t> (v1.0 target: Feb-Mar 2026): - </a:t>
            </a:r>
            <a:r>
              <a:rPr b="1"/>
              <a:t>C1 (LiteLLM)</a:t>
            </a:r>
            <a:r>
              <a:rPr/>
              <a:t>: 75% - BLOCKED (AskSage streaming) - </a:t>
            </a:r>
            <a:r>
              <a:rPr b="1"/>
              <a:t>C2 (Zotero)</a:t>
            </a:r>
            <a:r>
              <a:rPr/>
              <a:t>: ✅ 100% COMPLETE - </a:t>
            </a:r>
            <a:r>
              <a:rPr b="1"/>
              <a:t>C3 (GitLab)</a:t>
            </a:r>
            <a:r>
              <a:rPr/>
              <a:t>: 50% - Phase 6A operational (79 tools) - </a:t>
            </a:r>
            <a:r>
              <a:rPr b="1"/>
              <a:t>C4 (Infrastructure)</a:t>
            </a:r>
            <a:r>
              <a:rPr/>
              <a:t>: 87% - 16/20 enhancements done - </a:t>
            </a:r>
            <a:r>
              <a:rPr b="1"/>
              <a:t>C5 (Literature Research)</a:t>
            </a:r>
            <a:r>
              <a:rPr/>
              <a:t>: PLANNED (research-orchestrator + literature-monitor) - </a:t>
            </a:r>
            <a:r>
              <a:rPr b="1"/>
              <a:t>C6 (SysML/PlantUML)</a:t>
            </a:r>
            <a:r>
              <a:rPr/>
              <a:t>: ✅ 100% COMPLETE - </a:t>
            </a:r>
            <a:r>
              <a:rPr b="1"/>
              <a:t>C11 (LangGraph Orchestration)</a:t>
            </a:r>
            <a:r>
              <a:rPr/>
              <a:t>: IN PROGRESS (HITL Phase 4) - </a:t>
            </a:r>
            <a:r>
              <a:rPr b="1"/>
              <a:t>C16 (RAG-Indexer)</a:t>
            </a:r>
            <a:r>
              <a:rPr/>
              <a:t>: ✅ MERGED (semantic search, literature synthesis)</a:t>
            </a:r>
          </a:p>
          <a:p>
            <a:pPr lvl="0" indent="0" marL="0">
              <a:buNone/>
            </a:pPr>
            <a:r>
              <a:rPr b="1"/>
              <a:t>17 components required for v1.0</a:t>
            </a:r>
            <a:r>
              <a:rPr/>
              <a:t>, </a:t>
            </a:r>
            <a:r>
              <a:rPr b="1"/>
              <a:t>4 are 100% complete</a:t>
            </a:r>
            <a:r>
              <a:rPr/>
              <a:t>, </a:t>
            </a:r>
            <a:r>
              <a:rPr b="1"/>
              <a:t>4 in active development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 MARS Accelerates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Literature Management</a:t>
            </a:r>
            <a:r>
              <a:rPr/>
              <a:t> (✅ Operational): - Zotero integration for reference management - 10 MCP tools, bidirectional sync - Desktop client + web library</a:t>
            </a:r>
          </a:p>
          <a:p>
            <a:pPr lvl="0" indent="0" marL="0">
              <a:buNone/>
            </a:pPr>
            <a:r>
              <a:rPr b="1"/>
              <a:t>2. Documentation Validation</a:t>
            </a:r>
            <a:r>
              <a:rPr/>
              <a:t> (✅ Operational): - DocCzar agent validates 109 docs in seconds - Broken link detection, citation checking - Standards enforcement</a:t>
            </a:r>
          </a:p>
          <a:p>
            <a:pPr lvl="0" indent="0" marL="0">
              <a:buNone/>
            </a:pPr>
            <a:r>
              <a:rPr b="1"/>
              <a:t>3. Knowledge Graph Integration</a:t>
            </a:r>
            <a:r>
              <a:rPr/>
              <a:t> (✅ Operational): - Neo4j tracks paper → requirement → design → experiment - REQUIREMENT block ingestion automated - Cross-domain synthesis</a:t>
            </a:r>
          </a:p>
          <a:p>
            <a:pPr lvl="0" indent="0" marL="0">
              <a:buNone/>
            </a:pPr>
            <a:r>
              <a:rPr b="1"/>
              <a:t>4. Semantic Code Search</a:t>
            </a:r>
            <a:r>
              <a:rPr/>
              <a:t> (⏳ 80% - blocked by MCP bug): - ~40% token reduction via RAG - Automatic context retrieval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MARS Different?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vs. LangGraph/AutoGen/CrewAI</a:t>
            </a:r>
            <a:r>
              <a:rPr/>
              <a:t>: - ❌ They’re </a:t>
            </a:r>
            <a:r>
              <a:rPr b="1"/>
              <a:t>frameworks</a:t>
            </a:r>
            <a:r>
              <a:rPr/>
              <a:t> (you build everything else) - ✅ MARS is </a:t>
            </a:r>
            <a:r>
              <a:rPr b="1"/>
              <a:t>complete system</a:t>
            </a:r>
            <a:r>
              <a:rPr/>
              <a:t> (infrastructure + agents + tools)</a:t>
            </a:r>
          </a:p>
          <a:p>
            <a:pPr lvl="0" indent="0" marL="0">
              <a:buNone/>
            </a:pPr>
            <a:r>
              <a:rPr b="1"/>
              <a:t>vs. Cloud AI Platforms</a:t>
            </a:r>
            <a:r>
              <a:rPr/>
              <a:t>: - ❌ Vendor lock-in, expensive, can’t work air-gapped - ✅ MARS: Self-hosted, open standards, DoD classified capable</a:t>
            </a:r>
          </a:p>
          <a:p>
            <a:pPr lvl="0" indent="0" marL="0">
              <a:buNone/>
            </a:pPr>
            <a:r>
              <a:rPr b="1"/>
              <a:t>vs. Custom GPT Agents</a:t>
            </a:r>
            <a:r>
              <a:rPr/>
              <a:t>: - ❌ Single-agent, no orchestration, no governance - ✅ MARS: Multi-agent orchestration, built-in provenance</a:t>
            </a:r>
          </a:p>
          <a:p>
            <a:pPr lvl="0" indent="0" marL="0">
              <a:buNone/>
            </a:pPr>
            <a:r>
              <a:rPr b="1"/>
              <a:t>MARS Unique Value</a:t>
            </a:r>
            <a:r>
              <a:rPr/>
              <a:t>: 1. </a:t>
            </a:r>
            <a:r>
              <a:rPr b="1"/>
              <a:t>Research-specific workflows</a:t>
            </a:r>
            <a:r>
              <a:rPr/>
              <a:t> (literature + experiments + analysis) 2. </a:t>
            </a:r>
            <a:r>
              <a:rPr b="1"/>
              <a:t>Multi-agent orchestration</a:t>
            </a:r>
            <a:r>
              <a:rPr/>
              <a:t> (not single chatbot) 3. </a:t>
            </a:r>
            <a:r>
              <a:rPr b="1"/>
              <a:t>Governance built-in</a:t>
            </a:r>
            <a:r>
              <a:rPr/>
              <a:t> (provenance, audit, human-in-loop) 4. </a:t>
            </a:r>
            <a:r>
              <a:rPr b="1"/>
              <a:t>Strategic independence</a:t>
            </a:r>
            <a:r>
              <a:rPr/>
              <a:t> (self-hosted, open standards, multi-provider) 5. </a:t>
            </a:r>
            <a:r>
              <a:rPr b="1"/>
              <a:t>Classified-capable</a:t>
            </a:r>
            <a:r>
              <a:rPr/>
              <a:t> (air-gap, DoD compliance by default)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Extensibility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50+ MCP Integrations Identified</a:t>
            </a:r>
            <a:r>
              <a:rPr/>
              <a:t> (3-4 weeks each):</a:t>
            </a:r>
          </a:p>
          <a:p>
            <a:pPr lvl="0" indent="0" marL="0">
              <a:buNone/>
            </a:pPr>
            <a:r>
              <a:rPr b="1"/>
              <a:t>Research Tools</a:t>
            </a:r>
            <a:r>
              <a:rPr/>
              <a:t>: ROS2, SLURM, Overleaf, LabView, MATLAB, SolidWorks </a:t>
            </a:r>
            <a:r>
              <a:rPr b="1"/>
              <a:t>Data Sources</a:t>
            </a:r>
            <a:r>
              <a:rPr/>
              <a:t>: PubMed, IEEE Xplore, Web of Science, arXiv </a:t>
            </a:r>
            <a:r>
              <a:rPr b="1"/>
              <a:t>Lab Management</a:t>
            </a:r>
            <a:r>
              <a:rPr/>
              <a:t>: eLabFTW, Benchling, LabArchives </a:t>
            </a:r>
            <a:r>
              <a:rPr b="1"/>
              <a:t>Collaboration</a:t>
            </a:r>
            <a:r>
              <a:rPr/>
              <a:t>: Slack, Teams, Jira, Confluence </a:t>
            </a:r>
            <a:r>
              <a:rPr b="1"/>
              <a:t>Hardware</a:t>
            </a:r>
            <a:r>
              <a:rPr/>
              <a:t>: Oscilloscopes, spectrometers, microscopes </a:t>
            </a:r>
            <a:r>
              <a:rPr b="1"/>
              <a:t>Simulation</a:t>
            </a:r>
            <a:r>
              <a:rPr/>
              <a:t>: ANSYS, COMSOL, OpenFOAM, GROMACS</a:t>
            </a:r>
          </a:p>
          <a:p>
            <a:pPr lvl="0" indent="0" marL="0">
              <a:buNone/>
            </a:pPr>
            <a:r>
              <a:rPr b="1"/>
              <a:t>Modularity Benefit</a:t>
            </a:r>
            <a:r>
              <a:rPr/>
              <a:t>: Each integration trivial (~1 hour) vs. 80 hours for custom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MARS Standards &amp;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 Communication</a:t>
            </a:r>
            <a:r>
              <a:rPr/>
              <a:t>: - </a:t>
            </a:r>
            <a:r>
              <a:rPr b="1"/>
              <a:t>Agent-to-Agent (A2A)</a:t>
            </a:r>
            <a:r>
              <a:rPr/>
              <a:t>: GraphQL federation (in development) - </a:t>
            </a:r>
            <a:r>
              <a:rPr b="1"/>
              <a:t>Agent-to-Tool (MCP)</a:t>
            </a:r>
            <a:r>
              <a:rPr/>
              <a:t>: Model Context Protocol (operational) - </a:t>
            </a:r>
            <a:r>
              <a:rPr b="1"/>
              <a:t>Human-to-Agent</a:t>
            </a:r>
            <a:r>
              <a:rPr/>
              <a:t>: Conversational interface + approval gates</a:t>
            </a:r>
          </a:p>
          <a:p>
            <a:pPr lvl="0" indent="0" marL="0">
              <a:buNone/>
            </a:pPr>
            <a:r>
              <a:rPr b="1"/>
              <a:t>Development Standards</a:t>
            </a:r>
            <a:r>
              <a:rPr/>
              <a:t> (mars-dev): - </a:t>
            </a:r>
            <a:r>
              <a:rPr b="1"/>
              <a:t>ADR Documentation</a:t>
            </a:r>
            <a:r>
              <a:rPr/>
              <a:t>: 37 architecture decisions documented - </a:t>
            </a:r>
            <a:r>
              <a:rPr b="1"/>
              <a:t>Pre-commit Hooks</a:t>
            </a:r>
            <a:r>
              <a:rPr/>
              <a:t>: Automated validation, test execution - </a:t>
            </a:r>
            <a:r>
              <a:rPr b="1"/>
              <a:t>E8 Orchestration</a:t>
            </a:r>
            <a:r>
              <a:rPr/>
              <a:t>: 5-25 parallel CCC sessions via worktrees - </a:t>
            </a:r>
            <a:r>
              <a:rPr b="1"/>
              <a:t>Session Management</a:t>
            </a:r>
            <a:r>
              <a:rPr/>
              <a:t>: Export/import, normalization, git integration</a:t>
            </a:r>
          </a:p>
          <a:p>
            <a:pPr lvl="0" indent="0" marL="0">
              <a:buNone/>
            </a:pPr>
            <a:r>
              <a:rPr b="1"/>
              <a:t>Observability</a:t>
            </a:r>
            <a:r>
              <a:rPr/>
              <a:t>: - Prometheus metrics, health endpoints - X-Trace-Id propagation across services - Append-only provenance ledger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MARS-RT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Complete Picture</a:t>
            </a:r>
            <a:r>
              <a:rPr/>
              <a:t>:</a:t>
            </a:r>
          </a:p>
          <a:p>
            <a:pPr lvl="0" indent="0" marL="0">
              <a:buNone/>
            </a:pPr>
            <a:r>
              <a:rPr b="1"/>
              <a:t>Foundation Layer</a:t>
            </a:r>
            <a:r>
              <a:rPr/>
              <a:t>: - Docker, Neo4j, Milvus, MinIO, PostgreSQL, MySQL</a:t>
            </a:r>
          </a:p>
          <a:p>
            <a:pPr lvl="0" indent="0" marL="0">
              <a:buNone/>
            </a:pPr>
            <a:r>
              <a:rPr b="1"/>
              <a:t>AI Integration Layer</a:t>
            </a:r>
            <a:r>
              <a:rPr/>
              <a:t>: - LiteLLM (AskSage, Claude, GPT), Ollama (local LLMs)</a:t>
            </a:r>
          </a:p>
          <a:p>
            <a:pPr lvl="0" indent="0" marL="0">
              <a:buNone/>
            </a:pPr>
            <a:r>
              <a:rPr b="1"/>
              <a:t>Research Tools Layer</a:t>
            </a:r>
            <a:r>
              <a:rPr/>
              <a:t>: - Zotero MCP, GitLab MCP, PlantUML</a:t>
            </a:r>
          </a:p>
          <a:p>
            <a:pPr lvl="0" indent="0" marL="0">
              <a:buNone/>
            </a:pPr>
            <a:r>
              <a:rPr b="1"/>
              <a:t>Agent Layer</a:t>
            </a:r>
            <a:r>
              <a:rPr/>
              <a:t>: - Orchestrator (LangGraph), Research agents, Domain agents</a:t>
            </a:r>
          </a:p>
          <a:p>
            <a:pPr lvl="0" indent="0" marL="0">
              <a:buNone/>
            </a:pPr>
            <a:r>
              <a:rPr b="1"/>
              <a:t>Observability Layer</a:t>
            </a:r>
            <a:r>
              <a:rPr/>
              <a:t>: - Prometheus, Grafana, MLflow, provenance logging</a:t>
            </a:r>
          </a:p>
          <a:p>
            <a:pPr lvl="0" indent="0" marL="0">
              <a:buNone/>
            </a:pPr>
            <a:r>
              <a:rPr b="1"/>
              <a:t>Security Layer</a:t>
            </a:r>
            <a:r>
              <a:rPr/>
              <a:t>: - Squid proxy (deny-by-default), rootless containers, bearer auth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mars-dev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Development Infrastructure</a:t>
            </a:r>
            <a:r>
              <a:rPr/>
              <a:t> (Tools for Building MARS):</a:t>
            </a:r>
          </a:p>
          <a:p>
            <a:pPr lvl="0" indent="0" marL="0">
              <a:buNone/>
            </a:pPr>
            <a:r>
              <a:rPr b="1"/>
              <a:t>E4 (Context)</a:t>
            </a:r>
            <a:r>
              <a:rPr/>
              <a:t>: Session contexts, implementation plans, component overlays </a:t>
            </a:r>
            <a:r>
              <a:rPr b="1"/>
              <a:t>E7 (Policy Bundles)</a:t>
            </a:r>
            <a:r>
              <a:rPr/>
              <a:t>: AI behavior configuration (security, compliance, tasks) </a:t>
            </a:r>
            <a:r>
              <a:rPr b="1"/>
              <a:t>E8 (Parallel Orchestration)</a:t>
            </a:r>
            <a:r>
              <a:rPr/>
              <a:t>: Worktrees, merge queues, Zellij dashboards </a:t>
            </a:r>
            <a:r>
              <a:rPr b="1"/>
              <a:t>E13 (Sprint Protection)</a:t>
            </a:r>
            <a:r>
              <a:rPr/>
              <a:t>: Pre-commit hooks, 56 tests </a:t>
            </a:r>
            <a:r>
              <a:rPr b="1"/>
              <a:t>E15 (Constraint System)</a:t>
            </a:r>
            <a:r>
              <a:rPr/>
              <a:t>: 18 dev rules + 18 runtime rules (JSON) </a:t>
            </a:r>
            <a:r>
              <a:rPr b="1"/>
              <a:t>E18 (Claude Skills)</a:t>
            </a:r>
            <a:r>
              <a:rPr/>
              <a:t>: 13 skills (permission-friendly-commands critical)</a:t>
            </a:r>
          </a:p>
          <a:p>
            <a:pPr lvl="0" indent="0" marL="0">
              <a:buNone/>
            </a:pPr>
            <a:r>
              <a:rPr b="1"/>
              <a:t>Clear Separation</a:t>
            </a:r>
            <a:r>
              <a:rPr/>
              <a:t>: mars-dev (development) vs. core/modules (product)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MARS Can Expand Across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Pilot</a:t>
            </a:r>
            <a:r>
              <a:rPr/>
              <a:t> (3-4 months): - 1-2 research groups adopt MARS foundation - Prove orchestrated AI value in real research programs - Build organizational expertise</a:t>
            </a:r>
          </a:p>
          <a:p>
            <a:pPr lvl="0" indent="0" marL="0">
              <a:buNone/>
            </a:pPr>
            <a:r>
              <a:rPr b="1"/>
              <a:t>Phase 2: Expansion</a:t>
            </a:r>
            <a:r>
              <a:rPr/>
              <a:t> (6-9 months): - 5-7 additional groups adopt (parallel) - Domain-specific agents (materials, chemistry, biology) - Shared foundation benefits all groups</a:t>
            </a:r>
          </a:p>
          <a:p>
            <a:pPr lvl="0" indent="0" marL="0">
              <a:buNone/>
            </a:pPr>
            <a:r>
              <a:rPr b="1"/>
              <a:t>Phase 3: Production</a:t>
            </a:r>
            <a:r>
              <a:rPr/>
              <a:t> (12+ months): - Organization-wide orchestrated AI capability - Institutional memory compounds - 3-5× force multiplication achieved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5-7 weeks per new group (modular architecture enables parallelization)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Appendices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A: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LLM (Large Language Model)</a:t>
            </a:r>
            <a:r>
              <a:rPr/>
              <a:t>: Pattern-matching engine trained on text </a:t>
            </a:r>
            <a:r>
              <a:rPr b="1"/>
              <a:t>AI Agent</a:t>
            </a:r>
            <a:r>
              <a:rPr/>
              <a:t>: LLM + tool use + multi-step planning </a:t>
            </a:r>
            <a:r>
              <a:rPr b="1"/>
              <a:t>MCP (Model Context Protocol)</a:t>
            </a:r>
            <a:r>
              <a:rPr/>
              <a:t>: USB for AI agents (plug-and-play tools) </a:t>
            </a:r>
            <a:r>
              <a:rPr b="1"/>
              <a:t>Orchestration</a:t>
            </a:r>
            <a:r>
              <a:rPr/>
              <a:t>: Automated coordination of specialized AI agents </a:t>
            </a:r>
            <a:r>
              <a:rPr b="1"/>
              <a:t>LangGraph</a:t>
            </a:r>
            <a:r>
              <a:rPr/>
              <a:t>: Framework for building AI agent orchestration </a:t>
            </a:r>
            <a:r>
              <a:rPr b="1"/>
              <a:t>RAG (Retrieval-Augmented Generation)</a:t>
            </a:r>
            <a:r>
              <a:rPr/>
              <a:t>: Semantic search for context (~40% token reduction) </a:t>
            </a:r>
            <a:r>
              <a:rPr b="1"/>
              <a:t>Knowledge Graph</a:t>
            </a:r>
            <a:r>
              <a:rPr/>
              <a:t>: Relationship database (Neo4j) - paper → requirement → experiment </a:t>
            </a:r>
            <a:r>
              <a:rPr b="1"/>
              <a:t>Self-Hosted</a:t>
            </a:r>
            <a:r>
              <a:rPr/>
              <a:t>: Runs on our infrastructure, not cloud </a:t>
            </a:r>
            <a:r>
              <a:rPr b="1"/>
              <a:t>Air-Gap</a:t>
            </a:r>
            <a:r>
              <a:rPr/>
              <a:t>: Fully offline operation (no internet) </a:t>
            </a:r>
            <a:r>
              <a:rPr b="1"/>
              <a:t>Rootless</a:t>
            </a:r>
            <a:r>
              <a:rPr/>
              <a:t>: Containers run as non-root user (security) </a:t>
            </a:r>
            <a:r>
              <a:rPr b="1"/>
              <a:t>MCP Server</a:t>
            </a:r>
            <a:r>
              <a:rPr/>
              <a:t>: Tool that provides capabilities to AI agents via MCP protocol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B: Key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GitHub Copilot RCT</a:t>
            </a:r>
            <a:r>
              <a:rPr/>
              <a:t> (Microsoft/MIT/Princeton/Wharton, 2024): - 26% average productivity increase, 4,000+ developers, CACM</a:t>
            </a:r>
          </a:p>
          <a:p>
            <a:pPr lvl="0" indent="0" marL="0">
              <a:buNone/>
            </a:pPr>
            <a:r>
              <a:rPr b="1"/>
              <a:t>Science Magazine Study</a:t>
            </a:r>
            <a:r>
              <a:rPr/>
              <a:t> (2024): - 40% faster task completion, 18% higher quality, peer-reviewed</a:t>
            </a:r>
          </a:p>
          <a:p>
            <a:pPr lvl="0" indent="0" marL="0">
              <a:buNone/>
            </a:pPr>
            <a:r>
              <a:rPr b="1"/>
              <a:t>McKinsey Generative AI Report</a:t>
            </a:r>
            <a:r>
              <a:rPr/>
              <a:t> (2024): - 30-40% efficiency gains from multi-agent orchestration</a:t>
            </a:r>
          </a:p>
          <a:p>
            <a:pPr lvl="0" indent="0" marL="0">
              <a:buNone/>
            </a:pPr>
            <a:r>
              <a:rPr b="1"/>
              <a:t>BCG Multi-Agent Workflow Study</a:t>
            </a:r>
            <a:r>
              <a:rPr/>
              <a:t> (2024): - 45% margin improvement in orchestrated workflows</a:t>
            </a:r>
          </a:p>
          <a:p>
            <a:pPr lvl="0" indent="0" marL="0">
              <a:buNone/>
            </a:pPr>
            <a:r>
              <a:rPr b="1"/>
              <a:t>Stanford HAI Study</a:t>
            </a:r>
            <a:r>
              <a:rPr/>
              <a:t> (2024): - AI-augmented research groups: 2.3× publication rate (median)</a:t>
            </a:r>
          </a:p>
          <a:p>
            <a:pPr lvl="0" indent="0" marL="0">
              <a:buNone/>
            </a:pPr>
            <a:r>
              <a:rPr b="1"/>
              <a:t>Key Insight</a:t>
            </a:r>
            <a:r>
              <a:rPr/>
              <a:t>: Peer-reviewed, large-scale, reproducible evidence of transformational (not incremental) gains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C: MARS Architecture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Services</a:t>
            </a:r>
            <a:r>
              <a:rPr/>
              <a:t> (Self-Hosted): - </a:t>
            </a:r>
            <a:r>
              <a:rPr>
                <a:latin typeface="Courier"/>
              </a:rPr>
              <a:t>graph-db</a:t>
            </a:r>
            <a:r>
              <a:rPr/>
              <a:t> (Neo4j): Knowledge graph, relationships - </a:t>
            </a:r>
            <a:r>
              <a:rPr>
                <a:latin typeface="Courier"/>
              </a:rPr>
              <a:t>vector-db</a:t>
            </a:r>
            <a:r>
              <a:rPr/>
              <a:t> (Milvus): Semantic search, RAG - </a:t>
            </a:r>
            <a:r>
              <a:rPr>
                <a:latin typeface="Courier"/>
              </a:rPr>
              <a:t>object-store</a:t>
            </a:r>
            <a:r>
              <a:rPr/>
              <a:t> (MinIO): S3-compatible storage - </a:t>
            </a:r>
            <a:r>
              <a:rPr>
                <a:latin typeface="Courier"/>
              </a:rPr>
              <a:t>experiment-tracker</a:t>
            </a:r>
            <a:r>
              <a:rPr/>
              <a:t> (MLflow): Experiment logging, metrics - </a:t>
            </a:r>
            <a:r>
              <a:rPr>
                <a:latin typeface="Courier"/>
              </a:rPr>
              <a:t>metrics-store</a:t>
            </a:r>
            <a:r>
              <a:rPr/>
              <a:t> (Prometheus): Time-series data - </a:t>
            </a:r>
            <a:r>
              <a:rPr>
                <a:latin typeface="Courier"/>
              </a:rPr>
              <a:t>network-proxy</a:t>
            </a:r>
            <a:r>
              <a:rPr/>
              <a:t> (Squid): Deny-by-default security</a:t>
            </a:r>
          </a:p>
          <a:p>
            <a:pPr lvl="0" indent="0" marL="0">
              <a:buNone/>
            </a:pPr>
            <a:r>
              <a:rPr b="1"/>
              <a:t>AI Integration</a:t>
            </a:r>
            <a:r>
              <a:rPr/>
              <a:t>: - </a:t>
            </a:r>
            <a:r>
              <a:rPr>
                <a:latin typeface="Courier"/>
              </a:rPr>
              <a:t>litellm</a:t>
            </a:r>
            <a:r>
              <a:rPr/>
              <a:t>: Unified API (AskSage, Claude, GPT, local models) - </a:t>
            </a:r>
            <a:r>
              <a:rPr>
                <a:latin typeface="Courier"/>
              </a:rPr>
              <a:t>selfhosted-models</a:t>
            </a:r>
            <a:r>
              <a:rPr/>
              <a:t> (Ollama): GPU-accelerated local LLMs</a:t>
            </a:r>
          </a:p>
          <a:p>
            <a:pPr lvl="0" indent="0" marL="0">
              <a:buNone/>
            </a:pPr>
            <a:r>
              <a:rPr b="1"/>
              <a:t>Research Tools</a:t>
            </a:r>
            <a:r>
              <a:rPr/>
              <a:t>: - </a:t>
            </a:r>
            <a:r>
              <a:rPr>
                <a:latin typeface="Courier"/>
              </a:rPr>
              <a:t>biblio-store</a:t>
            </a:r>
            <a:r>
              <a:rPr/>
              <a:t> (Zotero): Literature management - </a:t>
            </a:r>
            <a:r>
              <a:rPr>
                <a:latin typeface="Courier"/>
              </a:rPr>
              <a:t>gitlab-sync</a:t>
            </a:r>
            <a:r>
              <a:rPr/>
              <a:t>: Project management, 79 tools - </a:t>
            </a:r>
            <a:r>
              <a:rPr>
                <a:latin typeface="Courier"/>
              </a:rPr>
              <a:t>uml-service</a:t>
            </a:r>
            <a:r>
              <a:rPr/>
              <a:t>: PlantUML/SysML diagram generation</a:t>
            </a:r>
          </a:p>
          <a:p>
            <a:pPr lvl="0" indent="0" marL="0">
              <a:buNone/>
            </a:pPr>
            <a:r>
              <a:rPr b="1"/>
              <a:t>Security</a:t>
            </a:r>
            <a:r>
              <a:rPr/>
              <a:t>: Rootless containers, bearer auth, DoD TLS, audit logging, air-gap capable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We Are</a:t>
            </a:r>
            <a:r>
              <a:rPr/>
              <a:t>: Corvette → Formula 1 transition (ad-hoc AI chat usage)</a:t>
            </a:r>
          </a:p>
          <a:p>
            <a:pPr lvl="0" indent="0" marL="0">
              <a:buNone/>
            </a:pPr>
            <a:r>
              <a:rPr b="1"/>
              <a:t>Where We Need to Be</a:t>
            </a:r>
            <a:r>
              <a:rPr/>
              <a:t>: Starship Enterprise (orchestrated AI teams, 3-5× force multiplication)</a:t>
            </a:r>
          </a:p>
          <a:p>
            <a:pPr lvl="0" indent="0" marL="0">
              <a:buNone/>
            </a:pPr>
            <a:r>
              <a:rPr b="1"/>
              <a:t>The Window</a:t>
            </a:r>
            <a:r>
              <a:rPr/>
              <a:t>: 12-18 months before gap becomes irreversible (we’re at Month 6-8)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: Peer-reviewed studies show 2-5× productivity gains (transformational, not incremental)</a:t>
            </a:r>
          </a:p>
          <a:p>
            <a:pPr lvl="0" indent="0" marL="0">
              <a:buNone/>
            </a:pPr>
            <a:r>
              <a:rPr b="1"/>
              <a:t>The Ask</a:t>
            </a:r>
            <a:r>
              <a:rPr/>
              <a:t>: 1. </a:t>
            </a:r>
            <a:r>
              <a:rPr b="1"/>
              <a:t>Primary</a:t>
            </a:r>
            <a:r>
              <a:rPr/>
              <a:t>: Commit to organizational investment in orchestrated AI capabilities 2. </a:t>
            </a:r>
            <a:r>
              <a:rPr b="1"/>
              <a:t>Secondary</a:t>
            </a:r>
            <a:r>
              <a:rPr/>
              <a:t>: Consider MARS as the platform (or let it inform your approach)</a:t>
            </a:r>
          </a:p>
          <a:p>
            <a:pPr lvl="0" indent="0" marL="0">
              <a:buNone/>
            </a:pPr>
            <a:r>
              <a:rPr b="1"/>
              <a:t>MARS Status</a:t>
            </a:r>
            <a:r>
              <a:rPr/>
              <a:t>: Foundation operational, ready for pilot deployment</a:t>
            </a:r>
          </a:p>
          <a:p>
            <a:pPr lvl="0" indent="0" marL="0">
              <a:buNone/>
            </a:pPr>
            <a:r>
              <a:rPr b="1"/>
              <a:t>Next Steps</a:t>
            </a:r>
            <a:r>
              <a:rPr/>
              <a:t>: Leadership decision → Pilot program → Organizational expansion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Open Topics</a:t>
            </a:r>
            <a:r>
              <a:rPr/>
              <a:t>: - Pilot program scope and timeline - Resource allocation (people, infrastructure, funding) - Security and compliance review - Integration with existing workflows - Domain-specific requirements</a:t>
            </a:r>
          </a:p>
          <a:p>
            <a:pPr lvl="0" indent="0" marL="0">
              <a:buNone/>
            </a:pPr>
            <a:r>
              <a:rPr b="1"/>
              <a:t>Contact</a:t>
            </a:r>
            <a:r>
              <a:rPr/>
              <a:t>: Joe Hays, NRL Code 8234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2025-11-19T15:43:22Z</dcterms:created>
  <dcterms:modified xsi:type="dcterms:W3CDTF">2025-11-19T15:43:22Z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