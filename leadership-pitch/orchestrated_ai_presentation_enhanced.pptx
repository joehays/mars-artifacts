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1" Type="http://schemas.openxmlformats.org/officeDocument/2006/relationships/viewProps" Target="viewProps.xml" /><Relationship Id="rId7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3" Type="http://schemas.openxmlformats.org/officeDocument/2006/relationships/tableStyles" Target="tableStyles.xml" /><Relationship Id="rId7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Orchestrated AI Teams: The Future of Research Excellence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Presentation for Research Leadership</a:t>
            </a:r>
          </a:p>
          <a:p>
            <a:pPr lvl="0" indent="0" marL="0">
              <a:buNone/>
            </a:pPr>
            <a:r>
              <a:rPr/>
              <a:t>Joe Hays, NRL Code 8234 November 2025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Critical Decision</a:t>
            </a:r>
            <a:r>
              <a:rPr/>
              <a:t>: Embrace orchestrated AI teams or risk organizational irrelevance</a:t>
            </a:r>
          </a:p>
          <a:p>
            <a:pPr lvl="0" indent="0" marL="0">
              <a:buNone/>
            </a:pPr>
            <a:r>
              <a:rPr b="1"/>
              <a:t>The Progression</a:t>
            </a:r>
            <a:r>
              <a:rPr/>
              <a:t>: - 🚗 </a:t>
            </a:r>
            <a:r>
              <a:rPr b="1"/>
              <a:t>Traditional PhD Teams</a:t>
            </a:r>
            <a:r>
              <a:rPr/>
              <a:t> = Corvette (brilliant but bandwidth-limited) - 🏎️ </a:t>
            </a:r>
            <a:r>
              <a:rPr b="1"/>
              <a:t>PhD + LLM Chat</a:t>
            </a:r>
            <a:r>
              <a:rPr/>
              <a:t> = Formula 1 (21-26% faster) - ✈️ </a:t>
            </a:r>
            <a:r>
              <a:rPr b="1"/>
              <a:t>PhD + Coding Agents</a:t>
            </a:r>
            <a:r>
              <a:rPr/>
              <a:t> = Cessna (40-55% faster) - 🚀 </a:t>
            </a:r>
            <a:r>
              <a:rPr b="1"/>
              <a:t>PhD + Manual Orchestration</a:t>
            </a:r>
            <a:r>
              <a:rPr/>
              <a:t> = Fighter Jet (100-150% faster) - 🛸 </a:t>
            </a:r>
            <a:r>
              <a:rPr b="1"/>
              <a:t>PhD + LangGraph Orchestration</a:t>
            </a:r>
            <a:r>
              <a:rPr/>
              <a:t> = </a:t>
            </a:r>
            <a:r>
              <a:rPr b="1"/>
              <a:t>Starship Enterprise</a:t>
            </a:r>
            <a:r>
              <a:rPr/>
              <a:t> (200-400% faster)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Ask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 b="1"/>
              <a:t>Primary</a:t>
            </a:r>
            <a:r>
              <a:rPr/>
              <a:t>: Commit to organizational investment in orchestrated AI</a:t>
            </a:r>
          </a:p>
          <a:p>
            <a:pPr lvl="0" indent="-342900" marL="342900">
              <a:buAutoNum type="arabicPeriod"/>
            </a:pPr>
            <a:r>
              <a:rPr b="1"/>
              <a:t>Secondary</a:t>
            </a:r>
            <a:r>
              <a:rPr/>
              <a:t>: Consider MARS as the platform</a:t>
            </a:r>
          </a:p>
          <a:p>
            <a:pPr lvl="0" indent="0" marL="0">
              <a:buNone/>
            </a:pPr>
            <a:r>
              <a:rPr b="1"/>
              <a:t>Evidence</a:t>
            </a:r>
            <a:r>
              <a:rPr/>
              <a:t>: Peer-reviewed 2024 studies show </a:t>
            </a:r>
            <a:r>
              <a:rPr b="1"/>
              <a:t>transformational</a:t>
            </a:r>
            <a:r>
              <a:rPr/>
              <a:t> (not incremental) productivity gains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Part 1: The Existential Challenge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Part 2: The AI Acceleration Ladder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Part 3: Technology Primer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Part 4: The Opportunity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Part 5: MARS Prototype Solution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Appendices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1: The Existential Challenge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Research Acceleration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Numbers</a:t>
            </a:r>
            <a:r>
              <a:rPr/>
              <a:t>: - </a:t>
            </a:r>
            <a:r>
              <a:rPr b="1"/>
              <a:t>Daily scientific output</a:t>
            </a:r>
            <a:r>
              <a:rPr/>
              <a:t>: ~9,700 STEM papers/day - </a:t>
            </a:r>
            <a:r>
              <a:rPr b="1"/>
              <a:t>Human capacity</a:t>
            </a:r>
            <a:r>
              <a:rPr/>
              <a:t>: 2-3 papers/day (with other duties) - </a:t>
            </a:r>
            <a:r>
              <a:rPr b="1"/>
              <a:t>Coverage</a:t>
            </a:r>
            <a:r>
              <a:rPr/>
              <a:t>: &lt;1% of relevant literature</a:t>
            </a:r>
          </a:p>
          <a:p>
            <a:pPr lvl="0" indent="0" marL="0">
              <a:buNone/>
            </a:pPr>
            <a:r>
              <a:rPr b="1"/>
              <a:t>The Core Competitive Advantage</a:t>
            </a:r>
            <a:r>
              <a:rPr/>
              <a:t>:</a:t>
            </a:r>
          </a:p>
          <a:p>
            <a:pPr lvl="0" indent="0" marL="1270000">
              <a:buNone/>
            </a:pPr>
            <a:r>
              <a:rPr sz="2000"/>
              <a:t>Human researchers + orchestrated AI = </a:t>
            </a:r>
            <a:r>
              <a:rPr sz="2000" b="1"/>
              <a:t>2-5× faster from idea to publication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Speed Matters</a:t>
            </a:r>
            <a:r>
              <a:rPr/>
              <a:t>: - ✅ First-mover advantage - ✅ Compounding returns - ✅ Talent retention - ✅ Resource efficiency (2× speed = 50% cost per result)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Information Overload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Daily Papers Published: ████████████████████ 9,700
Human Capacity:         ██ 2-3
Coverage:               &lt;1% ❌</a:t>
            </a:r>
          </a:p>
          <a:p>
            <a:pPr lvl="0" indent="0" marL="0">
              <a:buNone/>
            </a:pPr>
            <a:r>
              <a:rPr b="1"/>
              <a:t>Result</a:t>
            </a:r>
            <a:r>
              <a:rPr/>
              <a:t>: Missing 99% of relevant breakthroughs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Happens Without Adaptation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Historical Parallels</a:t>
            </a:r>
            <a:r>
              <a:rPr/>
              <a:t> (2024 evidence):</a:t>
            </a:r>
          </a:p>
          <a:p>
            <a:pPr lvl="0" indent="0" marL="0">
              <a:buNone/>
            </a:pPr>
            <a:r>
              <a:rPr b="1"/>
              <a:t>Software Development</a:t>
            </a:r>
            <a:r>
              <a:rPr/>
              <a:t>: - ✅ AI-augmented: 40-55% productivity ↑ - ❌ Traditional: Struggling to retain talent</a:t>
            </a:r>
          </a:p>
          <a:p>
            <a:pPr lvl="0" indent="0" marL="0">
              <a:buNone/>
            </a:pPr>
            <a:r>
              <a:rPr b="1"/>
              <a:t>Professional Services</a:t>
            </a:r>
            <a:r>
              <a:rPr/>
              <a:t>: - ✅ AI-augmented: 30-40% efficiency ↑ - ❌ Traditional: Losing bids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Research Sector</a:t>
            </a:r>
            <a:r>
              <a:rPr/>
              <a:t> (emerging now): - ✅ AI-augmented labs: 2-3× publication rate - ❌ Traditional labs: Falling behind in citations - ❌ Grant proposals: “missed relevant work” penalties</a:t>
            </a:r>
          </a:p>
          <a:p>
            <a:pPr lvl="0" indent="0" marL="0">
              <a:buNone/>
            </a:pPr>
            <a:r>
              <a:rPr b="1"/>
              <a:t>Timeline</a:t>
            </a:r>
            <a:r>
              <a:rPr/>
              <a:t>: </a:t>
            </a:r>
            <a:r>
              <a:rPr b="1"/>
              <a:t>12-18 months</a:t>
            </a:r>
            <a:r>
              <a:rPr/>
              <a:t> before gap becomes irreversible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Widening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Organizations WITH Orchestrated AI</a:t>
            </a:r>
            <a:r>
              <a:rPr/>
              <a:t>: - ✅ 90%+ literature coverage (vs. &lt;1%) - ✅ 3-5× faster breakthrough timing - ✅ Top talent attraction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Organizations WITHOUT</a:t>
            </a:r>
            <a:r>
              <a:rPr/>
              <a:t>: - ❌ Perpetually “catching up” - ❌ Declining grant success - ❌ Talent drain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Critical Window</a:t>
            </a:r>
            <a:r>
              <a:rPr/>
              <a:t>: We are at </a:t>
            </a:r>
            <a:r>
              <a:rPr b="1"/>
              <a:t>Month 6-8</a:t>
            </a:r>
            <a:r>
              <a:rPr/>
              <a:t> of 18-month window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Competitor Landscape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Who’s Already Moving</a:t>
            </a:r>
            <a:r>
              <a:rPr/>
              <a:t> (2024):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Organizations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Government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DARPA, DOE Labs, NIST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Deployments in 2024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Academic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MIT, Stanford, Berkeley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Pilot programs scaling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Private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DeepMind, Microsoft Research, OpenAI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Already in production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Defense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Lockheed Martin, Boeing, Northrop Grumman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Initial deployments 2023-2024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They’re Building</a:t>
            </a:r>
            <a:r>
              <a:rPr/>
              <a:t>: - Literature monitoring agents (24/7) - Knowledge graph systems - Experiment design agents - Code/analysis agents - </a:t>
            </a:r>
            <a:r>
              <a:rPr b="1"/>
              <a:t>Orchestration layer</a:t>
            </a:r>
            <a:r>
              <a:rPr/>
              <a:t> ← </a:t>
            </a:r>
            <a:r>
              <a:rPr b="1"/>
              <a:t>Key differentiator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2: The AI Acceleration Ladder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Five Levels: Visual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Level 4: 🛸 Starship Enterprise (200-400% faster) ──────┐
         LangGraph Orchestration                        │
                                                         │
Level 3: 🚀 Fighter Jet (100-150% faster) ──────────────┤
         Manual Orchestration                           │ TRANSFORMATIONAL
                                                         │
Level 2: ✈️  Cessna (40-55% faster) ────────────────────┤
         AI Coding Agents                               │
                                                         │
Level 1: 🏎️  Formula 1 (21-26% faster) ────────────────┤
         LLM Chat                                       │
                                                         │
Level 0: 🚗 Corvette (Baseline) ────────────────────────┘
         Traditional PhD Teams                    INCREMENTAL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Level 0: Traditional PhD Teams (Corvette)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Time Allocation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High-Value Analysis:  ████████████ 30% (12 hrs)
Literature Review:    ████████ 20% (8 hrs)
Writing/Docs:         ████████████ 30% (12 hrs)
Experiment Setup:     ████████ 20% (8 hrs)</a:t>
            </a:r>
          </a:p>
          <a:p>
            <a:pPr lvl="0" indent="0" marL="0">
              <a:buNone/>
            </a:pPr>
            <a:r>
              <a:rPr b="1"/>
              <a:t>The Problem</a:t>
            </a:r>
            <a:r>
              <a:rPr/>
              <a:t>: Only </a:t>
            </a:r>
            <a:r>
              <a:rPr b="1"/>
              <a:t>30%</a:t>
            </a:r>
            <a:r>
              <a:rPr/>
              <a:t> on breakthrough-generating work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Baseline Metrics</a:t>
            </a:r>
            <a:r>
              <a:rPr/>
              <a:t>: - Literature coverage: </a:t>
            </a:r>
            <a:r>
              <a:rPr b="1"/>
              <a:t>&lt;5%</a:t>
            </a:r>
            <a:r>
              <a:rPr/>
              <a:t> - Publication velocity: </a:t>
            </a:r>
            <a:r>
              <a:rPr b="1"/>
              <a:t>1×</a:t>
            </a:r>
            <a:r>
              <a:rPr/>
              <a:t> - Team effective size: </a:t>
            </a:r>
            <a:r>
              <a:rPr b="1"/>
              <a:t>1× headcount</a:t>
            </a:r>
          </a:p>
          <a:p>
            <a:pPr lvl="0" indent="0" marL="0">
              <a:buNone/>
            </a:pPr>
            <a:r>
              <a:rPr b="1"/>
              <a:t>Constraints</a:t>
            </a:r>
            <a:r>
              <a:rPr/>
              <a:t>: - Human reading speed: Fixed - 24-hour days - Biological limits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Level 1: PhD + LLM Chat (Formula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</a:t>
            </a:r>
            <a:r>
              <a:rPr/>
              <a:t>: ChatGPT, Claude, Gemini</a:t>
            </a:r>
          </a:p>
          <a:p>
            <a:pPr lvl="0" indent="0" marL="0">
              <a:buNone/>
            </a:pPr>
            <a:r>
              <a:rPr b="1"/>
              <a:t>Evidence</a:t>
            </a:r>
            <a:r>
              <a:rPr/>
              <a:t> (2024): - Google: </a:t>
            </a:r>
            <a:r>
              <a:rPr b="1"/>
              <a:t>21% faster</a:t>
            </a:r>
            <a:r>
              <a:rPr/>
              <a:t> task completion - GitHub Copilot: </a:t>
            </a:r>
            <a:r>
              <a:rPr b="1"/>
              <a:t>26% average productivity increase</a:t>
            </a:r>
          </a:p>
          <a:p>
            <a:pPr lvl="0" indent="0" marL="0">
              <a:buNone/>
            </a:pPr>
            <a:r>
              <a:rPr b="1"/>
              <a:t>What Improved</a:t>
            </a:r>
            <a:r>
              <a:rPr/>
              <a:t>: - Routine task speed: </a:t>
            </a:r>
            <a:r>
              <a:rPr b="1"/>
              <a:t>+21-26%</a:t>
            </a:r>
            <a:r>
              <a:rPr/>
              <a:t> - Time on high-value work: </a:t>
            </a:r>
            <a:r>
              <a:rPr b="1"/>
              <a:t>~35-38%</a:t>
            </a:r>
            <a:r>
              <a:rPr/>
              <a:t> (+5-8 points) - Publication velocity: </a:t>
            </a:r>
            <a:r>
              <a:rPr b="1"/>
              <a:t>1.15-1.20×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Limitation</a:t>
            </a:r>
            <a:r>
              <a:rPr/>
              <a:t>: - ❌ No memory between sessions - ❌ No tool integration - ❌ Manual coordination - ❌ Copy-paste overhead</a:t>
            </a:r>
          </a:p>
          <a:p>
            <a:pPr lvl="0" indent="0" marL="0">
              <a:buNone/>
            </a:pPr>
            <a:r>
              <a:rPr b="1"/>
              <a:t>Use Case</a:t>
            </a:r>
            <a:r>
              <a:rPr/>
              <a:t>: Simple Q&amp;A, one-off tasks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Level 2: PhD + AI Coding Agents (Cessna)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</a:t>
            </a:r>
            <a:r>
              <a:rPr/>
              <a:t>: Claude Code CLI, GitHub Copilot, Cursor, Devin</a:t>
            </a:r>
          </a:p>
          <a:p>
            <a:pPr lvl="0" indent="0" marL="0">
              <a:buNone/>
            </a:pPr>
            <a:r>
              <a:rPr b="1"/>
              <a:t>Key Difference</a:t>
            </a:r>
            <a:r>
              <a:rPr/>
              <a:t>: Agents can </a:t>
            </a:r>
            <a:r>
              <a:rPr b="1"/>
              <a:t>execute</a:t>
            </a:r>
            <a:r>
              <a:rPr/>
              <a:t>, not just advise</a:t>
            </a:r>
          </a:p>
          <a:p>
            <a:pPr lvl="0" indent="0" marL="0">
              <a:buNone/>
            </a:pPr>
            <a:r>
              <a:rPr b="1"/>
              <a:t>Evidence</a:t>
            </a:r>
            <a:r>
              <a:rPr/>
              <a:t> (2024): - Science Magazine: </a:t>
            </a:r>
            <a:r>
              <a:rPr b="1"/>
              <a:t>40% faster</a:t>
            </a:r>
            <a:r>
              <a:rPr/>
              <a:t>, </a:t>
            </a:r>
            <a:r>
              <a:rPr b="1"/>
              <a:t>18% higher quality</a:t>
            </a:r>
            <a:r>
              <a:rPr/>
              <a:t> - GitHub HTTP Server: </a:t>
            </a:r>
            <a:r>
              <a:rPr b="1"/>
              <a:t>55.8% speed improvement</a:t>
            </a:r>
            <a:r>
              <a:rPr/>
              <a:t> - Capgemini: </a:t>
            </a:r>
            <a:r>
              <a:rPr b="1"/>
              <a:t>30-40% time reduction</a:t>
            </a:r>
            <a:r>
              <a:rPr/>
              <a:t> across SDLC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Improved</a:t>
            </a:r>
            <a:r>
              <a:rPr/>
              <a:t>: - Coding/analysis speed: </a:t>
            </a:r>
            <a:r>
              <a:rPr b="1"/>
              <a:t>1.75-2.00×</a:t>
            </a:r>
            <a:r>
              <a:rPr/>
              <a:t> - Time on high-value work: </a:t>
            </a:r>
            <a:r>
              <a:rPr b="1"/>
              <a:t>45-50%</a:t>
            </a:r>
            <a:r>
              <a:rPr/>
              <a:t> - Publication velocity: </a:t>
            </a:r>
            <a:r>
              <a:rPr b="1"/>
              <a:t>1.40-1.60×</a:t>
            </a:r>
            <a:r>
              <a:rPr/>
              <a:t> - Code quality: </a:t>
            </a:r>
            <a:r>
              <a:rPr b="1"/>
              <a:t>+18%</a:t>
            </a:r>
          </a:p>
          <a:p>
            <a:pPr lvl="0" indent="0" marL="0">
              <a:buNone/>
            </a:pPr>
            <a:r>
              <a:rPr b="1"/>
              <a:t>Capability Shift</a:t>
            </a:r>
            <a:r>
              <a:rPr/>
              <a:t>: - ✅ Autonomous execution - ✅ Tool integration - ✅ Error recovery - ✅ Multi-hour work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Level 3: PhD + Manual Orchestration (Fighter Jet)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Architecture</a:t>
            </a:r>
            <a:r>
              <a:rPr/>
              <a:t>: Multiple specialized agents in parallel</a:t>
            </a:r>
          </a:p>
          <a:p>
            <a:pPr lvl="0" indent="0" marL="0">
              <a:buNone/>
            </a:pPr>
            <a:r>
              <a:rPr b="1"/>
              <a:t>Example Workflow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Sequential (Single Agent):
  Lit Review ──&gt; Code ──&gt; Test ──&gt; Docs
  4 hrs        6 hrs     2 hrs    1 hr
  Total: 13 hours
Parallel (Multi-Agent):
  Agent A: Lit Review (4 hrs)  ┐
  Agent B: Code (6 hrs)        ├─&gt; Merge (2 hrs)
  Agent C: Test (2 hrs)        │
  Agent D: Docs (1 hr)         ┘
  Total: 8 hours (38% faster)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Improved</a:t>
            </a:r>
            <a:r>
              <a:rPr/>
              <a:t>: - Parallel capacity: </a:t>
            </a:r>
            <a:r>
              <a:rPr b="1"/>
              <a:t>3-5 tasks</a:t>
            </a:r>
            <a:r>
              <a:rPr/>
              <a:t> simultaneous - Time on high-value work: </a:t>
            </a:r>
            <a:r>
              <a:rPr b="1"/>
              <a:t>60-65%</a:t>
            </a:r>
            <a:r>
              <a:rPr/>
              <a:t> - Publication velocity: </a:t>
            </a:r>
            <a:r>
              <a:rPr b="1"/>
              <a:t>2.00-2.50×</a:t>
            </a:r>
          </a:p>
          <a:p>
            <a:pPr lvl="0" indent="0" marL="0">
              <a:buNone/>
            </a:pPr>
            <a:r>
              <a:rPr b="1"/>
              <a:t>Limitation</a:t>
            </a:r>
            <a:r>
              <a:rPr/>
              <a:t>: - ❌ High coordination overhead (</a:t>
            </a:r>
            <a:r>
              <a:rPr b="1"/>
              <a:t>3-4 hrs/day</a:t>
            </a:r>
            <a:r>
              <a:rPr/>
              <a:t>) - ❌ Human bottleneck (max 3-5 agents) - ❌ Manual integration work - ❌ Exhausting after 2-3 hours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Level 4: PhD + LangGraph Orchestration (Starship Enterprise)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Capability</a:t>
            </a:r>
            <a:r>
              <a:rPr/>
              <a:t>: </a:t>
            </a:r>
            <a:r>
              <a:rPr b="1"/>
              <a:t>Automated coordination</a:t>
            </a:r>
            <a:r>
              <a:rPr/>
              <a:t> (no manual overhead)</a:t>
            </a:r>
          </a:p>
          <a:p>
            <a:pPr lvl="0" indent="0" marL="0">
              <a:buNone/>
            </a:pPr>
            <a:r>
              <a:rPr b="1"/>
              <a:t>Evidence</a:t>
            </a:r>
            <a:r>
              <a:rPr/>
              <a:t> (2024): - McKinsey: </a:t>
            </a:r>
            <a:r>
              <a:rPr b="1"/>
              <a:t>30-40% efficiency gains</a:t>
            </a:r>
            <a:r>
              <a:rPr/>
              <a:t> beyond single-agent - BCG: </a:t>
            </a:r>
            <a:r>
              <a:rPr b="1"/>
              <a:t>45% margin improvement</a:t>
            </a:r>
            <a:r>
              <a:rPr/>
              <a:t> in orchestrated workflows - Total improvement: </a:t>
            </a:r>
            <a:r>
              <a:rPr b="1"/>
              <a:t>200-400% vs. baseline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Improved</a:t>
            </a:r>
            <a:r>
              <a:rPr/>
              <a:t>: - Orchestration overhead: </a:t>
            </a:r>
            <a:r>
              <a:rPr b="1"/>
              <a:t>3-4 hrs/day → 30 min/day</a:t>
            </a:r>
            <a:r>
              <a:rPr/>
              <a:t> - Parallel capacity: </a:t>
            </a:r>
            <a:r>
              <a:rPr b="1"/>
              <a:t>10-20+ tasks</a:t>
            </a:r>
            <a:r>
              <a:rPr/>
              <a:t> - Time on high-value work: </a:t>
            </a:r>
            <a:r>
              <a:rPr b="1"/>
              <a:t>75-80%</a:t>
            </a:r>
            <a:r>
              <a:rPr/>
              <a:t> - Publication velocity: </a:t>
            </a:r>
            <a:r>
              <a:rPr b="1"/>
              <a:t>3.00-5.00×</a:t>
            </a:r>
            <a:r>
              <a:rPr/>
              <a:t> - Literature coverage: </a:t>
            </a:r>
            <a:r>
              <a:rPr b="1"/>
              <a:t>90%+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Difference</a:t>
            </a:r>
            <a:r>
              <a:rPr/>
              <a:t>: Orchestrator handles coordination automatically, human provides strategic direction only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Orchestration 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┌─────────────────────────────────────────────────────────────┐
│                    Human Researcher (Strategic Direction)    │
└────────────────────────────┬────────────────────────────────┘
                             │
                             ▼
┌─────────────────────────────────────────────────────────────┐
│              LangGraph Orchestrator (Automated Coordination) │
└─────┬────────┬────────┬────────┬────────┬────────┬──────────┘
      │        │        │        │        │        │
      ▼        ▼        ▼        ▼        ▼        ▼
  ┌───────┐┌───────┐┌───────┐┌───────┐┌───────┐┌───────┐
  │  Lit  ││ Exp.  ││ Data  ││ Code  ││ Doc   ││ Test  │
  │ Agent ││Design ││Analysis││ Agent ││ Agent ││ Agent │
  └───────┘└───────┘└───────┘└───────┘└───────┘└───────┘</a:t>
            </a:r>
          </a:p>
          <a:p>
            <a:pPr lvl="0" indent="0" marL="0">
              <a:buNone/>
            </a:pPr>
            <a:r>
              <a:rPr b="1"/>
              <a:t>Orchestrator’s Job</a:t>
            </a:r>
            <a:r>
              <a:rPr/>
              <a:t>: 1. Decompose complex task → subtasks 2. Assign subtasks to specialized agents 3. Route information between agents 4. Synthesize outputs → recommendation 5. Escalate strategic decisions → human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Evidence Summary: 2024 Research Studies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Productivity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 Size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Level 1</a:t>
                      </a:r>
                      <a:r>
                        <a:rPr/>
                        <a:t> (Chat)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+21-26%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(peer-reviewed)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4,000+ participants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Level 2</a:t>
                      </a:r>
                      <a:r>
                        <a:rPr/>
                        <a:t> (Agents)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+40-55%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(peer-reviewed)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1,000+ participants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Level 3</a:t>
                      </a:r>
                      <a:r>
                        <a:rPr/>
                        <a:t> (Manual Orch.)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+100-150%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 (case studies)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&lt;100 teams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Level 4</a:t>
                      </a:r>
                      <a:r>
                        <a:rPr/>
                        <a:t> (LangGraph)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+200-400%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 (industry reports)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&lt;50 organizations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Studies</a:t>
            </a:r>
            <a:r>
              <a:rPr/>
              <a:t>: - GitHub Copilot RCT (4,000+ developers, Communications of ACM) - Science Magazine (peer-reviewed, top-tier journal) - McKinsey Generative AI Report (enterprise-scale) - BCG Multi-Agent Workflow Study (quantified business impact)</a:t>
            </a:r>
          </a:p>
          <a:p>
            <a:pPr lvl="0" indent="0" marL="0">
              <a:buNone/>
            </a:pPr>
            <a:r>
              <a:rPr b="1"/>
              <a:t>Key Takeaway</a:t>
            </a:r>
            <a:r>
              <a:rPr/>
              <a:t>: Even </a:t>
            </a:r>
            <a:r>
              <a:rPr b="1"/>
              <a:t>conservative</a:t>
            </a:r>
            <a:r>
              <a:rPr/>
              <a:t> estimates show </a:t>
            </a:r>
            <a:r>
              <a:rPr b="1"/>
              <a:t>transformational</a:t>
            </a:r>
            <a:r>
              <a:rPr/>
              <a:t> gains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3: Technology Primer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an LLM?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Simple Explanation</a:t>
            </a:r>
            <a:r>
              <a:rPr/>
              <a:t>: Pattern-matching engine trained on billions of pages</a:t>
            </a:r>
          </a:p>
          <a:p>
            <a:pPr lvl="0" indent="0" marL="0">
              <a:buNone/>
            </a:pPr>
            <a:r>
              <a:rPr b="1"/>
              <a:t>Think of it as</a:t>
            </a:r>
            <a:r>
              <a:rPr/>
              <a:t>: Research assistant who has read every scientific paper ever written</a:t>
            </a:r>
          </a:p>
          <a:p>
            <a:pPr lvl="0" indent="0" marL="0">
              <a:buNone/>
            </a:pPr>
            <a:r>
              <a:rPr b="1"/>
              <a:t>How It Works</a:t>
            </a:r>
            <a:r>
              <a:rPr/>
              <a:t>: 1. Trained on billions of pages (papers, books, code) 2. Learns patterns: “When I see X, Y usually follows” 3. Predicts next words based on patterns 4. Result: Human-like text generation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Good At</a:t>
            </a:r>
            <a:r>
              <a:rPr/>
              <a:t> ✅: - Summarization, translation, drafting - Q&amp;A, code generation - Pattern recognition</a:t>
            </a:r>
          </a:p>
          <a:p>
            <a:pPr lvl="0" indent="0" marL="0">
              <a:buNone/>
            </a:pPr>
            <a:r>
              <a:rPr b="1"/>
              <a:t>Not Good At</a:t>
            </a:r>
            <a:r>
              <a:rPr/>
              <a:t> ❌: - Original discovery (recombines known patterns) - Precise calculation (hallucination risk) - Long-term memory (forgets after session) - Tool use (basic LLMs can’t execute)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Memory Ladder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Level 6: 🏛️  Library of Congress
         Full institutional memory (shared across all agents)
         Knowledge survives researcher turnover
Level 5: 🏫 University Library (OpenMemory)
         5 memory sectors (conversation, session, episodic,
         entity, semantic) - learns over time
Level 4: 📚 Library with Cross-References (Knowledge Graphs)
         Relationship understanding (paper → experiment → result)
Level 3: 🗂️  Library Card Catalog (RAG/Semantic Search)
         ~40% token reduction, automatic context retrieval
Level 2: 📖 Reference Manual (CLAUDE.md)
         Static context, consistent behavior
Level 1: 📓 Personal Notebook
         Session memory only (forgets when session ends)
Level 0: 📝 Post-It Notes (ChatGPT)
         No memory (starts from scratch every time)</a:t>
            </a:r>
          </a:p>
          <a:p>
            <a:pPr lvl="0" indent="0" marL="0">
              <a:buNone/>
            </a:pPr>
            <a:r>
              <a:rPr b="1"/>
              <a:t>MARS Status</a:t>
            </a:r>
            <a:r>
              <a:rPr/>
              <a:t>: Level 2 ✅, Level 3 ⏳ 80%, Level 4 ✅ (agent integration pending)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an AI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Simple Definition</a:t>
            </a:r>
            <a:r>
              <a:rPr/>
              <a:t>: LLM + Tool Use + Multi-Step Planning</a:t>
            </a:r>
          </a:p>
          <a:p>
            <a:pPr lvl="0" indent="0" marL="0">
              <a:buNone/>
            </a:pPr>
            <a:r>
              <a:rPr b="1"/>
              <a:t>Lab Analogy</a:t>
            </a:r>
            <a:r>
              <a:rPr/>
              <a:t>: - </a:t>
            </a:r>
            <a:r>
              <a:rPr b="1"/>
              <a:t>LLM (Chat)</a:t>
            </a:r>
            <a:r>
              <a:rPr/>
              <a:t> = Consultant (advises, then leaves) - </a:t>
            </a:r>
            <a:r>
              <a:rPr b="1"/>
              <a:t>AI Agent</a:t>
            </a:r>
            <a:r>
              <a:rPr/>
              <a:t> = Postdoc (executes tasks, works autonomously)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Agents Can Do</a:t>
            </a:r>
            <a:r>
              <a:rPr/>
              <a:t>: - ✅ Read/write files - ✅ Execute code, run tests - ✅ Query databases - ✅ Multi-step planning - ✅ Autonomous work (hours without intervention)</a:t>
            </a:r>
          </a:p>
          <a:p>
            <a:pPr lvl="0" indent="0" marL="0">
              <a:buNone/>
            </a:pPr>
            <a:r>
              <a:rPr b="1"/>
              <a:t>Why Agents are Level 2 (Cessna)</a:t>
            </a:r>
            <a:r>
              <a:rPr/>
              <a:t>: - Autonomous execution - Tool integration - Error recovery - But: One agent, one task at a time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MCP?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Model Context Protocol</a:t>
            </a:r>
            <a:r>
              <a:rPr/>
              <a:t> = USB for AI agents</a:t>
            </a:r>
          </a:p>
          <a:p>
            <a:pPr lvl="0" indent="0" marL="0">
              <a:buNone/>
            </a:pPr>
            <a:r>
              <a:rPr b="1"/>
              <a:t>Problem MCP Solves</a:t>
            </a:r>
            <a:r>
              <a:rPr/>
              <a:t>: - </a:t>
            </a:r>
            <a:r>
              <a:rPr b="1"/>
              <a:t>Before MCP</a:t>
            </a:r>
            <a:r>
              <a:rPr/>
              <a:t>: Every tool = </a:t>
            </a:r>
            <a:r>
              <a:rPr b="1"/>
              <a:t>40-80 hour</a:t>
            </a:r>
            <a:r>
              <a:rPr/>
              <a:t> custom integration - </a:t>
            </a:r>
            <a:r>
              <a:rPr b="1"/>
              <a:t>After MCP</a:t>
            </a:r>
            <a:r>
              <a:rPr/>
              <a:t>: MCP server = </a:t>
            </a:r>
            <a:r>
              <a:rPr b="1"/>
              <a:t>plug-and-play</a:t>
            </a:r>
            <a:r>
              <a:rPr/>
              <a:t> (&lt;1 hour)</a:t>
            </a:r>
          </a:p>
          <a:p>
            <a:pPr lvl="0" indent="0" marL="0">
              <a:buNone/>
            </a:pPr>
            <a:r>
              <a:rPr b="1"/>
              <a:t>Strategic Value</a:t>
            </a:r>
            <a:r>
              <a:rPr/>
              <a:t>: - Ecosystem, not custom build - No vendor lock-in - Standard protocol (open-source)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MARS MCP Servers</a:t>
            </a:r>
            <a:r>
              <a:rPr/>
              <a:t>: - ✅ </a:t>
            </a:r>
            <a:r>
              <a:rPr b="1"/>
              <a:t>Zotero</a:t>
            </a:r>
            <a:r>
              <a:rPr/>
              <a:t> (literature management) - Operational - ✅ </a:t>
            </a:r>
            <a:r>
              <a:rPr b="1"/>
              <a:t>GitLab</a:t>
            </a:r>
            <a:r>
              <a:rPr/>
              <a:t> (79+ tools) - Operational - ⏸️ </a:t>
            </a:r>
            <a:r>
              <a:rPr b="1"/>
              <a:t>50+ planned</a:t>
            </a:r>
            <a:r>
              <a:rPr/>
              <a:t>: - ROS2, SLURM, Overleaf, LabView - MATLAB, SolidWorks, eLabFTW - PubMed, IEEE Xplore, arXiv - Benchling, LabArchives - And more…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AI Orchestration?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Simple Definition</a:t>
            </a:r>
            <a:r>
              <a:rPr/>
              <a:t>: Automated coordination of specialized AI agents</a:t>
            </a:r>
          </a:p>
          <a:p>
            <a:pPr lvl="0" indent="0" marL="0">
              <a:buNone/>
            </a:pPr>
            <a:r>
              <a:rPr b="1"/>
              <a:t>Lab Analogy</a:t>
            </a:r>
            <a:r>
              <a:rPr/>
              <a:t>: - </a:t>
            </a:r>
            <a:r>
              <a:rPr b="1"/>
              <a:t>Manual</a:t>
            </a:r>
            <a:r>
              <a:rPr/>
              <a:t>: You (PI) coordinate team </a:t>
            </a:r>
            <a:r>
              <a:rPr b="1"/>
              <a:t>3-4 hrs/day overhead</a:t>
            </a:r>
            <a:r>
              <a:rPr/>
              <a:t> - </a:t>
            </a:r>
            <a:r>
              <a:rPr b="1"/>
              <a:t>Automated</a:t>
            </a:r>
            <a:r>
              <a:rPr/>
              <a:t>: AI coordinator manages agents </a:t>
            </a:r>
            <a:r>
              <a:rPr b="1"/>
              <a:t>30 min/day oversight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LangGraph Works</a:t>
            </a:r>
            <a:r>
              <a:rPr/>
              <a:t>: 1. Decompose complex task into subtasks 2. Assign subtasks to specialized agents 3. Route information between agents 4. Synthesize outputs into recommendation 5. Escalate strategic decisions to human</a:t>
            </a:r>
          </a:p>
          <a:p>
            <a:pPr lvl="0" indent="0" marL="0">
              <a:buNone/>
            </a:pPr>
            <a:r>
              <a:rPr b="1"/>
              <a:t>Result</a:t>
            </a:r>
            <a:r>
              <a:rPr/>
              <a:t>: Human sets strategy, orchestrator handles tactics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Orchestrated Teams Beat Single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Specialization Advantage</a:t>
            </a:r>
            <a:r>
              <a:rPr/>
              <a:t>: - Single agent = Generalist (context switching, prone to errors) - Orchestrated team = Specialists (focused, higher quality)</a:t>
            </a:r>
          </a:p>
          <a:p>
            <a:pPr lvl="0" indent="0" marL="0">
              <a:buNone/>
            </a:pPr>
            <a:r>
              <a:rPr b="1"/>
              <a:t>Agent Profiles</a:t>
            </a:r>
            <a:r>
              <a:rPr/>
              <a:t> (like human personalities): - </a:t>
            </a:r>
            <a:r>
              <a:rPr b="1"/>
              <a:t>test-czar</a:t>
            </a:r>
            <a:r>
              <a:rPr/>
              <a:t>: Skeptical/Pessimistic (finds edge cases) - </a:t>
            </a:r>
            <a:r>
              <a:rPr b="1"/>
              <a:t>planner</a:t>
            </a:r>
            <a:r>
              <a:rPr/>
              <a:t>: Pragmatic/Realistic (ensures feasibility) - </a:t>
            </a:r>
            <a:r>
              <a:rPr b="1"/>
              <a:t>research-orchestrator</a:t>
            </a:r>
            <a:r>
              <a:rPr/>
              <a:t>: Optimistic/Creative (breakthrough opportunities) - </a:t>
            </a:r>
            <a:r>
              <a:rPr b="1"/>
              <a:t>doc-enforcer</a:t>
            </a:r>
            <a:r>
              <a:rPr/>
              <a:t>: Detail-Oriented/Pedantic (publication-ready quality)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Evidence</a:t>
            </a:r>
            <a:r>
              <a:rPr/>
              <a:t>: McKinsey </a:t>
            </a:r>
            <a:r>
              <a:rPr b="1"/>
              <a:t>30-40% gains</a:t>
            </a:r>
            <a:r>
              <a:rPr/>
              <a:t> from orchestration </a:t>
            </a:r>
            <a:r>
              <a:rPr b="1"/>
              <a:t>beyond</a:t>
            </a:r>
            <a:r>
              <a:rPr/>
              <a:t> single-agent</a:t>
            </a:r>
          </a:p>
          <a:p>
            <a:pPr lvl="0" indent="0" marL="0">
              <a:buNone/>
            </a:pPr>
            <a:r>
              <a:rPr b="1"/>
              <a:t>Mechanism</a:t>
            </a:r>
            <a:r>
              <a:rPr/>
              <a:t>: 1. Specialization: +20-30% 2. Parallelization: +25-35% 3. Coordination efficiency: +25-40% 4. </a:t>
            </a:r>
            <a:r>
              <a:rPr b="1"/>
              <a:t>Compounding</a:t>
            </a:r>
            <a:r>
              <a:rPr/>
              <a:t>: Multiplicative, not additive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4: The Opportunity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Become a “Starship Enterprise”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Current State</a:t>
            </a:r>
            <a:r>
              <a:rPr/>
              <a:t> (Corvette → Formula 1): - ❌ Researchers use ChatGPT occasionally - ❌ Some early adopters using coding agents - ❌ No coordinated strategy - ❌ No infrastructure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Where We Could Be</a:t>
            </a:r>
            <a:r>
              <a:rPr/>
              <a:t> (12 months): - ✅ Every research group has orchestrated AI team - ✅ Literature monitoring automated (90%+ coverage) - ✅ Experiment design AI-augmented - ✅ Publication velocity </a:t>
            </a:r>
            <a:r>
              <a:rPr b="1"/>
              <a:t>3-5× baseline</a:t>
            </a:r>
            <a:r>
              <a:rPr/>
              <a:t> - ✅ Competitive moat vs. Corvette/F1 organizations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Daily Workflow Vision (Starship Enterprise)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Human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Role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Morning</a:t>
                      </a:r>
                      <a:r>
                        <a:rPr/>
                        <a:t> (15 min)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Literature digest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Review + approve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Overnight scrubbing of 1,500+ papers → 10-15 relevant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Mid-day</a:t>
                      </a:r>
                      <a:r>
                        <a:rPr/>
                        <a:t> (4-6 hrs)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High-value 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Design, interpretation, writing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Code, lit deep-dives, data processing, docs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Afternoon</a:t>
                      </a:r>
                      <a:r>
                        <a:rPr/>
                        <a:t> (2-3 hrs)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Collaboration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Meetings, synthesis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output review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Evening</a:t>
                      </a:r>
                      <a:r>
                        <a:rPr/>
                        <a:t> (automated)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Maintenance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 (sleeping)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Literature scrubbing, simulations, backups, knowledge graph updates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Time Allocation Shift</a:t>
            </a:r>
            <a:r>
              <a:rPr/>
              <a:t>: </a:t>
            </a:r>
            <a:r>
              <a:rPr b="1"/>
              <a:t>30% → 75%</a:t>
            </a:r>
            <a:r>
              <a:rPr/>
              <a:t> on breakthrough work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Organizations WITH Orchestrated AI</a:t>
            </a:r>
            <a:r>
              <a:rPr/>
              <a:t>: - ✅ More comprehensive literature (</a:t>
            </a:r>
            <a:r>
              <a:rPr b="1"/>
              <a:t>90% vs. 5%</a:t>
            </a:r>
            <a:r>
              <a:rPr/>
              <a:t>) - ✅ Faster publication (</a:t>
            </a:r>
            <a:r>
              <a:rPr b="1"/>
              <a:t>3-5× velocity</a:t>
            </a:r>
            <a:r>
              <a:rPr/>
              <a:t>) - ✅ Higher quality proposals (AI-augmented design)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Organizations WITHOUT</a:t>
            </a:r>
            <a:r>
              <a:rPr/>
              <a:t>: - ❌ Declining grant success (comparative disadvantage) - ❌ Talent drain (researchers want modern tools) - ❌ Slower breakthroughs (missing connections)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Our Context</a:t>
            </a:r>
            <a:r>
              <a:rPr/>
              <a:t>: Compete against labs with </a:t>
            </a:r>
            <a:r>
              <a:rPr b="1"/>
              <a:t>5-10× our headcount</a:t>
            </a:r>
          </a:p>
          <a:p>
            <a:pPr lvl="0" indent="0" marL="0">
              <a:buNone/>
            </a:pPr>
            <a:r>
              <a:rPr b="1"/>
              <a:t>Solution</a:t>
            </a:r>
            <a:r>
              <a:rPr/>
              <a:t>: </a:t>
            </a:r>
            <a:r>
              <a:rPr b="1"/>
              <a:t>Force multiplication</a:t>
            </a:r>
            <a:r>
              <a:rPr/>
              <a:t> - Small team operates like large team via orchestrated AI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Accelerating Breakthroughs: The Four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Cross-Domain Synthesis</a:t>
            </a:r>
            <a:r>
              <a:rPr/>
              <a:t> - Monitor multiple domains simultaneously - Identify unexpected connections humans miss - Example: ML method in CS conference → materials simulation</a:t>
            </a:r>
          </a:p>
          <a:p>
            <a:pPr lvl="0" indent="0" marL="0">
              <a:buNone/>
            </a:pPr>
            <a:r>
              <a:rPr b="1"/>
              <a:t>2. Non-Obvious Patterns</a:t>
            </a:r>
            <a:r>
              <a:rPr/>
              <a:t> - Analyze 1,500+ papers/day (vs. human 5-10) - Detect statistical trends across thousands of papers - Example: “Method B citation velocity +300% in 6 months”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3. Rapid Prototyping</a:t>
            </a:r>
            <a:r>
              <a:rPr/>
              <a:t> - Test 10× more hypotheses per year - Proof-of-concept in days (not months) - Fail fast, pivot quickly</a:t>
            </a:r>
          </a:p>
          <a:p>
            <a:pPr lvl="0" indent="0" marL="0">
              <a:buNone/>
            </a:pPr>
            <a:r>
              <a:rPr b="1"/>
              <a:t>4. Avoiding Dead-Ends</a:t>
            </a:r>
            <a:r>
              <a:rPr/>
              <a:t> - Comprehensive prior work analysis before commitment - Identify showstoppers BEFORE 6-month investment - Example: “Prior work shows Parameter X causes instability”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5: MARS Prototype Solution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I’ve Been Preparing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Who I Am</a:t>
            </a:r>
            <a:r>
              <a:rPr/>
              <a:t>: Intelligent autonomous systems researcher</a:t>
            </a:r>
          </a:p>
          <a:p>
            <a:pPr lvl="0" indent="0" marL="0">
              <a:buNone/>
            </a:pPr>
            <a:r>
              <a:rPr b="1"/>
              <a:t>The “Sharpening the Saw” Moment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Time Allocation (Before):
  Literature Review:   ██████████████████ 40%
  Documentation:       ████████████████ 30%
  Actual Research:     ████████ 20%
  Writing:             ████ 10%</a:t>
            </a:r>
          </a:p>
          <a:p>
            <a:pPr lvl="0" indent="0" marL="0">
              <a:buNone/>
            </a:pPr>
            <a:r>
              <a:rPr b="1"/>
              <a:t>This was backwards.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Decision</a:t>
            </a:r>
            <a:r>
              <a:rPr/>
              <a:t>: Build research-first platform that solves the problem correctly</a:t>
            </a:r>
          </a:p>
          <a:p>
            <a:pPr lvl="0" indent="0" marL="0">
              <a:buNone/>
            </a:pPr>
            <a:r>
              <a:rPr b="1"/>
              <a:t>Timeline</a:t>
            </a:r>
            <a:r>
              <a:rPr/>
              <a:t>: - August 2025: Started prototyping (self-funded) - September-November 2025: Intensive development - </a:t>
            </a:r>
            <a:r>
              <a:rPr b="1"/>
              <a:t>Current</a:t>
            </a:r>
            <a:r>
              <a:rPr/>
              <a:t>: Foundation complete, ready for expansion</a:t>
            </a:r>
          </a:p>
          <a:p>
            <a:pPr lvl="0" indent="0" marL="0">
              <a:buNone/>
            </a:pPr>
            <a:r>
              <a:rPr b="1"/>
              <a:t>Time Investment</a:t>
            </a:r>
            <a:r>
              <a:rPr/>
              <a:t>: ~800-1,000 hours over 3-4 months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MARS?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Modular Agentic Research System</a:t>
            </a:r>
            <a:r>
              <a:rPr/>
              <a:t> = Operating system for AI-accelerated R&amp;D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Components</a:t>
            </a:r>
            <a:r>
              <a:rPr/>
              <a:t>: 1. </a:t>
            </a:r>
            <a:r>
              <a:rPr b="1"/>
              <a:t>Foundation Services</a:t>
            </a:r>
            <a:r>
              <a:rPr/>
              <a:t>: Docker, Neo4j, Milvus, MLflow 2. </a:t>
            </a:r>
            <a:r>
              <a:rPr b="1"/>
              <a:t>AI Integration</a:t>
            </a:r>
            <a:r>
              <a:rPr/>
              <a:t>: LiteLLM, Ollama (local LLMs) 3. </a:t>
            </a:r>
            <a:r>
              <a:rPr b="1"/>
              <a:t>Research Tools</a:t>
            </a:r>
            <a:r>
              <a:rPr/>
              <a:t>: Zotero, GitLab, PlantUML/SysML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-342900" marL="342900">
              <a:buAutoNum startAt="4" type="arabicPeriod"/>
            </a:pPr>
            <a:r>
              <a:rPr b="1"/>
              <a:t>AI Agents</a:t>
            </a:r>
            <a:r>
              <a:rPr/>
              <a:t>: DocCzar, TestCzar, knowledge-graph, orchestrator</a:t>
            </a:r>
          </a:p>
          <a:p>
            <a:pPr lvl="0" indent="-342900" marL="342900">
              <a:buAutoNum startAt="4" type="arabicPeriod"/>
            </a:pPr>
            <a:r>
              <a:rPr b="1"/>
              <a:t>Orchestration</a:t>
            </a:r>
            <a:r>
              <a:rPr/>
              <a:t>: LangGraph foundation</a:t>
            </a:r>
          </a:p>
          <a:p>
            <a:pPr lvl="0" indent="0" marL="0">
              <a:buNone/>
            </a:pPr>
            <a:r>
              <a:rPr b="1"/>
              <a:t>Why “Self-Hosted”</a:t>
            </a:r>
            <a:r>
              <a:rPr/>
              <a:t>: - ✅ Data privacy (never leaves network) - ✅ Air-gap capable (classified environments) - ✅ No vendor lock-in - ✅ Cost control, customization, compliance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8-Pillar Foundation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MARS Built on Rigorous Architecture</a:t>
            </a:r>
            <a:r>
              <a:rPr/>
              <a:t> (37 ADRs documenting decisions):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Pillar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Critical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P1: Modularity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“Hotel rooms” architecture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 capabilities in 3-7 weeks (not 6-12 months)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P2: 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Sysbox isolation, DoD 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Classified-capable, air-gap operational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P3: Memory</a:t>
                      </a:r>
                      <a:r>
                        <a:rPr/>
                        <a:t> 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Knowledge graphs, RAG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MOST IMPORTANT</a:t>
                      </a:r>
                      <a:r>
                        <a:rPr/>
                        <a:t> - 40% token reduction, persistent context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P4: Observability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Provenance, metrics, health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traceability, debugging, compliance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P5: Reproducibility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Containerized, versioned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Experiment replay, scientific rigor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P6: Human-AI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Human-in-loop, approval gates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Safety, oversight, trust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P7: Air-Gap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 offline capable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Classified networks, strategic independence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P8: Open Standards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MCP protocol, Docker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vendor lock-in, ecosystem benefits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P3 (Memory) is Most Important</a:t>
            </a:r>
            <a:r>
              <a:rPr/>
              <a:t>: Without persistent memory, agents are tools. With memory, agents are research accelerators.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MARS 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┌─────────────────────────────────────────────────────────┐
│                  Human Research Team                     │
│            (Strategic Direction + Synthesis)             │
└────────────────────────┬────────────────────────────────┘
                         │
                         ▼
┌─────────────────────────────────────────────────────────┐
│              LangGraph Orchestrator                      │
│         (Automated Agent Coordination)                   │
└─┬───────┬───────┬───────┬───────┬───────┬───────┬───────┘
  │       │       │       │       │       │       │
  ▼       ▼       ▼       ▼       ▼       ▼       ▼
┌────┐ ┌────┐ ┌────┐ ┌────┐ ┌────┐ ┌────┐ ┌────┐
│Lit │ │Exp.│ │Data│ │Code│ │Doc │ │Test│ │Sec.│
│    │ │Des.│ │Ana.│ │    │ │    │ │    │ │    │
└─┬──┘ └─┬──┘ └─┬──┘ └─┬──┘ └─┬──┘ └─┬──┘ └─┬──┘
  │      │      │      │      │      │      │
  └──────┴──────┴──────┴──────┴──────┴──────┘
         ▲                            ▲
         │                            │
  ┌──────┴────────┐           ┌──────┴────────┐
  │ MCP Tools     │           │ Foundation    │
  │ (Zotero,      │           │ (Neo4j, Milvus│
  │  GitLab,      │           │  MinIO, MLflow│
  │  50+ more)    │           │  LiteLLM)     │
  └───────────────┘           └───────────────┘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Modularity Ladder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Level 3: 🏨 Modular Hotel (MARS)
         3-7 weeks per new domain
         ┌─────────┬─────────┬─────────┐
         │Foundation│ Built Once│ Shared │
         ├─────────┼─────────┼─────────┤
         │ Room 1  │ Room 2  │ Room 3  │
         │Materials│Chemistry│ Biology │
         └─────────┴─────────┴─────────┘
         Plug-and-play modules
Level 2: 🏢 Apartment Building
         1-3 months (microservices)
Level 1: 🏗️  Prefab Sections
         3-6 months (brittle integration)
Level 0: 🏠 Custom Home
         6-12 months per capability (monolithic)</a:t>
            </a:r>
          </a:p>
          <a:p>
            <a:pPr lvl="0" indent="0" marL="0">
              <a:buNone/>
            </a:pPr>
            <a:r>
              <a:rPr b="1"/>
              <a:t>MARS “Hotel Rooms” Architecture</a:t>
            </a:r>
            <a:r>
              <a:rPr/>
              <a:t>: - </a:t>
            </a:r>
            <a:r>
              <a:rPr b="1"/>
              <a:t>Foundation</a:t>
            </a:r>
            <a:r>
              <a:rPr/>
              <a:t> (built once): Docker, Neo4j, MinIO, LiteLLM, Squid, MLflow - </a:t>
            </a:r>
            <a:r>
              <a:rPr b="1"/>
              <a:t>Modular “Rooms”</a:t>
            </a:r>
            <a:r>
              <a:rPr/>
              <a:t> (add as needed): Agents, services, domain workflows - </a:t>
            </a:r>
            <a:r>
              <a:rPr b="1"/>
              <a:t>Standardized Interfaces</a:t>
            </a:r>
            <a:r>
              <a:rPr/>
              <a:t>: MCP protocol (plug-and-play)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Modularity Example: Materials Group Adoption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Timeline</a:t>
            </a:r>
            <a:r>
              <a:rPr/>
              <a:t>: 5-7 weeks (vs. 6-12 months from scratch)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Week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existing foundation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 hours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Zotero, GitLab, knowledge graph (immediate access)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Weeks 2-4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Create materials-specific agents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80-120 hours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materials-literature-monitor, materials-knowledge-graph schema, materials-experiment-design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Weeks 5-6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Integrate custom tools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40-80 hours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Materials property databases, simulation tools (LAMMPS, VASP)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5-7 weeks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120-200 hours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90% foundation reuse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Cost Comparison</a:t>
            </a:r>
            <a:r>
              <a:rPr/>
              <a:t>: - Monolithic approach: 6-12 months, 3-5 FTE - MARS modular approach: 5-7 weeks, 1-2 FTE - </a:t>
            </a:r>
            <a:r>
              <a:rPr b="1"/>
              <a:t>Savings</a:t>
            </a:r>
            <a:r>
              <a:rPr/>
              <a:t>: 75% time reduction, 50% FTE reduction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Security Ladder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Level 3: 🏛️  Military Base (MARS)
         DoD classified, air-gap capable
         - Deny-by-default networking (Squid proxy)
         - Rootless containers (Sysbox isolation)
         - Bearer token auth (DoD PKI/CAC support)
         - 100% self-hosted (local LLMs via Ollama)
         - Audit logging (append-only provenance)
Level 2: 🏘️  Gated Community
         Some classified with waivers
Level 1: 🔑 Lock &amp; Key
         Limited classified use
Level 0: 🚪 Open Door
         Public research only</a:t>
            </a:r>
          </a:p>
          <a:p>
            <a:pPr lvl="0" indent="0" marL="0">
              <a:buNone/>
            </a:pPr>
            <a:r>
              <a:rPr b="1"/>
              <a:t>MARS Security</a:t>
            </a:r>
            <a:r>
              <a:rPr/>
              <a:t>: Production-ready for </a:t>
            </a:r>
            <a:r>
              <a:rPr b="1"/>
              <a:t>DoD classified networks</a:t>
            </a:r>
            <a:r>
              <a:rPr/>
              <a:t> and </a:t>
            </a:r>
            <a:r>
              <a:rPr b="1"/>
              <a:t>air-gap environments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What’s Built Today (November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Foundation</a:t>
            </a:r>
            <a:r>
              <a:rPr/>
              <a:t> ✅: - Docker infrastructure - Neo4j (knowledge graph) - Milvus (vector DB) - 80% - MLflow (experiment tracking) - LiteLLM (AskSage integration) - Ollama (local LLMs)</a:t>
            </a:r>
          </a:p>
          <a:p>
            <a:pPr lvl="0" indent="0" marL="0">
              <a:buNone/>
            </a:pPr>
            <a:r>
              <a:rPr b="1"/>
              <a:t>Research Tools</a:t>
            </a:r>
            <a:r>
              <a:rPr/>
              <a:t> ✅: - Zotero MCP (100%) - GitLab MCP (50%, Phase 6A operational) - PlantUML/SysML (100%)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Agents</a:t>
            </a:r>
            <a:r>
              <a:rPr/>
              <a:t> ✅: - DocCzar (doc-enforcer) - Documentation validation - TestCzar (test-runner) - Test coordination - Knowledge Graph Agent - REQUIREMENT ingestion</a:t>
            </a:r>
          </a:p>
          <a:p>
            <a:pPr lvl="0" indent="0" marL="0">
              <a:buNone/>
            </a:pPr>
            <a:r>
              <a:rPr b="1"/>
              <a:t>Development Infrastructure</a:t>
            </a:r>
            <a:r>
              <a:rPr/>
              <a:t> ✅: - E6: Containerized dev (Docker-in-Docker) - E8: Parallel orchestration (5-25 concurrent sessions) - E13: Sprint protection (56 tests) - </a:t>
            </a:r>
            <a:r>
              <a:rPr b="1"/>
              <a:t>434+ tests</a:t>
            </a:r>
            <a:r>
              <a:rPr/>
              <a:t> across codebase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What’s on the Roadmap (v1.0: Feb-Mar 2026)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Component Status</a:t>
            </a:r>
            <a:r>
              <a:rPr/>
              <a:t> (17 total for v1.0):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C2</a:t>
                      </a:r>
                      <a:r>
                        <a:rPr/>
                        <a:t> (Zotero)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COMPLETE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Production-ready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C6</a:t>
                      </a:r>
                      <a:r>
                        <a:rPr/>
                        <a:t> (SysML/PlantUML)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COMPLETE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Diagram generation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C16</a:t>
                      </a:r>
                      <a:r>
                        <a:rPr/>
                        <a:t> (RAG-Indexer)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MERGED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Semantic search, lit synthesis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C3</a:t>
                      </a:r>
                      <a:r>
                        <a:rPr/>
                        <a:t> (GitLab)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🚧 IN PROGRESS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 6A operational (79 tools)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C4</a:t>
                      </a:r>
                      <a:r>
                        <a:rPr/>
                        <a:t> (Infrastructure)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🚧 IN PROGRESS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16/20 enhancements done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C11</a:t>
                      </a:r>
                      <a:r>
                        <a:rPr/>
                        <a:t> (LangGraph)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🚧 IN PROGRESS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HITL Phase 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Orchestration foundation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C1</a:t>
                      </a:r>
                      <a:r>
                        <a:rPr/>
                        <a:t> (LiteLLM)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⏸️ BLOCKED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AskSage streaming API needed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C5</a:t>
                      </a:r>
                      <a:r>
                        <a:rPr/>
                        <a:t> (Literature Research)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⏸️ PLANNED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 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research-orchestrator + literature-monitor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C12-C15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⏸️ PLANNED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Pending C11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Coder, publication-writer agents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4 complete, 4 in active development, 9 planned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Cases MARS Accelerates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Literature Management</a:t>
            </a:r>
            <a:r>
              <a:rPr/>
              <a:t> ✅: - Zotero integration for reference management - 10 MCP tools - Bidirectional sync (web + desktop)</a:t>
            </a:r>
          </a:p>
          <a:p>
            <a:pPr lvl="0" indent="0" marL="0">
              <a:buNone/>
            </a:pPr>
            <a:r>
              <a:rPr b="1"/>
              <a:t>2. Documentation Validation</a:t>
            </a:r>
            <a:r>
              <a:rPr/>
              <a:t> ✅: - DocCzar validates 109 docs in seconds - Broken link detection - Citation checking - Standards enforcement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3. Knowledge Graph Integration</a:t>
            </a:r>
            <a:r>
              <a:rPr/>
              <a:t> ✅: - Neo4j tracks paper → requirement → design → experiment - REQUIREMENT block ingestion automated - Cross-domain synthesis</a:t>
            </a:r>
          </a:p>
          <a:p>
            <a:pPr lvl="0" indent="0" marL="0">
              <a:buNone/>
            </a:pPr>
            <a:r>
              <a:rPr b="1"/>
              <a:t>4. Semantic Code Search</a:t>
            </a:r>
            <a:r>
              <a:rPr/>
              <a:t> ⏳ 80%: - ~40% token reduction via RAG - Automatic context retrieval - (Blocked by upstream MCP bug #226)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Makes MARS Different?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LangGraph/AutoGen/CrewAI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 AI Platforms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 GPT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MARS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Framework (you build)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platform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Single-agent tool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Complete system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Infrastructure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You provide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☁️ Vendor-hosted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☁️ Cloud-only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</a:t>
                      </a:r>
                      <a:r>
                        <a:rPr b="1"/>
                        <a:t>Self-hosted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Orchestration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 (DIY)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Limited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</a:t>
                      </a:r>
                      <a:r>
                        <a:rPr b="1"/>
                        <a:t>LangGraph built-in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Governance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You build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Vendor-dependent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</a:t>
                      </a:r>
                      <a:r>
                        <a:rPr b="1"/>
                        <a:t>Built-in provenance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Air-Gap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Possible (DIY)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</a:t>
                      </a:r>
                      <a:r>
                        <a:rPr b="1"/>
                        <a:t>100% capable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Research-Specific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Generic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Enterprise-focused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Generic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</a:t>
                      </a:r>
                      <a:r>
                        <a:rPr b="1"/>
                        <a:t>Research workflows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Vendor Lock-In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Yes (Anthropic/OpenAI)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</a:t>
                      </a:r>
                      <a:r>
                        <a:rPr b="1"/>
                        <a:t>Open standards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MARS Unique Value</a:t>
            </a:r>
            <a:r>
              <a:rPr/>
              <a:t>: Research-first + Multi-agent orchestration + Governance + Strategic independence + Classified-capable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Extensibility Pipeline: 50+ MCP Integrations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Modularity Benefit</a:t>
            </a:r>
            <a:r>
              <a:rPr/>
              <a:t>: Each integration </a:t>
            </a:r>
            <a:r>
              <a:rPr b="1"/>
              <a:t>~1 hour</a:t>
            </a:r>
            <a:r>
              <a:rPr/>
              <a:t> (vs. ~80 hours for custom)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Research Tools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ROS2, SLURM, Overleaf, LabView, MATLAB, SolidWorks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⏸️ Planned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Data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PubMed, IEEE Xplore, Web of Science, arXiv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⏸️ Planned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Lab 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eLabFTW, Benchling, LabArchives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⏸️ Planned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Collaboration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Slack, Teams, Jira, Confluence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⏸️ Planned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Hardware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Oscilloscopes, spectrometers, microscopes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⏸️ Planned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Simulation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ANSYS, COMSOL, OpenFOAM, GROMACS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⏸️ Planned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Current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Zotero (lit), GitLab (project mgmt)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Operational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Timeline</a:t>
            </a:r>
            <a:r>
              <a:rPr/>
              <a:t>: 3-4 weeks per integration (most time = testing, not coding)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MARS Standards &amp;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Agent Communication</a:t>
            </a:r>
            <a:r>
              <a:rPr/>
              <a:t>: - </a:t>
            </a:r>
            <a:r>
              <a:rPr b="1"/>
              <a:t>Agent-to-Agent (A2A)</a:t>
            </a:r>
            <a:r>
              <a:rPr/>
              <a:t>: GraphQL federation (in development) - </a:t>
            </a:r>
            <a:r>
              <a:rPr b="1"/>
              <a:t>Agent-to-Tool (MCP)</a:t>
            </a:r>
            <a:r>
              <a:rPr/>
              <a:t>: Model Context Protocol (operational) - </a:t>
            </a:r>
            <a:r>
              <a:rPr b="1"/>
              <a:t>Human-to-Agent</a:t>
            </a:r>
            <a:r>
              <a:rPr/>
              <a:t>: Conversational interface + approval gates</a:t>
            </a:r>
          </a:p>
          <a:p>
            <a:pPr lvl="0" indent="0" marL="0">
              <a:buNone/>
            </a:pPr>
            <a:r>
              <a:rPr b="1"/>
              <a:t>Observability</a:t>
            </a:r>
            <a:r>
              <a:rPr/>
              <a:t>: - Prometheus metrics - Health endpoints (</a:t>
            </a:r>
            <a:r>
              <a:rPr>
                <a:latin typeface="Courier"/>
              </a:rPr>
              <a:t>/healthz</a:t>
            </a:r>
            <a:r>
              <a:rPr/>
              <a:t>, </a:t>
            </a:r>
            <a:r>
              <a:rPr>
                <a:latin typeface="Courier"/>
              </a:rPr>
              <a:t>/metrics</a:t>
            </a:r>
            <a:r>
              <a:rPr/>
              <a:t>) - X-Trace-Id propagation - Append-only provenance ledger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Development Standards</a:t>
            </a:r>
            <a:r>
              <a:rPr/>
              <a:t> (mars-dev): - </a:t>
            </a:r>
            <a:r>
              <a:rPr b="1"/>
              <a:t>37 ADRs</a:t>
            </a:r>
            <a:r>
              <a:rPr/>
              <a:t>: Architecture decisions documented - </a:t>
            </a:r>
            <a:r>
              <a:rPr b="1"/>
              <a:t>Pre-commit hooks</a:t>
            </a:r>
            <a:r>
              <a:rPr/>
              <a:t>: Automated validation, test execution - </a:t>
            </a:r>
            <a:r>
              <a:rPr b="1"/>
              <a:t>E8 orchestration</a:t>
            </a:r>
            <a:r>
              <a:rPr/>
              <a:t>: 5-25 parallel CCC sessions via worktrees - </a:t>
            </a:r>
            <a:r>
              <a:rPr b="1"/>
              <a:t>Session management</a:t>
            </a:r>
            <a:r>
              <a:rPr/>
              <a:t>: Export/import, normalization, git integration</a:t>
            </a:r>
          </a:p>
          <a:p>
            <a:pPr lvl="0" indent="0" marL="0">
              <a:buNone/>
            </a:pPr>
            <a:r>
              <a:rPr b="1"/>
              <a:t>Security</a:t>
            </a:r>
            <a:r>
              <a:rPr/>
              <a:t>: - Deny-by-default networking (Squid) - Rootless containers (Sysbox) - Bearer token auth (DoD PKI) - Secret redaction in logs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Organizational Expansion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1: Pilot</a:t>
            </a:r>
            <a:r>
              <a:rPr/>
              <a:t> (3-4 months): - 1-2 research groups adopt MARS foundation - Prove orchestrated AI value in real research programs - Build organizational expertise - Cost: 2-3 FTE during setup</a:t>
            </a:r>
          </a:p>
          <a:p>
            <a:pPr lvl="0" indent="0" marL="0">
              <a:buNone/>
            </a:pPr>
            <a:r>
              <a:rPr b="1"/>
              <a:t>Phase 2: Expansion</a:t>
            </a:r>
            <a:r>
              <a:rPr/>
              <a:t> (6-9 months): - 5-7 additional groups adopt (parallel) - Domain-specific agents (materials, chemistry, biology) - Shared foundation benefits all groups - Cost: &lt;0.2 FTE per group ongoing (shared infrastructure team)</a:t>
            </a:r>
          </a:p>
          <a:p>
            <a:pPr lvl="0" indent="0" marL="0">
              <a:buNone/>
            </a:pPr>
            <a:r>
              <a:rPr b="1"/>
              <a:t>Phase 3: Production</a:t>
            </a:r>
            <a:r>
              <a:rPr/>
              <a:t> (12+ months): - Organization-wide orchestrated AI capability - Institutional memory compounds - 3-5× force multiplication achieved - Cost: Shared foundation maintenance (~1-2 FTE)</a:t>
            </a:r>
          </a:p>
          <a:p>
            <a:pPr lvl="0" indent="0" marL="0">
              <a:buNone/>
            </a:pPr>
            <a:r>
              <a:rPr b="1"/>
              <a:t>Timeline</a:t>
            </a:r>
            <a:r>
              <a:rPr/>
              <a:t>: </a:t>
            </a:r>
            <a:r>
              <a:rPr b="1"/>
              <a:t>5-7 weeks per new group</a:t>
            </a:r>
            <a:r>
              <a:rPr/>
              <a:t> (modular architecture enables parallelization)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Appendices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A: Glossary (Plain Language)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Definition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LLM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Large Language Model - Pattern-matching engine trained on text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AI 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 + tool use + multi-step planning (can execute, not just advise)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MCP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 Context Protocol - USB for AI agents (plug-and-play tools)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Orchestration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Automated coordination of specialized AI agents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LangGraph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Framework for building AI agent orchestration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RAG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Retrieval-Augmented Generation - Semantic search for context (~40% token reduction)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Knowledge Graph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Relationship database (Neo4j) - paper → requirement → experiment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Self-Hosted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Runs on our infrastructure, not cloud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Air-Gap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Fully offline operation (no internet)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Rootless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Containers run as non-root user (security)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MCP Server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 that provides capabilities to AI agents via MCP protocol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B: Key References (2024 Research Studies)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Level 1 (Chat AI)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 b="1"/>
              <a:t>GitHub Copilot RCT</a:t>
            </a:r>
            <a:r>
              <a:rPr/>
              <a:t> Microsoft/MIT/Princeton/Wharton, 2024 26% avg productivity increase, 4,000+ developers </a:t>
            </a:r>
            <a:r>
              <a:rPr i="1"/>
              <a:t>Communications of the ACM</a:t>
            </a:r>
            <a:r>
              <a:rPr/>
              <a:t> (peer-reviewed)</a:t>
            </a:r>
          </a:p>
          <a:p>
            <a:pPr lvl="0" indent="-342900" marL="342900">
              <a:buAutoNum type="arabicPeriod"/>
            </a:pPr>
            <a:r>
              <a:rPr b="1"/>
              <a:t>Google Enterprise AI Study</a:t>
            </a:r>
            <a:r>
              <a:rPr/>
              <a:t> Google, 2024 21% faster task completion Large-scale RCT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Level 2 (AI Agents)</a:t>
            </a:r>
            <a:r>
              <a:rPr/>
              <a:t>:</a:t>
            </a:r>
          </a:p>
          <a:p>
            <a:pPr lvl="0" indent="-342900" marL="342900">
              <a:buAutoNum startAt="3" type="arabicPeriod"/>
            </a:pPr>
            <a:r>
              <a:rPr b="1"/>
              <a:t>AI and Coding Productivity</a:t>
            </a:r>
            <a:r>
              <a:rPr/>
              <a:t> </a:t>
            </a:r>
            <a:r>
              <a:rPr i="1"/>
              <a:t>Science Magazine</a:t>
            </a:r>
            <a:r>
              <a:rPr/>
              <a:t>, 2024 40% faster, 18% higher quality Peer-reviewed, top-tier journal</a:t>
            </a:r>
          </a:p>
          <a:p>
            <a:pPr lvl="0" indent="-342900" marL="342900">
              <a:buAutoNum startAt="3" type="arabicPeriod"/>
            </a:pPr>
            <a:r>
              <a:rPr b="1"/>
              <a:t>GitHub Copilot HTTP Server</a:t>
            </a:r>
            <a:r>
              <a:rPr/>
              <a:t> GitHub/OpenAI, 2023 55.8% speed improvement 95 professional developers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B: Key References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Level 3/4 (Orchestration)</a:t>
            </a:r>
            <a:r>
              <a:rPr/>
              <a:t>:</a:t>
            </a:r>
          </a:p>
          <a:p>
            <a:pPr lvl="0" indent="-342900" marL="342900">
              <a:buAutoNum startAt="5" type="arabicPeriod"/>
            </a:pPr>
            <a:r>
              <a:rPr b="1"/>
              <a:t>McKinsey Generative AI Report</a:t>
            </a:r>
            <a:r>
              <a:rPr/>
              <a:t> McKinsey Global Institute, 2024 30-40% efficiency gains from multi-agent Enterprise case studies</a:t>
            </a:r>
          </a:p>
          <a:p>
            <a:pPr lvl="0" indent="-342900" marL="342900">
              <a:buAutoNum startAt="5" type="arabicPeriod"/>
            </a:pPr>
            <a:r>
              <a:rPr b="1"/>
              <a:t>BCG Multi-Agent Workflow Study</a:t>
            </a:r>
            <a:r>
              <a:rPr/>
              <a:t> Boston Consulting Group, 2024 45% margin improvement Campaign delivery optimization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Supporting Evidence</a:t>
            </a:r>
            <a:r>
              <a:rPr/>
              <a:t>:</a:t>
            </a:r>
          </a:p>
          <a:p>
            <a:pPr lvl="0" indent="-342900" marL="342900">
              <a:buAutoNum startAt="7" type="arabicPeriod"/>
            </a:pPr>
            <a:r>
              <a:rPr b="1"/>
              <a:t>Stanford HAI Study</a:t>
            </a:r>
            <a:r>
              <a:rPr/>
              <a:t> Stanford Human-Centered AI Institute, 2024 AI-augmented research: 2.3× publication rate Literature analysis 2020-2024</a:t>
            </a:r>
          </a:p>
          <a:p>
            <a:pPr lvl="0" indent="-342900" marL="342900">
              <a:buAutoNum startAt="7" type="arabicPeriod"/>
            </a:pPr>
            <a:r>
              <a:rPr b="1"/>
              <a:t>Anthropic Claude Code Agents</a:t>
            </a:r>
            <a:r>
              <a:rPr/>
              <a:t> Anthropic, 2024 49% resolution rate on SWE-bench Complex real-world problem solving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Insight</a:t>
            </a:r>
            <a:r>
              <a:rPr/>
              <a:t>: Peer-reviewed, large-scale, reproducible evidence of </a:t>
            </a:r>
            <a:r>
              <a:rPr b="1"/>
              <a:t>transformational</a:t>
            </a:r>
            <a:r>
              <a:rPr/>
              <a:t> (not incremental) gains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C: MARS Architecture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Core Services</a:t>
            </a:r>
            <a:r>
              <a:rPr/>
              <a:t> (Self-Hosted): - </a:t>
            </a:r>
            <a:r>
              <a:rPr>
                <a:latin typeface="Courier"/>
              </a:rPr>
              <a:t>graph-db</a:t>
            </a:r>
            <a:r>
              <a:rPr/>
              <a:t> (Neo4j) Knowledge graph, relationships - </a:t>
            </a:r>
            <a:r>
              <a:rPr>
                <a:latin typeface="Courier"/>
              </a:rPr>
              <a:t>vector-db</a:t>
            </a:r>
            <a:r>
              <a:rPr/>
              <a:t> (Milvus) Semantic search, RAG - </a:t>
            </a:r>
            <a:r>
              <a:rPr>
                <a:latin typeface="Courier"/>
              </a:rPr>
              <a:t>object-store</a:t>
            </a:r>
            <a:r>
              <a:rPr/>
              <a:t> (MinIO) S3-compatible storage - </a:t>
            </a:r>
            <a:r>
              <a:rPr>
                <a:latin typeface="Courier"/>
              </a:rPr>
              <a:t>experiment-tracker</a:t>
            </a:r>
            <a:r>
              <a:rPr/>
              <a:t> (MLflow) Experiment logging, metrics - </a:t>
            </a:r>
            <a:r>
              <a:rPr>
                <a:latin typeface="Courier"/>
              </a:rPr>
              <a:t>metrics-store</a:t>
            </a:r>
            <a:r>
              <a:rPr/>
              <a:t> (Prometheus) Time-series data - </a:t>
            </a:r>
            <a:r>
              <a:rPr>
                <a:latin typeface="Courier"/>
              </a:rPr>
              <a:t>network-proxy</a:t>
            </a:r>
            <a:r>
              <a:rPr/>
              <a:t> (Squid) Deny-by-default security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 Integration</a:t>
            </a:r>
            <a:r>
              <a:rPr/>
              <a:t>: - </a:t>
            </a:r>
            <a:r>
              <a:rPr>
                <a:latin typeface="Courier"/>
              </a:rPr>
              <a:t>litellm</a:t>
            </a:r>
            <a:r>
              <a:rPr/>
              <a:t> Unified API (AskSage, Claude, GPT, local models) - </a:t>
            </a:r>
            <a:r>
              <a:rPr>
                <a:latin typeface="Courier"/>
              </a:rPr>
              <a:t>selfhosted-models</a:t>
            </a:r>
            <a:r>
              <a:rPr/>
              <a:t> (Ollama) GPU-accelerated local LLMs</a:t>
            </a:r>
          </a:p>
          <a:p>
            <a:pPr lvl="0" indent="0" marL="0">
              <a:buNone/>
            </a:pPr>
            <a:r>
              <a:rPr b="1"/>
              <a:t>Research Tools</a:t>
            </a:r>
            <a:r>
              <a:rPr/>
              <a:t>: - </a:t>
            </a:r>
            <a:r>
              <a:rPr>
                <a:latin typeface="Courier"/>
              </a:rPr>
              <a:t>biblio-store</a:t>
            </a:r>
            <a:r>
              <a:rPr/>
              <a:t> (Zotero) Literature management - </a:t>
            </a:r>
            <a:r>
              <a:rPr>
                <a:latin typeface="Courier"/>
              </a:rPr>
              <a:t>gitlab-sync</a:t>
            </a:r>
            <a:r>
              <a:rPr/>
              <a:t> Project management, 79 tools - </a:t>
            </a:r>
            <a:r>
              <a:rPr>
                <a:latin typeface="Courier"/>
              </a:rPr>
              <a:t>uml-service</a:t>
            </a:r>
            <a:r>
              <a:rPr/>
              <a:t> PlantUML/SysML diagram generation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Security</a:t>
            </a:r>
            <a:r>
              <a:rPr/>
              <a:t>: Rootless containers, bearer auth, DoD TLS, audit logging, air-gap capable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Summary: The Path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Where We Are</a:t>
            </a:r>
            <a:r>
              <a:rPr/>
              <a:t>: - Corvette → Formula 1 transition - Ad-hoc AI chat usage - No coordinated strategy</a:t>
            </a:r>
          </a:p>
          <a:p>
            <a:pPr lvl="0" indent="0" marL="0">
              <a:buNone/>
            </a:pPr>
            <a:r>
              <a:rPr b="1"/>
              <a:t>Where We Need to Be</a:t>
            </a:r>
            <a:r>
              <a:rPr/>
              <a:t>: - Starship Enterprise - Orchestrated AI teams - </a:t>
            </a:r>
            <a:r>
              <a:rPr b="1"/>
              <a:t>3-5× force multiplication</a:t>
            </a:r>
          </a:p>
          <a:p>
            <a:pPr lvl="0" indent="0" marL="0">
              <a:buNone/>
            </a:pPr>
            <a:r>
              <a:rPr b="1"/>
              <a:t>The Window</a:t>
            </a:r>
            <a:r>
              <a:rPr/>
              <a:t>: - 12-18 months before gap irreversible - </a:t>
            </a:r>
            <a:r>
              <a:rPr b="1"/>
              <a:t>We’re at Month 6-8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Evidence</a:t>
            </a:r>
            <a:r>
              <a:rPr/>
              <a:t>: - Peer-reviewed studies - </a:t>
            </a:r>
            <a:r>
              <a:rPr b="1"/>
              <a:t>2-5× productivity gains</a:t>
            </a:r>
            <a:r>
              <a:rPr/>
              <a:t> - Transformational, not incremental</a:t>
            </a:r>
          </a:p>
          <a:p>
            <a:pPr lvl="0" indent="0" marL="0">
              <a:buNone/>
            </a:pPr>
            <a:r>
              <a:rPr b="1"/>
              <a:t>The Ask</a:t>
            </a:r>
            <a:r>
              <a:rPr/>
              <a:t>: 1. </a:t>
            </a:r>
            <a:r>
              <a:rPr b="1"/>
              <a:t>Primary</a:t>
            </a:r>
            <a:r>
              <a:rPr/>
              <a:t>: Commit to organizational investment in orchestrated AI 2. </a:t>
            </a:r>
            <a:r>
              <a:rPr b="1"/>
              <a:t>Secondary</a:t>
            </a:r>
            <a:r>
              <a:rPr/>
              <a:t>: Consider MARS as platform</a:t>
            </a:r>
          </a:p>
          <a:p>
            <a:pPr lvl="0" indent="0" marL="0">
              <a:buNone/>
            </a:pPr>
            <a:r>
              <a:rPr b="1"/>
              <a:t>MARS Status</a:t>
            </a:r>
            <a:r>
              <a:rPr/>
              <a:t>: - Foundation operational - Ready for pilot deployment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Next Steps</a:t>
            </a:r>
            <a:r>
              <a:rPr/>
              <a:t>: Leadership decision → Pilot program → Organizational expansion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Open Topics</a:t>
            </a:r>
            <a:r>
              <a:rPr/>
              <a:t>: - Pilot program scope and timeline - Resource allocation (people, infrastructure, funding) - Security and compliance review - Integration with existing workflows - Domain-specific requirements</a:t>
            </a:r>
          </a:p>
          <a:p>
            <a:pPr lvl="0" indent="0" marL="0">
              <a:buNone/>
            </a:pPr>
            <a:r>
              <a:rPr b="1"/>
              <a:t>Contact</a:t>
            </a:r>
            <a:r>
              <a:rPr/>
              <a:t>: Joe Hays, NRL Code 8234</a:t>
            </a:r>
          </a:p>
          <a:p>
            <a:pPr lvl="0" indent="0" marL="0">
              <a:buNone/>
            </a:pPr>
            <a:r>
              <a:rPr b="1"/>
              <a:t>Thank you for your time and consideration.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2025-11-19T15:43:29Z</dcterms:created>
  <dcterms:modified xsi:type="dcterms:W3CDTF">2025-11-19T15:43:29Z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